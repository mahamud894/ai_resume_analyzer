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fc29c1c-6de3-c43b-c8fb-44928bb49815}">
          <p14:sldIdLst>
            <p14:sldId id="256"/>
            <p14:sldId id="257"/>
            <p14:sldId id="258"/>
          </p14:sldIdLst>
        </p14:section>
        <p14:section name="System" id="{0561cebf-8770-4f19-8a20-5236205138c7}">
          <p14:sldIdLst>
            <p14:sldId id="259"/>
            <p14:sldId id="260"/>
            <p14:sldId id="261"/>
          </p14:sldIdLst>
        </p14:section>
        <p14:section name="AI" id="{806ab706-c51d-b1d8-68a5-65c80c6143cf}">
          <p14:sldIdLst>
            <p14:sldId id="262"/>
            <p14:sldId id="263"/>
          </p14:sldIdLst>
        </p14:section>
        <p14:section name="Quality" id="{96fc849f-f8b1-1c5f-079c-ee7d03158538}">
          <p14:sldIdLst>
            <p14:sldId id="264"/>
            <p14:sldId id="265"/>
            <p14:sldId id="266"/>
          </p14:sldIdLst>
        </p14:section>
        <p14:section name="Demonstration" id="{7b461ffb-9dd2-441c-b072-2f3742201b68}">
          <p14:sldIdLst>
            <p14:sldId id="267"/>
            <p14:sldId id="268"/>
          </p14:sldIdLst>
        </p14:section>
        <p14:section name="Conclusion" id="{5b773bfc-1503-ceb3-9055-74688c4a9891}">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23A"/>
                </a:solidFill>
                <a:latin typeface="+mn-lt"/>
              </a:defRPr>
            </a:pPr>
            <a:r>
              <a:rPr sz="1400" b="0" i="0" u="none" strike="noStrike">
                <a:solidFill>
                  <a:srgbClr val="14123A"/>
                </a:solidFill>
                <a:latin typeface="+mn-lt"/>
              </a:rPr>
              <a:t>Tests per suite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606BEB"/>
            </a:solidFill>
            <a:effectLst/>
          </c:spPr>
          <c:invertIfNegative val="0"/>
          <c:dLbls>
            <c:numFmt formatCode="#,##0" sourceLinked="0"/>
            <c:txPr>
              <a:bodyPr/>
              <a:lstStyle/>
              <a:p>
                <a:pPr>
                  <a:defRPr b="0" i="0" strike="noStrike" sz="1200" u="none">
                    <a:solidFill>
                      <a:srgbClr val="14123A"/>
                    </a:solidFill>
                    <a:latin typeface="+mn-lt"/>
                  </a:defRPr>
                </a:pPr>
              </a:p>
            </c:txPr>
            <c:showLegendKey val="0"/>
            <c:showVal val="1"/>
            <c:showCatName val="0"/>
            <c:showSerName val="0"/>
            <c:showPercent val="0"/>
            <c:showBubbleSize val="0"/>
            <c:showLeaderLines val="0"/>
          </c:dLbls>
          <c:cat>
            <c:multiLvlStrRef>
              <c:f>Sheet1!$A$2:$A$6</c:f>
              <c:multiLvlStrCache>
                <c:ptCount val="5"/>
                <c:lvl>
                  <c:pt idx="0">
                    <c:v>Auth</c:v>
                  </c:pt>
                  <c:pt idx="1">
                    <c:v>Google Sign-In</c:v>
                  </c:pt>
                  <c:pt idx="2">
                    <c:v>Resumes</c:v>
                  </c:pt>
                  <c:pt idx="3">
                    <c:v>Analysis</c:v>
                  </c:pt>
                  <c:pt idx="4">
                    <c:v>Europass / score / letter</c:v>
                  </c:pt>
                </c:lvl>
              </c:multiLvlStrCache>
            </c:multiLvlStrRef>
          </c:cat>
          <c:val>
            <c:numRef>
              <c:f>Sheet1!$B$2:$B$6</c:f>
              <c:numCache>
                <c:formatCode>General</c:formatCode>
                <c:ptCount val="5"/>
                <c:pt idx="0">
                  <c:v>10</c:v>
                </c:pt>
                <c:pt idx="1">
                  <c:v>9</c:v>
                </c:pt>
                <c:pt idx="2">
                  <c:v>12</c:v>
                </c:pt>
                <c:pt idx="3">
                  <c:v>4</c:v>
                </c:pt>
                <c:pt idx="4">
                  <c:v>13</c:v>
                </c:pt>
              </c:numCache>
            </c:numRef>
          </c:val>
        </c:ser>
        <c:dLbls>
          <c:numFmt formatCode="#,##0" sourceLinked="0"/>
          <c:txPr>
            <a:bodyPr/>
            <a:lstStyle/>
            <a:p>
              <a:pPr>
                <a:defRPr b="0" i="0" strike="noStrike" sz="1200" u="none">
                  <a:solidFill>
                    <a:srgbClr val="1412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467"/>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CSE4204-8A-T05 and our project is RESUMIND, an AI resume analyzer. It checks a resume against a real job, explains what to improve, rewrites it in the European Europass format and writes a matching cover letter. The QR code opens the live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companies use ATS software. A capable graduate can be rejected only because a keyword is missing. They never learn why. Europe expects the Europass format, and writing a letter for each job takes too long. Existing tools are paid or only solve one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eight objectives in our proposal and all eight are met. Security, a document vault, AI analysis, a Europass rewrite, a way to measure improvement, a cover letter, mobile support, and tested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moves through five steps. Upload with the job, get the analysis, improve to Europass, measure the new score, and generate the letter. Everything is saved in the dashboard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app runs in the browser and talks only to our Express API over HTTPS with a JWT. Only the API can reach MongoDB Atlas and Gemini, so the keys never leave the server. We started with Puter.js in the browser and replaced it with this backend to match the ERD and secure the AI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collections follow the ERD. Every document stores the owner, unique indexes enforce one improved CV per analysis and one letter per CV, and deleting cascades. Files are stored in GridFS because Render's disk is temporary.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feature uses the same service. Text is extracted, a prompt is built, Gemini answers in JSON mode with our schema, temporary errors are retried, and the result is validated before saving. Four features reuse this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language model can still invent things. So after Gemini answers, our code checks the CV: any number not in the original becomes a placeholder, dates become MM/YYYY, qualifications are written in full with EQF level, and private data is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Passwords are hashed with bcrypt and tokens are JWTs. Changing the password logs out other devices. Google tokens are verified on the server. Every input is validated and rate limits protect logins and the AI quota. The API has 21 endpoints, documented in our API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48 automated tests. They send real HTTP requests, use a temporary in-memory MongoDB, and mock Gemini. GitHub Actions runs them on every push together with the frontend build, so a broken change never reaches the live site. We also did manual testing on phones and desktops.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on Vercel, the backend on Render using our render.yaml, and data in MongoDB Atlas. Every push to main runs CI and redeploys both. Secrets are only in environment variables. Note that Render's free plan sleeps, so the first request can take about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show the system live. Each member demonstrates the part they built: Ratul authentication, Sakib upload, analysis and Europass, Mahammad editing, scoring and the cover letter, Himel the dashboard and tests. Backup: if the network or Gemini fails, the next slide has screenshots of every step, and the demo account already contains a finished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screenshots of the main screens in case the live demo cannot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challenge was making the AI reliable and truthful; we solved it with schemas and post-checks. Others were busy errors, file storage on Render and the mobile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would add OCR, job-link import, interview practice, Bangla, a native mobile app and a recruiter mode. The REST API already supports a mobile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Each of us can explain our own part: Mahammad the frontend and design, Sakib the AI integration, Himel the database and testing, and Ratul the backend and security.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1412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45920"/>
            <a:ext cx="6949440" cy="12801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640080" y="3017520"/>
            <a:ext cx="6949440" cy="914400"/>
          </a:xfrm>
          <a:prstGeom prst="rect">
            <a:avLst/>
          </a:prstGeom>
          <a:noFill/>
          <a:ln/>
        </p:spPr>
        <p:txBody>
          <a:bodyPr wrap="square" rtlCol="0"/>
          <a:lstStyle>
            <a:lvl1pPr algn="l" indent="0" marL="0">
              <a:buNone/>
              <a:defRPr lang="en-US" sz="2200" dirty="0">
                <a:solidFill>
                  <a:schemeClr val="accent3"/>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RESUMIND · CSE4204-8A-T05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solidFill>
          <a:srgbClr val="1412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png"/><Relationship Id="rId6" Type="http://schemas.openxmlformats.org/officeDocument/2006/relationships/slideLayout" Target="../slideLayouts/slideLayout4.xml"/><Relationship Id="rId7"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RESUMIND logo">    </p:cNvPr>
          <p:cNvPicPr>
            <a:picLocks noChangeAspect="1"/>
          </p:cNvPicPr>
          <p:nvPr/>
        </p:nvPicPr>
        <p:blipFill>
          <a:blip r:embed="rId1"/>
          <a:stretch>
            <a:fillRect/>
          </a:stretch>
        </p:blipFill>
        <p:spPr>
          <a:xfrm>
            <a:off x="640080" y="640080"/>
            <a:ext cx="685800" cy="685800"/>
          </a:xfrm>
          <a:prstGeom prst="rect">
            <a:avLst/>
          </a:prstGeom>
        </p:spPr>
      </p:pic>
      <p:sp>
        <p:nvSpPr>
          <p:cNvPr id="3" name="Text 0"/>
          <p:cNvSpPr txBox="1"/>
          <p:nvPr/>
        </p:nvSpPr>
        <p:spPr>
          <a:xfrm>
            <a:off x="1463040" y="749808"/>
            <a:ext cx="3657600" cy="457200"/>
          </a:xfrm>
          <a:prstGeom prst="rect">
            <a:avLst/>
          </a:prstGeom>
          <a:noFill/>
          <a:ln/>
        </p:spPr>
        <p:txBody>
          <a:bodyPr wrap="square" lIns="0" tIns="0" rIns="0" bIns="0" rtlCol="0" anchor="t"/>
          <a:lstStyle/>
          <a:p>
            <a:pPr indent="0" marL="0">
              <a:buNone/>
            </a:pPr>
            <a:r>
              <a:rPr lang="en-US" sz="2000" b="1" spc="400" kern="0" dirty="0">
                <a:solidFill>
                  <a:schemeClr val="bg1"/>
                </a:solidFill>
              </a:rPr>
              <a:t>RESUMIND</a:t>
            </a:r>
            <a:endParaRPr lang="en-US" sz="2000" dirty="0"/>
          </a:p>
        </p:txBody>
      </p:sp>
      <p:sp>
        <p:nvSpPr>
          <p:cNvPr id="4" name="Text 0"/>
          <p:cNvSpPr/>
          <p:nvPr>
            <p:ph idx="100" type="title" hasCustomPrompt="1"/>
          </p:nvPr>
        </p:nvSpPr>
        <p:spPr>
          <a:xfrm>
            <a:off x="640080" y="1645920"/>
            <a:ext cx="6949440" cy="1280160"/>
          </a:xfrm>
          <a:prstGeom prst="rect">
            <a:avLst/>
          </a:prstGeom>
          <a:noFill/>
          <a:ln/>
        </p:spPr>
        <p:txBody>
          <a:bodyPr wrap="square" lIns="0" tIns="0" rIns="0" bIns="0" rtlCol="0" anchor="b"/>
          <a:lstStyle/>
          <a:p>
            <a:pPr algn="l" indent="0" marL="0">
              <a:buNone/>
            </a:pPr>
            <a:r>
              <a:rPr lang="en-US" sz="6000" b="1" dirty="0">
                <a:solidFill>
                  <a:schemeClr val="bg1"/>
                </a:solidFill>
              </a:rPr>
              <a:t>AI Resume Analyzer</a:t>
            </a:r>
            <a:endParaRPr lang="en-US" sz="6000" dirty="0"/>
          </a:p>
        </p:txBody>
      </p:sp>
      <p:sp>
        <p:nvSpPr>
          <p:cNvPr id="5" name="Text 0"/>
          <p:cNvSpPr/>
          <p:nvPr>
            <p:ph idx="101" type="body" hasCustomPrompt="1"/>
          </p:nvPr>
        </p:nvSpPr>
        <p:spPr>
          <a:xfrm>
            <a:off x="640080" y="3017520"/>
            <a:ext cx="6949440" cy="914400"/>
          </a:xfrm>
          <a:prstGeom prst="rect">
            <a:avLst/>
          </a:prstGeom>
          <a:noFill/>
          <a:ln/>
        </p:spPr>
        <p:txBody>
          <a:bodyPr wrap="square" lIns="0" tIns="0" rIns="0" bIns="0" rtlCol="0" anchor="t"/>
          <a:lstStyle/>
          <a:p>
            <a:pPr algn="l" indent="0" marL="0">
              <a:buNone/>
            </a:pPr>
            <a:r>
              <a:rPr lang="en-US" sz="2200" dirty="0">
                <a:solidFill>
                  <a:schemeClr val="accent3"/>
                </a:solidFill>
              </a:rPr>
              <a:t>Smart, honest feedback for your dream job — ATS score, Europass CV and cover letter</a:t>
            </a:r>
            <a:endParaRPr lang="en-US" sz="2200" dirty="0"/>
          </a:p>
        </p:txBody>
      </p:sp>
      <p:sp>
        <p:nvSpPr>
          <p:cNvPr id="6" name="Text 3"/>
          <p:cNvSpPr txBox="1"/>
          <p:nvPr/>
        </p:nvSpPr>
        <p:spPr>
          <a:xfrm>
            <a:off x="640080" y="4434840"/>
            <a:ext cx="7680960" cy="192024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CSE4204 Mobile Computing Lab · Team CSE4204-8A-T05 · Section 8A</a:t>
            </a:r>
            <a:endParaRPr lang="en-US" sz="1400" dirty="0"/>
          </a:p>
          <a:p>
            <a:pPr indent="0" marL="0">
              <a:spcAft>
                <a:spcPts val="600"/>
              </a:spcAft>
              <a:buNone/>
            </a:pPr>
            <a:r>
              <a:rPr lang="en-US" sz="1400" dirty="0">
                <a:solidFill>
                  <a:schemeClr val="bg1"/>
                </a:solidFill>
              </a:rPr>
              <a:t>Team Leader: Mahammad Hasan (11220320828)</a:t>
            </a:r>
            <a:endParaRPr lang="en-US" sz="1400" dirty="0"/>
          </a:p>
          <a:p>
            <a:pPr indent="0" marL="0">
              <a:spcAft>
                <a:spcPts val="600"/>
              </a:spcAft>
              <a:buNone/>
            </a:pPr>
            <a:r>
              <a:rPr lang="en-US" sz="1400" dirty="0">
                <a:solidFill>
                  <a:schemeClr val="bg1"/>
                </a:solidFill>
              </a:rPr>
              <a:t>Shanawaz Sakib (11220320916) · Ashikur Rahman Himel (11220320833) · Rasel Ratul (11220320827)</a:t>
            </a:r>
            <a:endParaRPr lang="en-US" sz="1400" dirty="0"/>
          </a:p>
          <a:p>
            <a:pPr indent="0" marL="0">
              <a:spcAft>
                <a:spcPts val="600"/>
              </a:spcAft>
              <a:buNone/>
            </a:pPr>
            <a:r>
              <a:rPr lang="en-US" sz="1400" dirty="0">
                <a:solidFill>
                  <a:schemeClr val="bg1"/>
                </a:solidFill>
              </a:rPr>
              <a:t>GitHub: github.com/mahamud894/AI_Resume_Analyzer</a:t>
            </a:r>
            <a:endParaRPr lang="en-US" sz="1400" dirty="0"/>
          </a:p>
          <a:p>
            <a:pPr indent="0" marL="0">
              <a:spcAft>
                <a:spcPts val="600"/>
              </a:spcAft>
              <a:buNone/>
            </a:pPr>
            <a:r>
              <a:rPr lang="en-US" sz="1400" dirty="0">
                <a:solidFill>
                  <a:schemeClr val="bg1"/>
                </a:solidFill>
              </a:rPr>
              <a:t>Supervisor: Md. Riaz Mahmud, Assistant Professor, Dept. of CSE, NUBTK</a:t>
            </a:r>
            <a:endParaRPr lang="en-US" sz="1400" dirty="0"/>
          </a:p>
        </p:txBody>
      </p:sp>
      <p:sp>
        <p:nvSpPr>
          <p:cNvPr id="7" name="qr card"/>
          <p:cNvSpPr/>
          <p:nvPr/>
        </p:nvSpPr>
        <p:spPr>
          <a:xfrm>
            <a:off x="8732520" y="1417320"/>
            <a:ext cx="2834640" cy="3429000"/>
          </a:xfrm>
          <a:prstGeom prst="roundRect">
            <a:avLst>
              <a:gd name="adj" fmla="val 3871"/>
            </a:avLst>
          </a:prstGeom>
          <a:solidFill>
            <a:schemeClr val="bg1"/>
          </a:solidFill>
          <a:ln/>
        </p:spPr>
      </p:sp>
      <p:pic>
        <p:nvPicPr>
          <p:cNvPr id="8" name="QR live app" descr="QR code to the live app">    </p:cNvPr>
          <p:cNvPicPr>
            <a:picLocks noChangeAspect="1"/>
          </p:cNvPicPr>
          <p:nvPr/>
        </p:nvPicPr>
        <p:blipFill>
          <a:blip r:embed="rId2"/>
          <a:stretch>
            <a:fillRect/>
          </a:stretch>
        </p:blipFill>
        <p:spPr>
          <a:xfrm>
            <a:off x="9006840" y="1645920"/>
            <a:ext cx="2286000" cy="2286000"/>
          </a:xfrm>
          <a:prstGeom prst="rect">
            <a:avLst/>
          </a:prstGeom>
        </p:spPr>
      </p:pic>
      <p:sp>
        <p:nvSpPr>
          <p:cNvPr id="9" name="Text 5"/>
          <p:cNvSpPr txBox="1"/>
          <p:nvPr/>
        </p:nvSpPr>
        <p:spPr>
          <a:xfrm>
            <a:off x="8732520" y="4069080"/>
            <a:ext cx="2834640" cy="320040"/>
          </a:xfrm>
          <a:prstGeom prst="rect">
            <a:avLst/>
          </a:prstGeom>
          <a:noFill/>
          <a:ln/>
        </p:spPr>
        <p:txBody>
          <a:bodyPr wrap="square" lIns="0" tIns="0" rIns="0" bIns="0" rtlCol="0" anchor="t"/>
          <a:lstStyle/>
          <a:p>
            <a:pPr algn="ctr" indent="0" marL="0">
              <a:buNone/>
            </a:pPr>
            <a:r>
              <a:rPr lang="en-US" sz="1400" b="1" dirty="0">
                <a:solidFill>
                  <a:schemeClr val="accent1"/>
                </a:solidFill>
              </a:rPr>
              <a:t>Scan to try it live</a:t>
            </a:r>
            <a:endParaRPr lang="en-US" sz="1400" dirty="0"/>
          </a:p>
        </p:txBody>
      </p:sp>
      <p:sp>
        <p:nvSpPr>
          <p:cNvPr id="10" name="Text 6"/>
          <p:cNvSpPr txBox="1"/>
          <p:nvPr/>
        </p:nvSpPr>
        <p:spPr>
          <a:xfrm>
            <a:off x="8732520" y="4389120"/>
            <a:ext cx="2834640" cy="274320"/>
          </a:xfrm>
          <a:prstGeom prst="rect">
            <a:avLst/>
          </a:prstGeom>
          <a:noFill/>
          <a:ln/>
        </p:spPr>
        <p:txBody>
          <a:bodyPr wrap="square" lIns="0" tIns="0" rIns="0" bIns="0" rtlCol="0" anchor="t"/>
          <a:lstStyle/>
          <a:p>
            <a:pPr algn="ctr" indent="0" marL="0">
              <a:buNone/>
            </a:pPr>
            <a:r>
              <a:rPr lang="en-US" sz="1000" dirty="0">
                <a:solidFill>
                  <a:schemeClr val="tx2"/>
                </a:solidFill>
              </a:rPr>
              <a:t>ai-resume-analyzer-psi-lime.vercel.app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Good CVs are rejected before a human reads them</a:t>
            </a:r>
            <a:endParaRPr lang="en-US" sz="3600" dirty="0"/>
          </a:p>
        </p:txBody>
      </p:sp>
      <p:sp>
        <p:nvSpPr>
          <p:cNvPr id="3" name="problem card 1"/>
          <p:cNvSpPr/>
          <p:nvPr/>
        </p:nvSpPr>
        <p:spPr>
          <a:xfrm>
            <a:off x="548640" y="1463040"/>
            <a:ext cx="2587752" cy="3291840"/>
          </a:xfrm>
          <a:prstGeom prst="roundRect">
            <a:avLst>
              <a:gd name="adj" fmla="val 4240"/>
            </a:avLst>
          </a:prstGeom>
          <a:solidFill>
            <a:schemeClr val="bg2"/>
          </a:solidFill>
          <a:ln/>
        </p:spPr>
      </p:sp>
      <p:sp>
        <p:nvSpPr>
          <p:cNvPr id="4" name="problem icon 1 circle"/>
          <p:cNvSpPr/>
          <p:nvPr/>
        </p:nvSpPr>
        <p:spPr>
          <a:xfrm>
            <a:off x="822960" y="1737360"/>
            <a:ext cx="640080" cy="640080"/>
          </a:xfrm>
          <a:prstGeom prst="ellipse">
            <a:avLst/>
          </a:prstGeom>
          <a:solidFill>
            <a:schemeClr val="bg1"/>
          </a:solidFill>
          <a:ln/>
        </p:spPr>
      </p:sp>
      <p:pic>
        <p:nvPicPr>
          <p:cNvPr id="5" name="problem icon 1" descr="problem icon 1">    </p:cNvPr>
          <p:cNvPicPr>
            <a:picLocks noChangeAspect="1"/>
          </p:cNvPicPr>
          <p:nvPr/>
        </p:nvPicPr>
        <p:blipFill>
          <a:blip r:embed="rId1"/>
          <a:stretch>
            <a:fillRect/>
          </a:stretch>
        </p:blipFill>
        <p:spPr>
          <a:xfrm>
            <a:off x="982980" y="1897380"/>
            <a:ext cx="320040" cy="320040"/>
          </a:xfrm>
          <a:prstGeom prst="rect">
            <a:avLst/>
          </a:prstGeom>
        </p:spPr>
      </p:pic>
      <p:sp>
        <p:nvSpPr>
          <p:cNvPr id="6" name="Text 3"/>
          <p:cNvSpPr txBox="1"/>
          <p:nvPr/>
        </p:nvSpPr>
        <p:spPr>
          <a:xfrm>
            <a:off x="822960" y="2560320"/>
            <a:ext cx="2103120" cy="411480"/>
          </a:xfrm>
          <a:prstGeom prst="rect">
            <a:avLst/>
          </a:prstGeom>
          <a:noFill/>
          <a:ln/>
        </p:spPr>
        <p:txBody>
          <a:bodyPr wrap="square" lIns="0" tIns="0" rIns="0" bIns="0" rtlCol="0" anchor="t"/>
          <a:lstStyle/>
          <a:p>
            <a:pPr indent="0" marL="0">
              <a:buNone/>
            </a:pPr>
            <a:r>
              <a:rPr lang="en-US" sz="1800" b="1" dirty="0">
                <a:solidFill>
                  <a:schemeClr val="tx1"/>
                </a:solidFill>
              </a:rPr>
              <a:t>Filtered by ATS</a:t>
            </a:r>
            <a:endParaRPr lang="en-US" sz="1800" dirty="0"/>
          </a:p>
        </p:txBody>
      </p:sp>
      <p:sp>
        <p:nvSpPr>
          <p:cNvPr id="7" name="Text 4"/>
          <p:cNvSpPr txBox="1"/>
          <p:nvPr/>
        </p:nvSpPr>
        <p:spPr>
          <a:xfrm>
            <a:off x="822960" y="3017520"/>
            <a:ext cx="2103120" cy="1645920"/>
          </a:xfrm>
          <a:prstGeom prst="rect">
            <a:avLst/>
          </a:prstGeom>
          <a:noFill/>
          <a:ln/>
        </p:spPr>
        <p:txBody>
          <a:bodyPr wrap="square" lIns="0" tIns="0" rIns="0" bIns="0" rtlCol="0" anchor="t"/>
          <a:lstStyle/>
          <a:p>
            <a:pPr indent="0" marL="0">
              <a:buNone/>
            </a:pPr>
            <a:r>
              <a:rPr lang="en-US" sz="1400" dirty="0">
                <a:solidFill>
                  <a:schemeClr val="tx2"/>
                </a:solidFill>
              </a:rPr>
              <a:t>Applicant Tracking Systems reject resumes with missing keywords, weak verbs or unclear structure — automatically.</a:t>
            </a:r>
            <a:endParaRPr lang="en-US" sz="1400" dirty="0"/>
          </a:p>
        </p:txBody>
      </p:sp>
      <p:sp>
        <p:nvSpPr>
          <p:cNvPr id="8" name="problem card 2"/>
          <p:cNvSpPr/>
          <p:nvPr/>
        </p:nvSpPr>
        <p:spPr>
          <a:xfrm>
            <a:off x="3364992" y="1463040"/>
            <a:ext cx="2587752" cy="3291840"/>
          </a:xfrm>
          <a:prstGeom prst="roundRect">
            <a:avLst>
              <a:gd name="adj" fmla="val 4240"/>
            </a:avLst>
          </a:prstGeom>
          <a:solidFill>
            <a:schemeClr val="bg2"/>
          </a:solidFill>
          <a:ln/>
        </p:spPr>
      </p:sp>
      <p:sp>
        <p:nvSpPr>
          <p:cNvPr id="9" name="problem icon 2 circle"/>
          <p:cNvSpPr/>
          <p:nvPr/>
        </p:nvSpPr>
        <p:spPr>
          <a:xfrm>
            <a:off x="3639312" y="1737360"/>
            <a:ext cx="640080" cy="640080"/>
          </a:xfrm>
          <a:prstGeom prst="ellipse">
            <a:avLst/>
          </a:prstGeom>
          <a:solidFill>
            <a:schemeClr val="bg1"/>
          </a:solidFill>
          <a:ln/>
        </p:spPr>
      </p:sp>
      <p:pic>
        <p:nvPicPr>
          <p:cNvPr id="10" name="problem icon 2" descr="problem icon 2">    </p:cNvPr>
          <p:cNvPicPr>
            <a:picLocks noChangeAspect="1"/>
          </p:cNvPicPr>
          <p:nvPr/>
        </p:nvPicPr>
        <p:blipFill>
          <a:blip r:embed="rId2"/>
          <a:stretch>
            <a:fillRect/>
          </a:stretch>
        </p:blipFill>
        <p:spPr>
          <a:xfrm>
            <a:off x="3799332" y="1897380"/>
            <a:ext cx="320040" cy="320040"/>
          </a:xfrm>
          <a:prstGeom prst="rect">
            <a:avLst/>
          </a:prstGeom>
        </p:spPr>
      </p:pic>
      <p:sp>
        <p:nvSpPr>
          <p:cNvPr id="11" name="Text 7"/>
          <p:cNvSpPr txBox="1"/>
          <p:nvPr/>
        </p:nvSpPr>
        <p:spPr>
          <a:xfrm>
            <a:off x="3639312" y="2560320"/>
            <a:ext cx="2103120" cy="411480"/>
          </a:xfrm>
          <a:prstGeom prst="rect">
            <a:avLst/>
          </a:prstGeom>
          <a:noFill/>
          <a:ln/>
        </p:spPr>
        <p:txBody>
          <a:bodyPr wrap="square" lIns="0" tIns="0" rIns="0" bIns="0" rtlCol="0" anchor="t"/>
          <a:lstStyle/>
          <a:p>
            <a:pPr indent="0" marL="0">
              <a:buNone/>
            </a:pPr>
            <a:r>
              <a:rPr lang="en-US" sz="1800" b="1" dirty="0">
                <a:solidFill>
                  <a:schemeClr val="tx1"/>
                </a:solidFill>
              </a:rPr>
              <a:t>No feedback</a:t>
            </a:r>
            <a:endParaRPr lang="en-US" sz="1800" dirty="0"/>
          </a:p>
        </p:txBody>
      </p:sp>
      <p:sp>
        <p:nvSpPr>
          <p:cNvPr id="12" name="Text 8"/>
          <p:cNvSpPr txBox="1"/>
          <p:nvPr/>
        </p:nvSpPr>
        <p:spPr>
          <a:xfrm>
            <a:off x="3639312" y="3017520"/>
            <a:ext cx="2103120" cy="1645920"/>
          </a:xfrm>
          <a:prstGeom prst="rect">
            <a:avLst/>
          </a:prstGeom>
          <a:noFill/>
          <a:ln/>
        </p:spPr>
        <p:txBody>
          <a:bodyPr wrap="square" lIns="0" tIns="0" rIns="0" bIns="0" rtlCol="0" anchor="t"/>
          <a:lstStyle/>
          <a:p>
            <a:pPr indent="0" marL="0">
              <a:buNone/>
            </a:pPr>
            <a:r>
              <a:rPr lang="en-US" sz="1400" dirty="0">
                <a:solidFill>
                  <a:schemeClr val="tx2"/>
                </a:solidFill>
              </a:rPr>
              <a:t>Applicants get repeated rejections without knowing what to fix.</a:t>
            </a:r>
            <a:endParaRPr lang="en-US" sz="1400" dirty="0"/>
          </a:p>
        </p:txBody>
      </p:sp>
      <p:sp>
        <p:nvSpPr>
          <p:cNvPr id="13" name="problem card 3"/>
          <p:cNvSpPr/>
          <p:nvPr/>
        </p:nvSpPr>
        <p:spPr>
          <a:xfrm>
            <a:off x="6181344" y="1463040"/>
            <a:ext cx="2587752" cy="3291840"/>
          </a:xfrm>
          <a:prstGeom prst="roundRect">
            <a:avLst>
              <a:gd name="adj" fmla="val 4240"/>
            </a:avLst>
          </a:prstGeom>
          <a:solidFill>
            <a:schemeClr val="bg2"/>
          </a:solidFill>
          <a:ln/>
        </p:spPr>
      </p:sp>
      <p:sp>
        <p:nvSpPr>
          <p:cNvPr id="14" name="problem icon 3 circle"/>
          <p:cNvSpPr/>
          <p:nvPr/>
        </p:nvSpPr>
        <p:spPr>
          <a:xfrm>
            <a:off x="6455664" y="1737360"/>
            <a:ext cx="640080" cy="640080"/>
          </a:xfrm>
          <a:prstGeom prst="ellipse">
            <a:avLst/>
          </a:prstGeom>
          <a:solidFill>
            <a:schemeClr val="bg1"/>
          </a:solidFill>
          <a:ln/>
        </p:spPr>
      </p:sp>
      <p:pic>
        <p:nvPicPr>
          <p:cNvPr id="15" name="problem icon 3" descr="problem icon 3">    </p:cNvPr>
          <p:cNvPicPr>
            <a:picLocks noChangeAspect="1"/>
          </p:cNvPicPr>
          <p:nvPr/>
        </p:nvPicPr>
        <p:blipFill>
          <a:blip r:embed="rId3"/>
          <a:stretch>
            <a:fillRect/>
          </a:stretch>
        </p:blipFill>
        <p:spPr>
          <a:xfrm>
            <a:off x="6615684" y="1897380"/>
            <a:ext cx="320040" cy="320040"/>
          </a:xfrm>
          <a:prstGeom prst="rect">
            <a:avLst/>
          </a:prstGeom>
        </p:spPr>
      </p:pic>
      <p:sp>
        <p:nvSpPr>
          <p:cNvPr id="16" name="Text 11"/>
          <p:cNvSpPr txBox="1"/>
          <p:nvPr/>
        </p:nvSpPr>
        <p:spPr>
          <a:xfrm>
            <a:off x="6455664" y="2560320"/>
            <a:ext cx="2103120" cy="411480"/>
          </a:xfrm>
          <a:prstGeom prst="rect">
            <a:avLst/>
          </a:prstGeom>
          <a:noFill/>
          <a:ln/>
        </p:spPr>
        <p:txBody>
          <a:bodyPr wrap="square" lIns="0" tIns="0" rIns="0" bIns="0" rtlCol="0" anchor="t"/>
          <a:lstStyle/>
          <a:p>
            <a:pPr indent="0" marL="0">
              <a:buNone/>
            </a:pPr>
            <a:r>
              <a:rPr lang="en-US" sz="1800" b="1" dirty="0">
                <a:solidFill>
                  <a:schemeClr val="tx1"/>
                </a:solidFill>
              </a:rPr>
              <a:t>Unknown standard</a:t>
            </a:r>
            <a:endParaRPr lang="en-US" sz="1800" dirty="0"/>
          </a:p>
        </p:txBody>
      </p:sp>
      <p:sp>
        <p:nvSpPr>
          <p:cNvPr id="17" name="Text 12"/>
          <p:cNvSpPr txBox="1"/>
          <p:nvPr/>
        </p:nvSpPr>
        <p:spPr>
          <a:xfrm>
            <a:off x="6455664" y="3017520"/>
            <a:ext cx="2103120" cy="1645920"/>
          </a:xfrm>
          <a:prstGeom prst="rect">
            <a:avLst/>
          </a:prstGeom>
          <a:noFill/>
          <a:ln/>
        </p:spPr>
        <p:txBody>
          <a:bodyPr wrap="square" lIns="0" tIns="0" rIns="0" bIns="0" rtlCol="0" anchor="t"/>
          <a:lstStyle/>
          <a:p>
            <a:pPr indent="0" marL="0">
              <a:buNone/>
            </a:pPr>
            <a:r>
              <a:rPr lang="en-US" sz="1400" dirty="0">
                <a:solidFill>
                  <a:schemeClr val="tx2"/>
                </a:solidFill>
              </a:rPr>
              <a:t>International employers expect a Europass CV (MM/YYYY dates, CEFR, EQF) that most graduates were never taught.</a:t>
            </a:r>
            <a:endParaRPr lang="en-US" sz="1400" dirty="0"/>
          </a:p>
        </p:txBody>
      </p:sp>
      <p:sp>
        <p:nvSpPr>
          <p:cNvPr id="18" name="problem card 4"/>
          <p:cNvSpPr/>
          <p:nvPr/>
        </p:nvSpPr>
        <p:spPr>
          <a:xfrm>
            <a:off x="8997696" y="1463040"/>
            <a:ext cx="2587752" cy="3291840"/>
          </a:xfrm>
          <a:prstGeom prst="roundRect">
            <a:avLst>
              <a:gd name="adj" fmla="val 4240"/>
            </a:avLst>
          </a:prstGeom>
          <a:solidFill>
            <a:schemeClr val="bg2"/>
          </a:solidFill>
          <a:ln/>
        </p:spPr>
      </p:sp>
      <p:sp>
        <p:nvSpPr>
          <p:cNvPr id="19" name="problem icon 4 circle"/>
          <p:cNvSpPr/>
          <p:nvPr/>
        </p:nvSpPr>
        <p:spPr>
          <a:xfrm>
            <a:off x="9272016" y="1737360"/>
            <a:ext cx="640080" cy="640080"/>
          </a:xfrm>
          <a:prstGeom prst="ellipse">
            <a:avLst/>
          </a:prstGeom>
          <a:solidFill>
            <a:schemeClr val="bg1"/>
          </a:solidFill>
          <a:ln/>
        </p:spPr>
      </p:sp>
      <p:pic>
        <p:nvPicPr>
          <p:cNvPr id="20" name="problem icon 4" descr="problem icon 4">    </p:cNvPr>
          <p:cNvPicPr>
            <a:picLocks noChangeAspect="1"/>
          </p:cNvPicPr>
          <p:nvPr/>
        </p:nvPicPr>
        <p:blipFill>
          <a:blip r:embed="rId4"/>
          <a:stretch>
            <a:fillRect/>
          </a:stretch>
        </p:blipFill>
        <p:spPr>
          <a:xfrm>
            <a:off x="9432036" y="1897380"/>
            <a:ext cx="320040" cy="320040"/>
          </a:xfrm>
          <a:prstGeom prst="rect">
            <a:avLst/>
          </a:prstGeom>
        </p:spPr>
      </p:pic>
      <p:sp>
        <p:nvSpPr>
          <p:cNvPr id="21" name="Text 15"/>
          <p:cNvSpPr txBox="1"/>
          <p:nvPr/>
        </p:nvSpPr>
        <p:spPr>
          <a:xfrm>
            <a:off x="9272016" y="2560320"/>
            <a:ext cx="2103120" cy="411480"/>
          </a:xfrm>
          <a:prstGeom prst="rect">
            <a:avLst/>
          </a:prstGeom>
          <a:noFill/>
          <a:ln/>
        </p:spPr>
        <p:txBody>
          <a:bodyPr wrap="square" lIns="0" tIns="0" rIns="0" bIns="0" rtlCol="0" anchor="t"/>
          <a:lstStyle/>
          <a:p>
            <a:pPr indent="0" marL="0">
              <a:buNone/>
            </a:pPr>
            <a:r>
              <a:rPr lang="en-US" sz="1800" b="1" dirty="0">
                <a:solidFill>
                  <a:schemeClr val="tx1"/>
                </a:solidFill>
              </a:rPr>
              <a:t>Time-consuming</a:t>
            </a:r>
            <a:endParaRPr lang="en-US" sz="1800" dirty="0"/>
          </a:p>
        </p:txBody>
      </p:sp>
      <p:sp>
        <p:nvSpPr>
          <p:cNvPr id="22" name="Text 16"/>
          <p:cNvSpPr txBox="1"/>
          <p:nvPr/>
        </p:nvSpPr>
        <p:spPr>
          <a:xfrm>
            <a:off x="9272016" y="3017520"/>
            <a:ext cx="2103120" cy="1645920"/>
          </a:xfrm>
          <a:prstGeom prst="rect">
            <a:avLst/>
          </a:prstGeom>
          <a:noFill/>
          <a:ln/>
        </p:spPr>
        <p:txBody>
          <a:bodyPr wrap="square" lIns="0" tIns="0" rIns="0" bIns="0" rtlCol="0" anchor="t"/>
          <a:lstStyle/>
          <a:p>
            <a:pPr indent="0" marL="0">
              <a:buNone/>
            </a:pPr>
            <a:r>
              <a:rPr lang="en-US" sz="1400" dirty="0">
                <a:solidFill>
                  <a:schemeClr val="tx2"/>
                </a:solidFill>
              </a:rPr>
              <a:t>A personalised cover letter for every application takes hours, so most people send generic ones.</a:t>
            </a:r>
            <a:endParaRPr lang="en-US" sz="1400" dirty="0"/>
          </a:p>
        </p:txBody>
      </p:sp>
      <p:sp>
        <p:nvSpPr>
          <p:cNvPr id="23" name="existing tools outline"/>
          <p:cNvSpPr/>
          <p:nvPr/>
        </p:nvSpPr>
        <p:spPr>
          <a:xfrm>
            <a:off x="548640" y="5029200"/>
            <a:ext cx="11064240" cy="1005840"/>
          </a:xfrm>
          <a:prstGeom prst="roundRect">
            <a:avLst>
              <a:gd name="adj" fmla="val 10909"/>
            </a:avLst>
          </a:prstGeom>
          <a:solidFill>
            <a:schemeClr val="bg1"/>
          </a:solidFill>
          <a:ln w="12700">
            <a:solidFill>
              <a:schemeClr val="accent6"/>
            </a:solidFill>
            <a:prstDash val="solid"/>
          </a:ln>
        </p:spPr>
      </p:sp>
      <p:sp>
        <p:nvSpPr>
          <p:cNvPr id="24" name="Text 18"/>
          <p:cNvSpPr txBox="1"/>
          <p:nvPr/>
        </p:nvSpPr>
        <p:spPr>
          <a:xfrm>
            <a:off x="822960" y="5138928"/>
            <a:ext cx="10515600" cy="822960"/>
          </a:xfrm>
          <a:prstGeom prst="rect">
            <a:avLst/>
          </a:prstGeom>
          <a:noFill/>
          <a:ln/>
        </p:spPr>
        <p:txBody>
          <a:bodyPr wrap="square" lIns="0" tIns="0" rIns="0" bIns="0" rtlCol="0" anchor="ctr"/>
          <a:lstStyle/>
          <a:p>
            <a:pPr indent="0" marL="0">
              <a:buNone/>
            </a:pPr>
            <a:r>
              <a:rPr lang="en-US" sz="1400" b="1" dirty="0">
                <a:solidFill>
                  <a:schemeClr val="tx1"/>
                </a:solidFill>
              </a:rPr>
              <a:t>Existing tools fall short: </a:t>
            </a:r>
            <a:pPr indent="0" marL="0">
              <a:buNone/>
            </a:pPr>
            <a:r>
              <a:rPr lang="en-US" sz="1400" dirty="0">
                <a:solidFill>
                  <a:schemeClr val="tx2"/>
                </a:solidFill>
              </a:rPr>
              <a:t>Jobscan and Resume Worded are paid after a few scans and match keywords without context; Reactive Resume is only a builder with no AI analysis. None combine analysis, a Europass rewrite and a cover letter for the same job.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Objectives</a:t>
            </a:r>
            <a:endParaRPr lang="en-US" sz="3600" dirty="0"/>
          </a:p>
        </p:txBody>
      </p:sp>
      <p:sp>
        <p:nvSpPr>
          <p:cNvPr id="3" name="objective card 1"/>
          <p:cNvSpPr/>
          <p:nvPr/>
        </p:nvSpPr>
        <p:spPr>
          <a:xfrm>
            <a:off x="548640" y="1463040"/>
            <a:ext cx="2587752" cy="2103120"/>
          </a:xfrm>
          <a:prstGeom prst="roundRect">
            <a:avLst>
              <a:gd name="adj" fmla="val 5217"/>
            </a:avLst>
          </a:prstGeom>
          <a:solidFill>
            <a:schemeClr val="bg2"/>
          </a:solidFill>
          <a:ln/>
        </p:spPr>
      </p:sp>
      <p:sp>
        <p:nvSpPr>
          <p:cNvPr id="4" name="objective icon 1 circle"/>
          <p:cNvSpPr/>
          <p:nvPr/>
        </p:nvSpPr>
        <p:spPr>
          <a:xfrm>
            <a:off x="822960" y="1737360"/>
            <a:ext cx="566928" cy="566928"/>
          </a:xfrm>
          <a:prstGeom prst="ellipse">
            <a:avLst/>
          </a:prstGeom>
          <a:solidFill>
            <a:schemeClr val="bg1"/>
          </a:solidFill>
          <a:ln/>
        </p:spPr>
      </p:sp>
      <p:pic>
        <p:nvPicPr>
          <p:cNvPr id="5" name="objective icon 1" descr="objective icon 1">    </p:cNvPr>
          <p:cNvPicPr>
            <a:picLocks noChangeAspect="1"/>
          </p:cNvPicPr>
          <p:nvPr/>
        </p:nvPicPr>
        <p:blipFill>
          <a:blip r:embed="rId1"/>
          <a:stretch>
            <a:fillRect/>
          </a:stretch>
        </p:blipFill>
        <p:spPr>
          <a:xfrm>
            <a:off x="964692" y="1879092"/>
            <a:ext cx="283464" cy="283464"/>
          </a:xfrm>
          <a:prstGeom prst="rect">
            <a:avLst/>
          </a:prstGeom>
        </p:spPr>
      </p:pic>
      <p:sp>
        <p:nvSpPr>
          <p:cNvPr id="6" name="Text 3"/>
          <p:cNvSpPr txBox="1"/>
          <p:nvPr/>
        </p:nvSpPr>
        <p:spPr>
          <a:xfrm>
            <a:off x="2377440" y="1810512"/>
            <a:ext cx="502920" cy="365760"/>
          </a:xfrm>
          <a:prstGeom prst="rect">
            <a:avLst/>
          </a:prstGeom>
          <a:noFill/>
          <a:ln/>
        </p:spPr>
        <p:txBody>
          <a:bodyPr wrap="square" lIns="0" tIns="0" rIns="0" bIns="0" rtlCol="0" anchor="t"/>
          <a:lstStyle/>
          <a:p>
            <a:pPr algn="r" indent="0" marL="0">
              <a:buNone/>
            </a:pPr>
            <a:r>
              <a:rPr lang="en-US" sz="1400" b="1" dirty="0">
                <a:solidFill>
                  <a:schemeClr val="accent1"/>
                </a:solidFill>
              </a:rPr>
              <a:t>O1</a:t>
            </a:r>
            <a:endParaRPr lang="en-US" sz="1400" dirty="0"/>
          </a:p>
        </p:txBody>
      </p:sp>
      <p:sp>
        <p:nvSpPr>
          <p:cNvPr id="7" name="Text 4"/>
          <p:cNvSpPr txBox="1"/>
          <p:nvPr/>
        </p:nvSpPr>
        <p:spPr>
          <a:xfrm>
            <a:off x="822960" y="24688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Secure accounts</a:t>
            </a:r>
            <a:endParaRPr lang="en-US" sz="1800" dirty="0"/>
          </a:p>
        </p:txBody>
      </p:sp>
      <p:sp>
        <p:nvSpPr>
          <p:cNvPr id="8" name="Text 5"/>
          <p:cNvSpPr txBox="1"/>
          <p:nvPr/>
        </p:nvSpPr>
        <p:spPr>
          <a:xfrm>
            <a:off x="822960" y="2880360"/>
            <a:ext cx="2103120" cy="548640"/>
          </a:xfrm>
          <a:prstGeom prst="rect">
            <a:avLst/>
          </a:prstGeom>
          <a:noFill/>
          <a:ln/>
        </p:spPr>
        <p:txBody>
          <a:bodyPr wrap="square" lIns="0" tIns="0" rIns="0" bIns="0" rtlCol="0" anchor="t"/>
          <a:lstStyle/>
          <a:p>
            <a:pPr indent="0" marL="0">
              <a:buNone/>
            </a:pPr>
            <a:r>
              <a:rPr lang="en-US" sz="1400" dirty="0">
                <a:solidFill>
                  <a:schemeClr val="tx2"/>
                </a:solidFill>
              </a:rPr>
              <a:t>bcrypt + JWT, Google Sign-In</a:t>
            </a:r>
            <a:endParaRPr lang="en-US" sz="1400" dirty="0"/>
          </a:p>
        </p:txBody>
      </p:sp>
      <p:sp>
        <p:nvSpPr>
          <p:cNvPr id="9" name="objective card 2"/>
          <p:cNvSpPr/>
          <p:nvPr/>
        </p:nvSpPr>
        <p:spPr>
          <a:xfrm>
            <a:off x="3364992" y="1463040"/>
            <a:ext cx="2587752" cy="2103120"/>
          </a:xfrm>
          <a:prstGeom prst="roundRect">
            <a:avLst>
              <a:gd name="adj" fmla="val 5217"/>
            </a:avLst>
          </a:prstGeom>
          <a:solidFill>
            <a:schemeClr val="bg2"/>
          </a:solidFill>
          <a:ln/>
        </p:spPr>
      </p:sp>
      <p:sp>
        <p:nvSpPr>
          <p:cNvPr id="10" name="objective icon 2 circle"/>
          <p:cNvSpPr/>
          <p:nvPr/>
        </p:nvSpPr>
        <p:spPr>
          <a:xfrm>
            <a:off x="3639312" y="1737360"/>
            <a:ext cx="566928" cy="566928"/>
          </a:xfrm>
          <a:prstGeom prst="ellipse">
            <a:avLst/>
          </a:prstGeom>
          <a:solidFill>
            <a:schemeClr val="bg1"/>
          </a:solidFill>
          <a:ln/>
        </p:spPr>
      </p:sp>
      <p:pic>
        <p:nvPicPr>
          <p:cNvPr id="11" name="objective icon 2" descr="objective icon 2">    </p:cNvPr>
          <p:cNvPicPr>
            <a:picLocks noChangeAspect="1"/>
          </p:cNvPicPr>
          <p:nvPr/>
        </p:nvPicPr>
        <p:blipFill>
          <a:blip r:embed="rId2"/>
          <a:stretch>
            <a:fillRect/>
          </a:stretch>
        </p:blipFill>
        <p:spPr>
          <a:xfrm>
            <a:off x="3781044" y="1879092"/>
            <a:ext cx="283464" cy="283464"/>
          </a:xfrm>
          <a:prstGeom prst="rect">
            <a:avLst/>
          </a:prstGeom>
        </p:spPr>
      </p:pic>
      <p:sp>
        <p:nvSpPr>
          <p:cNvPr id="12" name="Text 8"/>
          <p:cNvSpPr txBox="1"/>
          <p:nvPr/>
        </p:nvSpPr>
        <p:spPr>
          <a:xfrm>
            <a:off x="5193792" y="1810512"/>
            <a:ext cx="502920" cy="365760"/>
          </a:xfrm>
          <a:prstGeom prst="rect">
            <a:avLst/>
          </a:prstGeom>
          <a:noFill/>
          <a:ln/>
        </p:spPr>
        <p:txBody>
          <a:bodyPr wrap="square" lIns="0" tIns="0" rIns="0" bIns="0" rtlCol="0" anchor="t"/>
          <a:lstStyle/>
          <a:p>
            <a:pPr algn="r" indent="0" marL="0">
              <a:buNone/>
            </a:pPr>
            <a:r>
              <a:rPr lang="en-US" sz="1400" b="1" dirty="0">
                <a:solidFill>
                  <a:schemeClr val="accent1"/>
                </a:solidFill>
              </a:rPr>
              <a:t>O2</a:t>
            </a:r>
            <a:endParaRPr lang="en-US" sz="1400" dirty="0"/>
          </a:p>
        </p:txBody>
      </p:sp>
      <p:sp>
        <p:nvSpPr>
          <p:cNvPr id="13" name="Text 9"/>
          <p:cNvSpPr txBox="1"/>
          <p:nvPr/>
        </p:nvSpPr>
        <p:spPr>
          <a:xfrm>
            <a:off x="3639312" y="24688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Document vault</a:t>
            </a:r>
            <a:endParaRPr lang="en-US" sz="1800" dirty="0"/>
          </a:p>
        </p:txBody>
      </p:sp>
      <p:sp>
        <p:nvSpPr>
          <p:cNvPr id="14" name="Text 10"/>
          <p:cNvSpPr txBox="1"/>
          <p:nvPr/>
        </p:nvSpPr>
        <p:spPr>
          <a:xfrm>
            <a:off x="3639312" y="2880360"/>
            <a:ext cx="2103120" cy="548640"/>
          </a:xfrm>
          <a:prstGeom prst="rect">
            <a:avLst/>
          </a:prstGeom>
          <a:noFill/>
          <a:ln/>
        </p:spPr>
        <p:txBody>
          <a:bodyPr wrap="square" lIns="0" tIns="0" rIns="0" bIns="0" rtlCol="0" anchor="t"/>
          <a:lstStyle/>
          <a:p>
            <a:pPr indent="0" marL="0">
              <a:buNone/>
            </a:pPr>
            <a:r>
              <a:rPr lang="en-US" sz="1400" dirty="0">
                <a:solidFill>
                  <a:schemeClr val="tx2"/>
                </a:solidFill>
              </a:rPr>
              <a:t>PDFs and history in MongoDB</a:t>
            </a:r>
            <a:endParaRPr lang="en-US" sz="1400" dirty="0"/>
          </a:p>
        </p:txBody>
      </p:sp>
      <p:sp>
        <p:nvSpPr>
          <p:cNvPr id="15" name="objective card 3"/>
          <p:cNvSpPr/>
          <p:nvPr/>
        </p:nvSpPr>
        <p:spPr>
          <a:xfrm>
            <a:off x="6181344" y="1463040"/>
            <a:ext cx="2587752" cy="2103120"/>
          </a:xfrm>
          <a:prstGeom prst="roundRect">
            <a:avLst>
              <a:gd name="adj" fmla="val 5217"/>
            </a:avLst>
          </a:prstGeom>
          <a:solidFill>
            <a:schemeClr val="bg2"/>
          </a:solidFill>
          <a:ln/>
        </p:spPr>
      </p:sp>
      <p:sp>
        <p:nvSpPr>
          <p:cNvPr id="16" name="objective icon 3 circle"/>
          <p:cNvSpPr/>
          <p:nvPr/>
        </p:nvSpPr>
        <p:spPr>
          <a:xfrm>
            <a:off x="6455664" y="1737360"/>
            <a:ext cx="566928" cy="566928"/>
          </a:xfrm>
          <a:prstGeom prst="ellipse">
            <a:avLst/>
          </a:prstGeom>
          <a:solidFill>
            <a:schemeClr val="bg1"/>
          </a:solidFill>
          <a:ln/>
        </p:spPr>
      </p:sp>
      <p:pic>
        <p:nvPicPr>
          <p:cNvPr id="17" name="objective icon 3" descr="objective icon 3">    </p:cNvPr>
          <p:cNvPicPr>
            <a:picLocks noChangeAspect="1"/>
          </p:cNvPicPr>
          <p:nvPr/>
        </p:nvPicPr>
        <p:blipFill>
          <a:blip r:embed="rId3"/>
          <a:stretch>
            <a:fillRect/>
          </a:stretch>
        </p:blipFill>
        <p:spPr>
          <a:xfrm>
            <a:off x="6597396" y="1879092"/>
            <a:ext cx="283464" cy="283464"/>
          </a:xfrm>
          <a:prstGeom prst="rect">
            <a:avLst/>
          </a:prstGeom>
        </p:spPr>
      </p:pic>
      <p:sp>
        <p:nvSpPr>
          <p:cNvPr id="18" name="Text 13"/>
          <p:cNvSpPr txBox="1"/>
          <p:nvPr/>
        </p:nvSpPr>
        <p:spPr>
          <a:xfrm>
            <a:off x="8010144" y="1810512"/>
            <a:ext cx="502920" cy="365760"/>
          </a:xfrm>
          <a:prstGeom prst="rect">
            <a:avLst/>
          </a:prstGeom>
          <a:noFill/>
          <a:ln/>
        </p:spPr>
        <p:txBody>
          <a:bodyPr wrap="square" lIns="0" tIns="0" rIns="0" bIns="0" rtlCol="0" anchor="t"/>
          <a:lstStyle/>
          <a:p>
            <a:pPr algn="r" indent="0" marL="0">
              <a:buNone/>
            </a:pPr>
            <a:r>
              <a:rPr lang="en-US" sz="1400" b="1" dirty="0">
                <a:solidFill>
                  <a:schemeClr val="accent1"/>
                </a:solidFill>
              </a:rPr>
              <a:t>O3</a:t>
            </a:r>
            <a:endParaRPr lang="en-US" sz="1400" dirty="0"/>
          </a:p>
        </p:txBody>
      </p:sp>
      <p:sp>
        <p:nvSpPr>
          <p:cNvPr id="19" name="Text 14"/>
          <p:cNvSpPr txBox="1"/>
          <p:nvPr/>
        </p:nvSpPr>
        <p:spPr>
          <a:xfrm>
            <a:off x="6455664" y="24688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AI ATS analysis</a:t>
            </a:r>
            <a:endParaRPr lang="en-US" sz="1800" dirty="0"/>
          </a:p>
        </p:txBody>
      </p:sp>
      <p:sp>
        <p:nvSpPr>
          <p:cNvPr id="20" name="Text 15"/>
          <p:cNvSpPr txBox="1"/>
          <p:nvPr/>
        </p:nvSpPr>
        <p:spPr>
          <a:xfrm>
            <a:off x="6455664" y="2880360"/>
            <a:ext cx="2103120" cy="548640"/>
          </a:xfrm>
          <a:prstGeom prst="rect">
            <a:avLst/>
          </a:prstGeom>
          <a:noFill/>
          <a:ln/>
        </p:spPr>
        <p:txBody>
          <a:bodyPr wrap="square" lIns="0" tIns="0" rIns="0" bIns="0" rtlCol="0" anchor="t"/>
          <a:lstStyle/>
          <a:p>
            <a:pPr indent="0" marL="0">
              <a:buNone/>
            </a:pPr>
            <a:r>
              <a:rPr lang="en-US" sz="1400" dirty="0">
                <a:solidFill>
                  <a:schemeClr val="tx2"/>
                </a:solidFill>
              </a:rPr>
              <a:t>Score + 5 categories with tips</a:t>
            </a:r>
            <a:endParaRPr lang="en-US" sz="1400" dirty="0"/>
          </a:p>
        </p:txBody>
      </p:sp>
      <p:sp>
        <p:nvSpPr>
          <p:cNvPr id="21" name="objective card 4"/>
          <p:cNvSpPr/>
          <p:nvPr/>
        </p:nvSpPr>
        <p:spPr>
          <a:xfrm>
            <a:off x="8997696" y="1463040"/>
            <a:ext cx="2587752" cy="2103120"/>
          </a:xfrm>
          <a:prstGeom prst="roundRect">
            <a:avLst>
              <a:gd name="adj" fmla="val 5217"/>
            </a:avLst>
          </a:prstGeom>
          <a:solidFill>
            <a:schemeClr val="bg2"/>
          </a:solidFill>
          <a:ln/>
        </p:spPr>
      </p:sp>
      <p:sp>
        <p:nvSpPr>
          <p:cNvPr id="22" name="objective icon 4 circle"/>
          <p:cNvSpPr/>
          <p:nvPr/>
        </p:nvSpPr>
        <p:spPr>
          <a:xfrm>
            <a:off x="9272016" y="1737360"/>
            <a:ext cx="566928" cy="566928"/>
          </a:xfrm>
          <a:prstGeom prst="ellipse">
            <a:avLst/>
          </a:prstGeom>
          <a:solidFill>
            <a:schemeClr val="bg1"/>
          </a:solidFill>
          <a:ln/>
        </p:spPr>
      </p:sp>
      <p:pic>
        <p:nvPicPr>
          <p:cNvPr id="23" name="objective icon 4" descr="objective icon 4">    </p:cNvPr>
          <p:cNvPicPr>
            <a:picLocks noChangeAspect="1"/>
          </p:cNvPicPr>
          <p:nvPr/>
        </p:nvPicPr>
        <p:blipFill>
          <a:blip r:embed="rId4"/>
          <a:stretch>
            <a:fillRect/>
          </a:stretch>
        </p:blipFill>
        <p:spPr>
          <a:xfrm>
            <a:off x="9413748" y="1879092"/>
            <a:ext cx="283464" cy="283464"/>
          </a:xfrm>
          <a:prstGeom prst="rect">
            <a:avLst/>
          </a:prstGeom>
        </p:spPr>
      </p:pic>
      <p:sp>
        <p:nvSpPr>
          <p:cNvPr id="24" name="Text 18"/>
          <p:cNvSpPr txBox="1"/>
          <p:nvPr/>
        </p:nvSpPr>
        <p:spPr>
          <a:xfrm>
            <a:off x="10826496" y="1810512"/>
            <a:ext cx="502920" cy="365760"/>
          </a:xfrm>
          <a:prstGeom prst="rect">
            <a:avLst/>
          </a:prstGeom>
          <a:noFill/>
          <a:ln/>
        </p:spPr>
        <p:txBody>
          <a:bodyPr wrap="square" lIns="0" tIns="0" rIns="0" bIns="0" rtlCol="0" anchor="t"/>
          <a:lstStyle/>
          <a:p>
            <a:pPr algn="r" indent="0" marL="0">
              <a:buNone/>
            </a:pPr>
            <a:r>
              <a:rPr lang="en-US" sz="1400" b="1" dirty="0">
                <a:solidFill>
                  <a:schemeClr val="accent1"/>
                </a:solidFill>
              </a:rPr>
              <a:t>O4</a:t>
            </a:r>
            <a:endParaRPr lang="en-US" sz="1400" dirty="0"/>
          </a:p>
        </p:txBody>
      </p:sp>
      <p:sp>
        <p:nvSpPr>
          <p:cNvPr id="25" name="Text 19"/>
          <p:cNvSpPr txBox="1"/>
          <p:nvPr/>
        </p:nvSpPr>
        <p:spPr>
          <a:xfrm>
            <a:off x="9272016" y="24688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Europass rewrite</a:t>
            </a:r>
            <a:endParaRPr lang="en-US" sz="1800" dirty="0"/>
          </a:p>
        </p:txBody>
      </p:sp>
      <p:sp>
        <p:nvSpPr>
          <p:cNvPr id="26" name="Text 20"/>
          <p:cNvSpPr txBox="1"/>
          <p:nvPr/>
        </p:nvSpPr>
        <p:spPr>
          <a:xfrm>
            <a:off x="9272016" y="2880360"/>
            <a:ext cx="2103120" cy="548640"/>
          </a:xfrm>
          <a:prstGeom prst="rect">
            <a:avLst/>
          </a:prstGeom>
          <a:noFill/>
          <a:ln/>
        </p:spPr>
        <p:txBody>
          <a:bodyPr wrap="square" lIns="0" tIns="0" rIns="0" bIns="0" rtlCol="0" anchor="t"/>
          <a:lstStyle/>
          <a:p>
            <a:pPr indent="0" marL="0">
              <a:buNone/>
            </a:pPr>
            <a:r>
              <a:rPr lang="en-US" sz="1400" dirty="0">
                <a:solidFill>
                  <a:schemeClr val="tx2"/>
                </a:solidFill>
              </a:rPr>
              <a:t>Fix every tip, never invent facts</a:t>
            </a:r>
            <a:endParaRPr lang="en-US" sz="1400" dirty="0"/>
          </a:p>
        </p:txBody>
      </p:sp>
      <p:sp>
        <p:nvSpPr>
          <p:cNvPr id="27" name="objective card 5"/>
          <p:cNvSpPr/>
          <p:nvPr/>
        </p:nvSpPr>
        <p:spPr>
          <a:xfrm>
            <a:off x="548640" y="3840480"/>
            <a:ext cx="2587752" cy="2103120"/>
          </a:xfrm>
          <a:prstGeom prst="roundRect">
            <a:avLst>
              <a:gd name="adj" fmla="val 5217"/>
            </a:avLst>
          </a:prstGeom>
          <a:solidFill>
            <a:schemeClr val="bg2"/>
          </a:solidFill>
          <a:ln/>
        </p:spPr>
      </p:sp>
      <p:sp>
        <p:nvSpPr>
          <p:cNvPr id="28" name="objective icon 5 circle"/>
          <p:cNvSpPr/>
          <p:nvPr/>
        </p:nvSpPr>
        <p:spPr>
          <a:xfrm>
            <a:off x="822960" y="4114800"/>
            <a:ext cx="566928" cy="566928"/>
          </a:xfrm>
          <a:prstGeom prst="ellipse">
            <a:avLst/>
          </a:prstGeom>
          <a:solidFill>
            <a:schemeClr val="bg1"/>
          </a:solidFill>
          <a:ln/>
        </p:spPr>
      </p:sp>
      <p:pic>
        <p:nvPicPr>
          <p:cNvPr id="29" name="objective icon 5" descr="objective icon 5">    </p:cNvPr>
          <p:cNvPicPr>
            <a:picLocks noChangeAspect="1"/>
          </p:cNvPicPr>
          <p:nvPr/>
        </p:nvPicPr>
        <p:blipFill>
          <a:blip r:embed="rId5"/>
          <a:stretch>
            <a:fillRect/>
          </a:stretch>
        </p:blipFill>
        <p:spPr>
          <a:xfrm>
            <a:off x="964692" y="4256532"/>
            <a:ext cx="283464" cy="283464"/>
          </a:xfrm>
          <a:prstGeom prst="rect">
            <a:avLst/>
          </a:prstGeom>
        </p:spPr>
      </p:pic>
      <p:sp>
        <p:nvSpPr>
          <p:cNvPr id="30" name="Text 23"/>
          <p:cNvSpPr txBox="1"/>
          <p:nvPr/>
        </p:nvSpPr>
        <p:spPr>
          <a:xfrm>
            <a:off x="2377440" y="4187952"/>
            <a:ext cx="502920" cy="365760"/>
          </a:xfrm>
          <a:prstGeom prst="rect">
            <a:avLst/>
          </a:prstGeom>
          <a:noFill/>
          <a:ln/>
        </p:spPr>
        <p:txBody>
          <a:bodyPr wrap="square" lIns="0" tIns="0" rIns="0" bIns="0" rtlCol="0" anchor="t"/>
          <a:lstStyle/>
          <a:p>
            <a:pPr algn="r" indent="0" marL="0">
              <a:buNone/>
            </a:pPr>
            <a:r>
              <a:rPr lang="en-US" sz="1400" b="1" dirty="0">
                <a:solidFill>
                  <a:schemeClr val="accent1"/>
                </a:solidFill>
              </a:rPr>
              <a:t>O5</a:t>
            </a:r>
            <a:endParaRPr lang="en-US" sz="1400" dirty="0"/>
          </a:p>
        </p:txBody>
      </p:sp>
      <p:sp>
        <p:nvSpPr>
          <p:cNvPr id="31" name="Text 24"/>
          <p:cNvSpPr txBox="1"/>
          <p:nvPr/>
        </p:nvSpPr>
        <p:spPr>
          <a:xfrm>
            <a:off x="822960" y="4846320"/>
            <a:ext cx="2103120" cy="411480"/>
          </a:xfrm>
          <a:prstGeom prst="rect">
            <a:avLst/>
          </a:prstGeom>
          <a:noFill/>
          <a:ln/>
        </p:spPr>
        <p:txBody>
          <a:bodyPr wrap="square" lIns="0" tIns="0" rIns="0" bIns="0" rtlCol="0" anchor="t"/>
          <a:lstStyle/>
          <a:p>
            <a:pPr indent="0" marL="0">
              <a:buNone/>
            </a:pPr>
            <a:r>
              <a:rPr lang="en-US" sz="1800" b="1" dirty="0">
                <a:solidFill>
                  <a:schemeClr val="tx1"/>
                </a:solidFill>
              </a:rPr>
              <a:t>Before / after</a:t>
            </a:r>
            <a:endParaRPr lang="en-US" sz="1800" dirty="0"/>
          </a:p>
        </p:txBody>
      </p:sp>
      <p:sp>
        <p:nvSpPr>
          <p:cNvPr id="32" name="Text 25"/>
          <p:cNvSpPr txBox="1"/>
          <p:nvPr/>
        </p:nvSpPr>
        <p:spPr>
          <a:xfrm>
            <a:off x="822960" y="5257800"/>
            <a:ext cx="2103120" cy="548640"/>
          </a:xfrm>
          <a:prstGeom prst="rect">
            <a:avLst/>
          </a:prstGeom>
          <a:noFill/>
          <a:ln/>
        </p:spPr>
        <p:txBody>
          <a:bodyPr wrap="square" lIns="0" tIns="0" rIns="0" bIns="0" rtlCol="0" anchor="t"/>
          <a:lstStyle/>
          <a:p>
            <a:pPr indent="0" marL="0">
              <a:buNone/>
            </a:pPr>
            <a:r>
              <a:rPr lang="en-US" sz="1400" dirty="0">
                <a:solidFill>
                  <a:schemeClr val="tx2"/>
                </a:solidFill>
              </a:rPr>
              <a:t>Measure the gain with a new score</a:t>
            </a:r>
            <a:endParaRPr lang="en-US" sz="1400" dirty="0"/>
          </a:p>
        </p:txBody>
      </p:sp>
      <p:sp>
        <p:nvSpPr>
          <p:cNvPr id="33" name="objective card 6"/>
          <p:cNvSpPr/>
          <p:nvPr/>
        </p:nvSpPr>
        <p:spPr>
          <a:xfrm>
            <a:off x="3364992" y="3840480"/>
            <a:ext cx="2587752" cy="2103120"/>
          </a:xfrm>
          <a:prstGeom prst="roundRect">
            <a:avLst>
              <a:gd name="adj" fmla="val 5217"/>
            </a:avLst>
          </a:prstGeom>
          <a:solidFill>
            <a:schemeClr val="bg2"/>
          </a:solidFill>
          <a:ln/>
        </p:spPr>
      </p:sp>
      <p:sp>
        <p:nvSpPr>
          <p:cNvPr id="34" name="objective icon 6 circle"/>
          <p:cNvSpPr/>
          <p:nvPr/>
        </p:nvSpPr>
        <p:spPr>
          <a:xfrm>
            <a:off x="3639312" y="4114800"/>
            <a:ext cx="566928" cy="566928"/>
          </a:xfrm>
          <a:prstGeom prst="ellipse">
            <a:avLst/>
          </a:prstGeom>
          <a:solidFill>
            <a:schemeClr val="bg1"/>
          </a:solidFill>
          <a:ln/>
        </p:spPr>
      </p:sp>
      <p:pic>
        <p:nvPicPr>
          <p:cNvPr id="35" name="objective icon 6" descr="objective icon 6">    </p:cNvPr>
          <p:cNvPicPr>
            <a:picLocks noChangeAspect="1"/>
          </p:cNvPicPr>
          <p:nvPr/>
        </p:nvPicPr>
        <p:blipFill>
          <a:blip r:embed="rId6"/>
          <a:stretch>
            <a:fillRect/>
          </a:stretch>
        </p:blipFill>
        <p:spPr>
          <a:xfrm>
            <a:off x="3781044" y="4256532"/>
            <a:ext cx="283464" cy="283464"/>
          </a:xfrm>
          <a:prstGeom prst="rect">
            <a:avLst/>
          </a:prstGeom>
        </p:spPr>
      </p:pic>
      <p:sp>
        <p:nvSpPr>
          <p:cNvPr id="36" name="Text 28"/>
          <p:cNvSpPr txBox="1"/>
          <p:nvPr/>
        </p:nvSpPr>
        <p:spPr>
          <a:xfrm>
            <a:off x="5193792" y="4187952"/>
            <a:ext cx="502920" cy="365760"/>
          </a:xfrm>
          <a:prstGeom prst="rect">
            <a:avLst/>
          </a:prstGeom>
          <a:noFill/>
          <a:ln/>
        </p:spPr>
        <p:txBody>
          <a:bodyPr wrap="square" lIns="0" tIns="0" rIns="0" bIns="0" rtlCol="0" anchor="t"/>
          <a:lstStyle/>
          <a:p>
            <a:pPr algn="r" indent="0" marL="0">
              <a:buNone/>
            </a:pPr>
            <a:r>
              <a:rPr lang="en-US" sz="1400" b="1" dirty="0">
                <a:solidFill>
                  <a:schemeClr val="accent1"/>
                </a:solidFill>
              </a:rPr>
              <a:t>O6</a:t>
            </a:r>
            <a:endParaRPr lang="en-US" sz="1400" dirty="0"/>
          </a:p>
        </p:txBody>
      </p:sp>
      <p:sp>
        <p:nvSpPr>
          <p:cNvPr id="37" name="Text 29"/>
          <p:cNvSpPr txBox="1"/>
          <p:nvPr/>
        </p:nvSpPr>
        <p:spPr>
          <a:xfrm>
            <a:off x="3639312" y="4846320"/>
            <a:ext cx="2103120" cy="411480"/>
          </a:xfrm>
          <a:prstGeom prst="rect">
            <a:avLst/>
          </a:prstGeom>
          <a:noFill/>
          <a:ln/>
        </p:spPr>
        <p:txBody>
          <a:bodyPr wrap="square" lIns="0" tIns="0" rIns="0" bIns="0" rtlCol="0" anchor="t"/>
          <a:lstStyle/>
          <a:p>
            <a:pPr indent="0" marL="0">
              <a:buNone/>
            </a:pPr>
            <a:r>
              <a:rPr lang="en-US" sz="1800" b="1" dirty="0">
                <a:solidFill>
                  <a:schemeClr val="tx1"/>
                </a:solidFill>
              </a:rPr>
              <a:t>Cover letter</a:t>
            </a:r>
            <a:endParaRPr lang="en-US" sz="1800" dirty="0"/>
          </a:p>
        </p:txBody>
      </p:sp>
      <p:sp>
        <p:nvSpPr>
          <p:cNvPr id="38" name="Text 30"/>
          <p:cNvSpPr txBox="1"/>
          <p:nvPr/>
        </p:nvSpPr>
        <p:spPr>
          <a:xfrm>
            <a:off x="3639312" y="5257800"/>
            <a:ext cx="2103120" cy="548640"/>
          </a:xfrm>
          <a:prstGeom prst="rect">
            <a:avLst/>
          </a:prstGeom>
          <a:noFill/>
          <a:ln/>
        </p:spPr>
        <p:txBody>
          <a:bodyPr wrap="square" lIns="0" tIns="0" rIns="0" bIns="0" rtlCol="0" anchor="t"/>
          <a:lstStyle/>
          <a:p>
            <a:pPr indent="0" marL="0">
              <a:buNone/>
            </a:pPr>
            <a:r>
              <a:rPr lang="en-US" sz="1400" dirty="0">
                <a:solidFill>
                  <a:schemeClr val="tx2"/>
                </a:solidFill>
              </a:rPr>
              <a:t>One page, tied to the same job</a:t>
            </a:r>
            <a:endParaRPr lang="en-US" sz="1400" dirty="0"/>
          </a:p>
        </p:txBody>
      </p:sp>
      <p:sp>
        <p:nvSpPr>
          <p:cNvPr id="39" name="objective card 7"/>
          <p:cNvSpPr/>
          <p:nvPr/>
        </p:nvSpPr>
        <p:spPr>
          <a:xfrm>
            <a:off x="6181344" y="3840480"/>
            <a:ext cx="2587752" cy="2103120"/>
          </a:xfrm>
          <a:prstGeom prst="roundRect">
            <a:avLst>
              <a:gd name="adj" fmla="val 5217"/>
            </a:avLst>
          </a:prstGeom>
          <a:solidFill>
            <a:schemeClr val="bg2"/>
          </a:solidFill>
          <a:ln/>
        </p:spPr>
      </p:sp>
      <p:sp>
        <p:nvSpPr>
          <p:cNvPr id="40" name="objective icon 7 circle"/>
          <p:cNvSpPr/>
          <p:nvPr/>
        </p:nvSpPr>
        <p:spPr>
          <a:xfrm>
            <a:off x="6455664" y="4114800"/>
            <a:ext cx="566928" cy="566928"/>
          </a:xfrm>
          <a:prstGeom prst="ellipse">
            <a:avLst/>
          </a:prstGeom>
          <a:solidFill>
            <a:schemeClr val="bg1"/>
          </a:solidFill>
          <a:ln/>
        </p:spPr>
      </p:sp>
      <p:pic>
        <p:nvPicPr>
          <p:cNvPr id="41" name="objective icon 7" descr="objective icon 7">    </p:cNvPr>
          <p:cNvPicPr>
            <a:picLocks noChangeAspect="1"/>
          </p:cNvPicPr>
          <p:nvPr/>
        </p:nvPicPr>
        <p:blipFill>
          <a:blip r:embed="rId7"/>
          <a:stretch>
            <a:fillRect/>
          </a:stretch>
        </p:blipFill>
        <p:spPr>
          <a:xfrm>
            <a:off x="6597396" y="4256532"/>
            <a:ext cx="283464" cy="283464"/>
          </a:xfrm>
          <a:prstGeom prst="rect">
            <a:avLst/>
          </a:prstGeom>
        </p:spPr>
      </p:pic>
      <p:sp>
        <p:nvSpPr>
          <p:cNvPr id="42" name="Text 33"/>
          <p:cNvSpPr txBox="1"/>
          <p:nvPr/>
        </p:nvSpPr>
        <p:spPr>
          <a:xfrm>
            <a:off x="8010144" y="4187952"/>
            <a:ext cx="502920" cy="365760"/>
          </a:xfrm>
          <a:prstGeom prst="rect">
            <a:avLst/>
          </a:prstGeom>
          <a:noFill/>
          <a:ln/>
        </p:spPr>
        <p:txBody>
          <a:bodyPr wrap="square" lIns="0" tIns="0" rIns="0" bIns="0" rtlCol="0" anchor="t"/>
          <a:lstStyle/>
          <a:p>
            <a:pPr algn="r" indent="0" marL="0">
              <a:buNone/>
            </a:pPr>
            <a:r>
              <a:rPr lang="en-US" sz="1400" b="1" dirty="0">
                <a:solidFill>
                  <a:schemeClr val="accent1"/>
                </a:solidFill>
              </a:rPr>
              <a:t>O7</a:t>
            </a:r>
            <a:endParaRPr lang="en-US" sz="1400" dirty="0"/>
          </a:p>
        </p:txBody>
      </p:sp>
      <p:sp>
        <p:nvSpPr>
          <p:cNvPr id="43" name="Text 34"/>
          <p:cNvSpPr txBox="1"/>
          <p:nvPr/>
        </p:nvSpPr>
        <p:spPr>
          <a:xfrm>
            <a:off x="6455664" y="4846320"/>
            <a:ext cx="2103120" cy="411480"/>
          </a:xfrm>
          <a:prstGeom prst="rect">
            <a:avLst/>
          </a:prstGeom>
          <a:noFill/>
          <a:ln/>
        </p:spPr>
        <p:txBody>
          <a:bodyPr wrap="square" lIns="0" tIns="0" rIns="0" bIns="0" rtlCol="0" anchor="t"/>
          <a:lstStyle/>
          <a:p>
            <a:pPr indent="0" marL="0">
              <a:buNone/>
            </a:pPr>
            <a:r>
              <a:rPr lang="en-US" sz="1800" b="1" dirty="0">
                <a:solidFill>
                  <a:schemeClr val="tx1"/>
                </a:solidFill>
              </a:rPr>
              <a:t>Any device</a:t>
            </a:r>
            <a:endParaRPr lang="en-US" sz="1800" dirty="0"/>
          </a:p>
        </p:txBody>
      </p:sp>
      <p:sp>
        <p:nvSpPr>
          <p:cNvPr id="44" name="Text 35"/>
          <p:cNvSpPr txBox="1"/>
          <p:nvPr/>
        </p:nvSpPr>
        <p:spPr>
          <a:xfrm>
            <a:off x="6455664" y="5257800"/>
            <a:ext cx="2103120" cy="548640"/>
          </a:xfrm>
          <a:prstGeom prst="rect">
            <a:avLst/>
          </a:prstGeom>
          <a:noFill/>
          <a:ln/>
        </p:spPr>
        <p:txBody>
          <a:bodyPr wrap="square" lIns="0" tIns="0" rIns="0" bIns="0" rtlCol="0" anchor="t"/>
          <a:lstStyle/>
          <a:p>
            <a:pPr indent="0" marL="0">
              <a:buNone/>
            </a:pPr>
            <a:r>
              <a:rPr lang="en-US" sz="1400" dirty="0">
                <a:solidFill>
                  <a:schemeClr val="tx2"/>
                </a:solidFill>
              </a:rPr>
              <a:t>Responsive, mobile-first UI</a:t>
            </a:r>
            <a:endParaRPr lang="en-US" sz="1400" dirty="0"/>
          </a:p>
        </p:txBody>
      </p:sp>
      <p:sp>
        <p:nvSpPr>
          <p:cNvPr id="45" name="objective card 8"/>
          <p:cNvSpPr/>
          <p:nvPr/>
        </p:nvSpPr>
        <p:spPr>
          <a:xfrm>
            <a:off x="8997696" y="3840480"/>
            <a:ext cx="2587752" cy="2103120"/>
          </a:xfrm>
          <a:prstGeom prst="roundRect">
            <a:avLst>
              <a:gd name="adj" fmla="val 5217"/>
            </a:avLst>
          </a:prstGeom>
          <a:solidFill>
            <a:schemeClr val="bg2"/>
          </a:solidFill>
          <a:ln/>
        </p:spPr>
      </p:sp>
      <p:sp>
        <p:nvSpPr>
          <p:cNvPr id="46" name="objective icon 8 circle"/>
          <p:cNvSpPr/>
          <p:nvPr/>
        </p:nvSpPr>
        <p:spPr>
          <a:xfrm>
            <a:off x="9272016" y="4114800"/>
            <a:ext cx="566928" cy="566928"/>
          </a:xfrm>
          <a:prstGeom prst="ellipse">
            <a:avLst/>
          </a:prstGeom>
          <a:solidFill>
            <a:schemeClr val="bg1"/>
          </a:solidFill>
          <a:ln/>
        </p:spPr>
      </p:sp>
      <p:pic>
        <p:nvPicPr>
          <p:cNvPr id="47" name="objective icon 8" descr="objective icon 8">    </p:cNvPr>
          <p:cNvPicPr>
            <a:picLocks noChangeAspect="1"/>
          </p:cNvPicPr>
          <p:nvPr/>
        </p:nvPicPr>
        <p:blipFill>
          <a:blip r:embed="rId8"/>
          <a:stretch>
            <a:fillRect/>
          </a:stretch>
        </p:blipFill>
        <p:spPr>
          <a:xfrm>
            <a:off x="9413748" y="4256532"/>
            <a:ext cx="283464" cy="283464"/>
          </a:xfrm>
          <a:prstGeom prst="rect">
            <a:avLst/>
          </a:prstGeom>
        </p:spPr>
      </p:pic>
      <p:sp>
        <p:nvSpPr>
          <p:cNvPr id="48" name="Text 38"/>
          <p:cNvSpPr txBox="1"/>
          <p:nvPr/>
        </p:nvSpPr>
        <p:spPr>
          <a:xfrm>
            <a:off x="10826496" y="4187952"/>
            <a:ext cx="502920" cy="365760"/>
          </a:xfrm>
          <a:prstGeom prst="rect">
            <a:avLst/>
          </a:prstGeom>
          <a:noFill/>
          <a:ln/>
        </p:spPr>
        <p:txBody>
          <a:bodyPr wrap="square" lIns="0" tIns="0" rIns="0" bIns="0" rtlCol="0" anchor="t"/>
          <a:lstStyle/>
          <a:p>
            <a:pPr algn="r" indent="0" marL="0">
              <a:buNone/>
            </a:pPr>
            <a:r>
              <a:rPr lang="en-US" sz="1400" b="1" dirty="0">
                <a:solidFill>
                  <a:schemeClr val="accent1"/>
                </a:solidFill>
              </a:rPr>
              <a:t>O8</a:t>
            </a:r>
            <a:endParaRPr lang="en-US" sz="1400" dirty="0"/>
          </a:p>
        </p:txBody>
      </p:sp>
      <p:sp>
        <p:nvSpPr>
          <p:cNvPr id="49" name="Text 39"/>
          <p:cNvSpPr txBox="1"/>
          <p:nvPr/>
        </p:nvSpPr>
        <p:spPr>
          <a:xfrm>
            <a:off x="9272016" y="4846320"/>
            <a:ext cx="2103120" cy="411480"/>
          </a:xfrm>
          <a:prstGeom prst="rect">
            <a:avLst/>
          </a:prstGeom>
          <a:noFill/>
          <a:ln/>
        </p:spPr>
        <p:txBody>
          <a:bodyPr wrap="square" lIns="0" tIns="0" rIns="0" bIns="0" rtlCol="0" anchor="t"/>
          <a:lstStyle/>
          <a:p>
            <a:pPr indent="0" marL="0">
              <a:buNone/>
            </a:pPr>
            <a:r>
              <a:rPr lang="en-US" sz="1800" b="1" dirty="0">
                <a:solidFill>
                  <a:schemeClr val="tx1"/>
                </a:solidFill>
              </a:rPr>
              <a:t>Quality &amp; deployment</a:t>
            </a:r>
            <a:endParaRPr lang="en-US" sz="1800" dirty="0"/>
          </a:p>
        </p:txBody>
      </p:sp>
      <p:sp>
        <p:nvSpPr>
          <p:cNvPr id="50" name="Text 40"/>
          <p:cNvSpPr txBox="1"/>
          <p:nvPr/>
        </p:nvSpPr>
        <p:spPr>
          <a:xfrm>
            <a:off x="9272016" y="5257800"/>
            <a:ext cx="2103120" cy="548640"/>
          </a:xfrm>
          <a:prstGeom prst="rect">
            <a:avLst/>
          </a:prstGeom>
          <a:noFill/>
          <a:ln/>
        </p:spPr>
        <p:txBody>
          <a:bodyPr wrap="square" lIns="0" tIns="0" rIns="0" bIns="0" rtlCol="0" anchor="t"/>
          <a:lstStyle/>
          <a:p>
            <a:pPr indent="0" marL="0">
              <a:buNone/>
            </a:pPr>
            <a:r>
              <a:rPr lang="en-US" sz="1400" dirty="0">
                <a:solidFill>
                  <a:schemeClr val="tx2"/>
                </a:solidFill>
              </a:rPr>
              <a:t>48 tests, CI, live on the web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One flow from upload to cover letter</a:t>
            </a:r>
            <a:endParaRPr lang="en-US" sz="3600" dirty="0"/>
          </a:p>
        </p:txBody>
      </p:sp>
      <p:sp>
        <p:nvSpPr>
          <p:cNvPr id="3" name="feature card 1"/>
          <p:cNvSpPr/>
          <p:nvPr/>
        </p:nvSpPr>
        <p:spPr>
          <a:xfrm>
            <a:off x="548640" y="1417320"/>
            <a:ext cx="2011680" cy="2331720"/>
          </a:xfrm>
          <a:prstGeom prst="roundRect">
            <a:avLst>
              <a:gd name="adj" fmla="val 5455"/>
            </a:avLst>
          </a:prstGeom>
          <a:solidFill>
            <a:schemeClr val="bg2"/>
          </a:solidFill>
          <a:ln/>
        </p:spPr>
      </p:sp>
      <p:sp>
        <p:nvSpPr>
          <p:cNvPr id="4" name="feature icon 1 circle"/>
          <p:cNvSpPr/>
          <p:nvPr/>
        </p:nvSpPr>
        <p:spPr>
          <a:xfrm>
            <a:off x="777240" y="1645920"/>
            <a:ext cx="566928" cy="566928"/>
          </a:xfrm>
          <a:prstGeom prst="ellipse">
            <a:avLst/>
          </a:prstGeom>
          <a:solidFill>
            <a:schemeClr val="bg1"/>
          </a:solidFill>
          <a:ln/>
        </p:spPr>
      </p:sp>
      <p:pic>
        <p:nvPicPr>
          <p:cNvPr id="5" name="feature icon 1" descr="feature icon 1">    </p:cNvPr>
          <p:cNvPicPr>
            <a:picLocks noChangeAspect="1"/>
          </p:cNvPicPr>
          <p:nvPr/>
        </p:nvPicPr>
        <p:blipFill>
          <a:blip r:embed="rId1"/>
          <a:stretch>
            <a:fillRect/>
          </a:stretch>
        </p:blipFill>
        <p:spPr>
          <a:xfrm>
            <a:off x="918972" y="1787652"/>
            <a:ext cx="283464" cy="283464"/>
          </a:xfrm>
          <a:prstGeom prst="rect">
            <a:avLst/>
          </a:prstGeom>
        </p:spPr>
      </p:pic>
      <p:sp>
        <p:nvSpPr>
          <p:cNvPr id="6" name="Text 3"/>
          <p:cNvSpPr txBox="1"/>
          <p:nvPr/>
        </p:nvSpPr>
        <p:spPr>
          <a:xfrm>
            <a:off x="777240" y="2331720"/>
            <a:ext cx="1645920" cy="365760"/>
          </a:xfrm>
          <a:prstGeom prst="rect">
            <a:avLst/>
          </a:prstGeom>
          <a:noFill/>
          <a:ln/>
        </p:spPr>
        <p:txBody>
          <a:bodyPr wrap="square" lIns="0" tIns="0" rIns="0" bIns="0" rtlCol="0" anchor="t"/>
          <a:lstStyle/>
          <a:p>
            <a:pPr indent="0" marL="0">
              <a:buNone/>
            </a:pPr>
            <a:r>
              <a:rPr lang="en-US" sz="1600" b="1" dirty="0">
                <a:solidFill>
                  <a:schemeClr val="tx1"/>
                </a:solidFill>
              </a:rPr>
              <a:t>1. Upload</a:t>
            </a:r>
            <a:endParaRPr lang="en-US" sz="1600" dirty="0"/>
          </a:p>
        </p:txBody>
      </p:sp>
      <p:sp>
        <p:nvSpPr>
          <p:cNvPr id="7" name="Text 4"/>
          <p:cNvSpPr txBox="1"/>
          <p:nvPr/>
        </p:nvSpPr>
        <p:spPr>
          <a:xfrm>
            <a:off x="777240" y="2697480"/>
            <a:ext cx="1645920" cy="1005840"/>
          </a:xfrm>
          <a:prstGeom prst="rect">
            <a:avLst/>
          </a:prstGeom>
          <a:noFill/>
          <a:ln/>
        </p:spPr>
        <p:txBody>
          <a:bodyPr wrap="square" lIns="0" tIns="0" rIns="0" bIns="0" rtlCol="0" anchor="t"/>
          <a:lstStyle/>
          <a:p>
            <a:pPr indent="0" marL="0">
              <a:buNone/>
            </a:pPr>
            <a:r>
              <a:rPr lang="en-US" sz="1400" dirty="0">
                <a:solidFill>
                  <a:schemeClr val="tx2"/>
                </a:solidFill>
              </a:rPr>
              <a:t>PDF + job title and description</a:t>
            </a:r>
            <a:endParaRPr lang="en-US" sz="1400" dirty="0"/>
          </a:p>
        </p:txBody>
      </p:sp>
      <p:sp>
        <p:nvSpPr>
          <p:cNvPr id="8" name="flow arrow 1"/>
          <p:cNvSpPr/>
          <p:nvPr/>
        </p:nvSpPr>
        <p:spPr>
          <a:xfrm>
            <a:off x="2596896" y="2450592"/>
            <a:ext cx="164592" cy="274320"/>
          </a:xfrm>
          <a:prstGeom prst="chevron">
            <a:avLst/>
          </a:prstGeom>
          <a:solidFill>
            <a:schemeClr val="accent3"/>
          </a:solidFill>
          <a:ln/>
        </p:spPr>
      </p:sp>
      <p:sp>
        <p:nvSpPr>
          <p:cNvPr id="9" name="feature card 2"/>
          <p:cNvSpPr/>
          <p:nvPr/>
        </p:nvSpPr>
        <p:spPr>
          <a:xfrm>
            <a:off x="2798064" y="1417320"/>
            <a:ext cx="2011680" cy="2331720"/>
          </a:xfrm>
          <a:prstGeom prst="roundRect">
            <a:avLst>
              <a:gd name="adj" fmla="val 5455"/>
            </a:avLst>
          </a:prstGeom>
          <a:solidFill>
            <a:schemeClr val="bg2"/>
          </a:solidFill>
          <a:ln/>
        </p:spPr>
      </p:sp>
      <p:sp>
        <p:nvSpPr>
          <p:cNvPr id="10" name="feature icon 2 circle"/>
          <p:cNvSpPr/>
          <p:nvPr/>
        </p:nvSpPr>
        <p:spPr>
          <a:xfrm>
            <a:off x="3026664" y="1645920"/>
            <a:ext cx="566928" cy="566928"/>
          </a:xfrm>
          <a:prstGeom prst="ellipse">
            <a:avLst/>
          </a:prstGeom>
          <a:solidFill>
            <a:schemeClr val="bg1"/>
          </a:solidFill>
          <a:ln/>
        </p:spPr>
      </p:sp>
      <p:pic>
        <p:nvPicPr>
          <p:cNvPr id="11" name="feature icon 2" descr="feature icon 2">    </p:cNvPr>
          <p:cNvPicPr>
            <a:picLocks noChangeAspect="1"/>
          </p:cNvPicPr>
          <p:nvPr/>
        </p:nvPicPr>
        <p:blipFill>
          <a:blip r:embed="rId2"/>
          <a:stretch>
            <a:fillRect/>
          </a:stretch>
        </p:blipFill>
        <p:spPr>
          <a:xfrm>
            <a:off x="3168396" y="1787652"/>
            <a:ext cx="283464" cy="283464"/>
          </a:xfrm>
          <a:prstGeom prst="rect">
            <a:avLst/>
          </a:prstGeom>
        </p:spPr>
      </p:pic>
      <p:sp>
        <p:nvSpPr>
          <p:cNvPr id="12" name="Text 8"/>
          <p:cNvSpPr txBox="1"/>
          <p:nvPr/>
        </p:nvSpPr>
        <p:spPr>
          <a:xfrm>
            <a:off x="3026664" y="2331720"/>
            <a:ext cx="1645920" cy="365760"/>
          </a:xfrm>
          <a:prstGeom prst="rect">
            <a:avLst/>
          </a:prstGeom>
          <a:noFill/>
          <a:ln/>
        </p:spPr>
        <p:txBody>
          <a:bodyPr wrap="square" lIns="0" tIns="0" rIns="0" bIns="0" rtlCol="0" anchor="t"/>
          <a:lstStyle/>
          <a:p>
            <a:pPr indent="0" marL="0">
              <a:buNone/>
            </a:pPr>
            <a:r>
              <a:rPr lang="en-US" sz="1600" b="1" dirty="0">
                <a:solidFill>
                  <a:schemeClr val="tx1"/>
                </a:solidFill>
              </a:rPr>
              <a:t>2. Analyse</a:t>
            </a:r>
            <a:endParaRPr lang="en-US" sz="1600" dirty="0"/>
          </a:p>
        </p:txBody>
      </p:sp>
      <p:sp>
        <p:nvSpPr>
          <p:cNvPr id="13" name="Text 9"/>
          <p:cNvSpPr txBox="1"/>
          <p:nvPr/>
        </p:nvSpPr>
        <p:spPr>
          <a:xfrm>
            <a:off x="3026664" y="2697480"/>
            <a:ext cx="1645920" cy="1005840"/>
          </a:xfrm>
          <a:prstGeom prst="rect">
            <a:avLst/>
          </a:prstGeom>
          <a:noFill/>
          <a:ln/>
        </p:spPr>
        <p:txBody>
          <a:bodyPr wrap="square" lIns="0" tIns="0" rIns="0" bIns="0" rtlCol="0" anchor="t"/>
          <a:lstStyle/>
          <a:p>
            <a:pPr indent="0" marL="0">
              <a:buNone/>
            </a:pPr>
            <a:r>
              <a:rPr lang="en-US" sz="1400" dirty="0">
                <a:solidFill>
                  <a:schemeClr val="tx2"/>
                </a:solidFill>
              </a:rPr>
              <a:t>Overall score, ATS, tone, content, structure, skills</a:t>
            </a:r>
            <a:endParaRPr lang="en-US" sz="1400" dirty="0"/>
          </a:p>
        </p:txBody>
      </p:sp>
      <p:sp>
        <p:nvSpPr>
          <p:cNvPr id="14" name="flow arrow 2"/>
          <p:cNvSpPr/>
          <p:nvPr/>
        </p:nvSpPr>
        <p:spPr>
          <a:xfrm>
            <a:off x="4846320" y="2450592"/>
            <a:ext cx="164592" cy="274320"/>
          </a:xfrm>
          <a:prstGeom prst="chevron">
            <a:avLst/>
          </a:prstGeom>
          <a:solidFill>
            <a:schemeClr val="accent3"/>
          </a:solidFill>
          <a:ln/>
        </p:spPr>
      </p:sp>
      <p:sp>
        <p:nvSpPr>
          <p:cNvPr id="15" name="feature card 3"/>
          <p:cNvSpPr/>
          <p:nvPr/>
        </p:nvSpPr>
        <p:spPr>
          <a:xfrm>
            <a:off x="5047488" y="1417320"/>
            <a:ext cx="2011680" cy="2331720"/>
          </a:xfrm>
          <a:prstGeom prst="roundRect">
            <a:avLst>
              <a:gd name="adj" fmla="val 5455"/>
            </a:avLst>
          </a:prstGeom>
          <a:solidFill>
            <a:schemeClr val="bg2"/>
          </a:solidFill>
          <a:ln/>
        </p:spPr>
      </p:sp>
      <p:sp>
        <p:nvSpPr>
          <p:cNvPr id="16" name="feature icon 3 circle"/>
          <p:cNvSpPr/>
          <p:nvPr/>
        </p:nvSpPr>
        <p:spPr>
          <a:xfrm>
            <a:off x="5276088" y="1645920"/>
            <a:ext cx="566928" cy="566928"/>
          </a:xfrm>
          <a:prstGeom prst="ellipse">
            <a:avLst/>
          </a:prstGeom>
          <a:solidFill>
            <a:schemeClr val="bg1"/>
          </a:solidFill>
          <a:ln/>
        </p:spPr>
      </p:sp>
      <p:pic>
        <p:nvPicPr>
          <p:cNvPr id="17" name="feature icon 3" descr="feature icon 3">    </p:cNvPr>
          <p:cNvPicPr>
            <a:picLocks noChangeAspect="1"/>
          </p:cNvPicPr>
          <p:nvPr/>
        </p:nvPicPr>
        <p:blipFill>
          <a:blip r:embed="rId3"/>
          <a:stretch>
            <a:fillRect/>
          </a:stretch>
        </p:blipFill>
        <p:spPr>
          <a:xfrm>
            <a:off x="5417820" y="1787652"/>
            <a:ext cx="283464" cy="283464"/>
          </a:xfrm>
          <a:prstGeom prst="rect">
            <a:avLst/>
          </a:prstGeom>
        </p:spPr>
      </p:pic>
      <p:sp>
        <p:nvSpPr>
          <p:cNvPr id="18" name="Text 13"/>
          <p:cNvSpPr txBox="1"/>
          <p:nvPr/>
        </p:nvSpPr>
        <p:spPr>
          <a:xfrm>
            <a:off x="5276088" y="2331720"/>
            <a:ext cx="1645920" cy="365760"/>
          </a:xfrm>
          <a:prstGeom prst="rect">
            <a:avLst/>
          </a:prstGeom>
          <a:noFill/>
          <a:ln/>
        </p:spPr>
        <p:txBody>
          <a:bodyPr wrap="square" lIns="0" tIns="0" rIns="0" bIns="0" rtlCol="0" anchor="t"/>
          <a:lstStyle/>
          <a:p>
            <a:pPr indent="0" marL="0">
              <a:buNone/>
            </a:pPr>
            <a:r>
              <a:rPr lang="en-US" sz="1600" b="1" dirty="0">
                <a:solidFill>
                  <a:schemeClr val="tx1"/>
                </a:solidFill>
              </a:rPr>
              <a:t>3. Europass CV</a:t>
            </a:r>
            <a:endParaRPr lang="en-US" sz="1600" dirty="0"/>
          </a:p>
        </p:txBody>
      </p:sp>
      <p:sp>
        <p:nvSpPr>
          <p:cNvPr id="19" name="Text 14"/>
          <p:cNvSpPr txBox="1"/>
          <p:nvPr/>
        </p:nvSpPr>
        <p:spPr>
          <a:xfrm>
            <a:off x="5276088" y="2697480"/>
            <a:ext cx="1645920" cy="1005840"/>
          </a:xfrm>
          <a:prstGeom prst="rect">
            <a:avLst/>
          </a:prstGeom>
          <a:noFill/>
          <a:ln/>
        </p:spPr>
        <p:txBody>
          <a:bodyPr wrap="square" lIns="0" tIns="0" rIns="0" bIns="0" rtlCol="0" anchor="t"/>
          <a:lstStyle/>
          <a:p>
            <a:pPr indent="0" marL="0">
              <a:buNone/>
            </a:pPr>
            <a:r>
              <a:rPr lang="en-US" sz="1400" dirty="0">
                <a:solidFill>
                  <a:schemeClr val="tx2"/>
                </a:solidFill>
              </a:rPr>
              <a:t>Rewrite, inline edit, change list, PDF</a:t>
            </a:r>
            <a:endParaRPr lang="en-US" sz="1400" dirty="0"/>
          </a:p>
        </p:txBody>
      </p:sp>
      <p:sp>
        <p:nvSpPr>
          <p:cNvPr id="20" name="flow arrow 3"/>
          <p:cNvSpPr/>
          <p:nvPr/>
        </p:nvSpPr>
        <p:spPr>
          <a:xfrm>
            <a:off x="7095744" y="2450592"/>
            <a:ext cx="164592" cy="274320"/>
          </a:xfrm>
          <a:prstGeom prst="chevron">
            <a:avLst/>
          </a:prstGeom>
          <a:solidFill>
            <a:schemeClr val="accent3"/>
          </a:solidFill>
          <a:ln/>
        </p:spPr>
      </p:sp>
      <p:sp>
        <p:nvSpPr>
          <p:cNvPr id="21" name="feature card 4"/>
          <p:cNvSpPr/>
          <p:nvPr/>
        </p:nvSpPr>
        <p:spPr>
          <a:xfrm>
            <a:off x="7296912" y="1417320"/>
            <a:ext cx="2011680" cy="2331720"/>
          </a:xfrm>
          <a:prstGeom prst="roundRect">
            <a:avLst>
              <a:gd name="adj" fmla="val 5455"/>
            </a:avLst>
          </a:prstGeom>
          <a:solidFill>
            <a:schemeClr val="bg2"/>
          </a:solidFill>
          <a:ln/>
        </p:spPr>
      </p:sp>
      <p:sp>
        <p:nvSpPr>
          <p:cNvPr id="22" name="feature icon 4 circle"/>
          <p:cNvSpPr/>
          <p:nvPr/>
        </p:nvSpPr>
        <p:spPr>
          <a:xfrm>
            <a:off x="7525512" y="1645920"/>
            <a:ext cx="566928" cy="566928"/>
          </a:xfrm>
          <a:prstGeom prst="ellipse">
            <a:avLst/>
          </a:prstGeom>
          <a:solidFill>
            <a:schemeClr val="bg1"/>
          </a:solidFill>
          <a:ln/>
        </p:spPr>
      </p:sp>
      <p:pic>
        <p:nvPicPr>
          <p:cNvPr id="23" name="feature icon 4" descr="feature icon 4">    </p:cNvPr>
          <p:cNvPicPr>
            <a:picLocks noChangeAspect="1"/>
          </p:cNvPicPr>
          <p:nvPr/>
        </p:nvPicPr>
        <p:blipFill>
          <a:blip r:embed="rId4"/>
          <a:stretch>
            <a:fillRect/>
          </a:stretch>
        </p:blipFill>
        <p:spPr>
          <a:xfrm>
            <a:off x="7667244" y="1787652"/>
            <a:ext cx="283464" cy="283464"/>
          </a:xfrm>
          <a:prstGeom prst="rect">
            <a:avLst/>
          </a:prstGeom>
        </p:spPr>
      </p:pic>
      <p:sp>
        <p:nvSpPr>
          <p:cNvPr id="24" name="Text 18"/>
          <p:cNvSpPr txBox="1"/>
          <p:nvPr/>
        </p:nvSpPr>
        <p:spPr>
          <a:xfrm>
            <a:off x="7525512" y="2331720"/>
            <a:ext cx="1645920" cy="365760"/>
          </a:xfrm>
          <a:prstGeom prst="rect">
            <a:avLst/>
          </a:prstGeom>
          <a:noFill/>
          <a:ln/>
        </p:spPr>
        <p:txBody>
          <a:bodyPr wrap="square" lIns="0" tIns="0" rIns="0" bIns="0" rtlCol="0" anchor="t"/>
          <a:lstStyle/>
          <a:p>
            <a:pPr indent="0" marL="0">
              <a:buNone/>
            </a:pPr>
            <a:r>
              <a:rPr lang="en-US" sz="1600" b="1" dirty="0">
                <a:solidFill>
                  <a:schemeClr val="tx1"/>
                </a:solidFill>
              </a:rPr>
              <a:t>4. Before / after</a:t>
            </a:r>
            <a:endParaRPr lang="en-US" sz="1600" dirty="0"/>
          </a:p>
        </p:txBody>
      </p:sp>
      <p:sp>
        <p:nvSpPr>
          <p:cNvPr id="25" name="Text 19"/>
          <p:cNvSpPr txBox="1"/>
          <p:nvPr/>
        </p:nvSpPr>
        <p:spPr>
          <a:xfrm>
            <a:off x="7525512" y="2697480"/>
            <a:ext cx="1645920" cy="1005840"/>
          </a:xfrm>
          <a:prstGeom prst="rect">
            <a:avLst/>
          </a:prstGeom>
          <a:noFill/>
          <a:ln/>
        </p:spPr>
        <p:txBody>
          <a:bodyPr wrap="square" lIns="0" tIns="0" rIns="0" bIns="0" rtlCol="0" anchor="t"/>
          <a:lstStyle/>
          <a:p>
            <a:pPr indent="0" marL="0">
              <a:buNone/>
            </a:pPr>
            <a:r>
              <a:rPr lang="en-US" sz="1400" dirty="0">
                <a:solidFill>
                  <a:schemeClr val="tx2"/>
                </a:solidFill>
              </a:rPr>
              <a:t>Same job, new score, history chart</a:t>
            </a:r>
            <a:endParaRPr lang="en-US" sz="1400" dirty="0"/>
          </a:p>
        </p:txBody>
      </p:sp>
      <p:sp>
        <p:nvSpPr>
          <p:cNvPr id="26" name="flow arrow 4"/>
          <p:cNvSpPr/>
          <p:nvPr/>
        </p:nvSpPr>
        <p:spPr>
          <a:xfrm>
            <a:off x="9345168" y="2450592"/>
            <a:ext cx="164592" cy="274320"/>
          </a:xfrm>
          <a:prstGeom prst="chevron">
            <a:avLst/>
          </a:prstGeom>
          <a:solidFill>
            <a:schemeClr val="accent3"/>
          </a:solidFill>
          <a:ln/>
        </p:spPr>
      </p:sp>
      <p:sp>
        <p:nvSpPr>
          <p:cNvPr id="27" name="feature card 5"/>
          <p:cNvSpPr/>
          <p:nvPr/>
        </p:nvSpPr>
        <p:spPr>
          <a:xfrm>
            <a:off x="9546336" y="1417320"/>
            <a:ext cx="2011680" cy="2331720"/>
          </a:xfrm>
          <a:prstGeom prst="roundRect">
            <a:avLst>
              <a:gd name="adj" fmla="val 5455"/>
            </a:avLst>
          </a:prstGeom>
          <a:solidFill>
            <a:schemeClr val="bg2"/>
          </a:solidFill>
          <a:ln/>
        </p:spPr>
      </p:sp>
      <p:sp>
        <p:nvSpPr>
          <p:cNvPr id="28" name="feature icon 5 circle"/>
          <p:cNvSpPr/>
          <p:nvPr/>
        </p:nvSpPr>
        <p:spPr>
          <a:xfrm>
            <a:off x="9774936" y="1645920"/>
            <a:ext cx="566928" cy="566928"/>
          </a:xfrm>
          <a:prstGeom prst="ellipse">
            <a:avLst/>
          </a:prstGeom>
          <a:solidFill>
            <a:schemeClr val="bg1"/>
          </a:solidFill>
          <a:ln/>
        </p:spPr>
      </p:sp>
      <p:pic>
        <p:nvPicPr>
          <p:cNvPr id="29" name="feature icon 5" descr="feature icon 5">    </p:cNvPr>
          <p:cNvPicPr>
            <a:picLocks noChangeAspect="1"/>
          </p:cNvPicPr>
          <p:nvPr/>
        </p:nvPicPr>
        <p:blipFill>
          <a:blip r:embed="rId5"/>
          <a:stretch>
            <a:fillRect/>
          </a:stretch>
        </p:blipFill>
        <p:spPr>
          <a:xfrm>
            <a:off x="9916668" y="1787652"/>
            <a:ext cx="283464" cy="283464"/>
          </a:xfrm>
          <a:prstGeom prst="rect">
            <a:avLst/>
          </a:prstGeom>
        </p:spPr>
      </p:pic>
      <p:sp>
        <p:nvSpPr>
          <p:cNvPr id="30" name="Text 23"/>
          <p:cNvSpPr txBox="1"/>
          <p:nvPr/>
        </p:nvSpPr>
        <p:spPr>
          <a:xfrm>
            <a:off x="9774936" y="2331720"/>
            <a:ext cx="1645920" cy="365760"/>
          </a:xfrm>
          <a:prstGeom prst="rect">
            <a:avLst/>
          </a:prstGeom>
          <a:noFill/>
          <a:ln/>
        </p:spPr>
        <p:txBody>
          <a:bodyPr wrap="square" lIns="0" tIns="0" rIns="0" bIns="0" rtlCol="0" anchor="t"/>
          <a:lstStyle/>
          <a:p>
            <a:pPr indent="0" marL="0">
              <a:buNone/>
            </a:pPr>
            <a:r>
              <a:rPr lang="en-US" sz="1600" b="1" dirty="0">
                <a:solidFill>
                  <a:schemeClr val="tx1"/>
                </a:solidFill>
              </a:rPr>
              <a:t>5. Cover letter</a:t>
            </a:r>
            <a:endParaRPr lang="en-US" sz="1600" dirty="0"/>
          </a:p>
        </p:txBody>
      </p:sp>
      <p:sp>
        <p:nvSpPr>
          <p:cNvPr id="31" name="Text 24"/>
          <p:cNvSpPr txBox="1"/>
          <p:nvPr/>
        </p:nvSpPr>
        <p:spPr>
          <a:xfrm>
            <a:off x="9774936" y="2697480"/>
            <a:ext cx="1645920" cy="1005840"/>
          </a:xfrm>
          <a:prstGeom prst="rect">
            <a:avLst/>
          </a:prstGeom>
          <a:noFill/>
          <a:ln/>
        </p:spPr>
        <p:txBody>
          <a:bodyPr wrap="square" lIns="0" tIns="0" rIns="0" bIns="0" rtlCol="0" anchor="t"/>
          <a:lstStyle/>
          <a:p>
            <a:pPr indent="0" marL="0">
              <a:buNone/>
            </a:pPr>
            <a:r>
              <a:rPr lang="en-US" sz="1400" dirty="0">
                <a:solidFill>
                  <a:schemeClr val="tx2"/>
                </a:solidFill>
              </a:rPr>
              <a:t>Formal or modern, editable, PDF</a:t>
            </a:r>
            <a:endParaRPr lang="en-US" sz="1400" dirty="0"/>
          </a:p>
        </p:txBody>
      </p:sp>
      <p:pic>
        <p:nvPicPr>
          <p:cNvPr id="32" name="result page screenshot" descr="result page screenshot">    </p:cNvPr>
          <p:cNvPicPr>
            <a:picLocks noChangeAspect="1"/>
          </p:cNvPicPr>
          <p:nvPr/>
        </p:nvPicPr>
        <p:blipFill>
          <a:blip r:embed="rId6"/>
          <a:stretch>
            <a:fillRect/>
          </a:stretch>
        </p:blipFill>
        <p:spPr>
          <a:xfrm>
            <a:off x="1737360" y="3977640"/>
            <a:ext cx="3657600" cy="2286000"/>
          </a:xfrm>
          <a:prstGeom prst="rect">
            <a:avLst/>
          </a:prstGeom>
          <a:effectLst>
            <a:outerShdw sx="100000" sy="100000" kx="0" ky="0" algn="bl" rotWithShape="0" blurRad="152400" dist="38100" dir="5400000">
              <a:srgbClr val="14123A">
                <a:alpha val="18000"/>
              </a:srgbClr>
            </a:outerShdw>
          </a:effectLst>
        </p:spPr>
      </p:pic>
      <p:sp>
        <p:nvSpPr>
          <p:cNvPr id="33" name="Text 25"/>
          <p:cNvSpPr txBox="1"/>
          <p:nvPr/>
        </p:nvSpPr>
        <p:spPr>
          <a:xfrm>
            <a:off x="6949440" y="4069080"/>
            <a:ext cx="4663440" cy="210312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Also included</a:t>
            </a:r>
            <a:endParaRPr lang="en-US" sz="1500" dirty="0"/>
          </a:p>
          <a:p>
            <a:pPr marL="342900" indent="-342900">
              <a:spcAft>
                <a:spcPts val="600"/>
              </a:spcAft>
              <a:buSzPct val="100000"/>
              <a:buChar char="•"/>
            </a:pPr>
            <a:r>
              <a:rPr lang="en-US" sz="1500" dirty="0">
                <a:solidFill>
                  <a:schemeClr val="tx2"/>
                </a:solidFill>
              </a:rPr>
              <a:t>History dashboard and printable report</a:t>
            </a:r>
            <a:endParaRPr lang="en-US" sz="1500" dirty="0"/>
          </a:p>
          <a:p>
            <a:pPr marL="342900" indent="-342900">
              <a:spcAft>
                <a:spcPts val="600"/>
              </a:spcAft>
              <a:buSzPct val="100000"/>
              <a:buChar char="•"/>
            </a:pPr>
            <a:r>
              <a:rPr lang="en-US" sz="1500" dirty="0">
                <a:solidFill>
                  <a:schemeClr val="tx2"/>
                </a:solidFill>
              </a:rPr>
              <a:t>Email/password and Google Sign-In</a:t>
            </a:r>
            <a:endParaRPr lang="en-US" sz="1500" dirty="0"/>
          </a:p>
          <a:p>
            <a:pPr marL="342900" indent="-342900">
              <a:spcAft>
                <a:spcPts val="600"/>
              </a:spcAft>
              <a:buSzPct val="100000"/>
              <a:buChar char="•"/>
            </a:pPr>
            <a:r>
              <a:rPr lang="en-US" sz="1500" dirty="0">
                <a:solidFill>
                  <a:schemeClr val="tx2"/>
                </a:solidFill>
              </a:rPr>
              <a:t>Change password, delete account</a:t>
            </a:r>
            <a:endParaRPr lang="en-US" sz="1500" dirty="0"/>
          </a:p>
          <a:p>
            <a:pPr marL="342900" indent="-342900">
              <a:spcAft>
                <a:spcPts val="600"/>
              </a:spcAft>
              <a:buSzPct val="100000"/>
              <a:buChar char="•"/>
            </a:pPr>
            <a:r>
              <a:rPr lang="en-US" sz="1500" dirty="0">
                <a:solidFill>
                  <a:schemeClr val="tx2"/>
                </a:solidFill>
              </a:rPr>
              <a:t>Phone, tablet and desktop layouts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Architecture: three tiers, secrets only on the server</a:t>
            </a:r>
            <a:endParaRPr lang="en-US" sz="3600" dirty="0"/>
          </a:p>
        </p:txBody>
      </p:sp>
      <p:pic>
        <p:nvPicPr>
          <p:cNvPr id="3" name="architecture diagram" descr="architecture diagram">    </p:cNvPr>
          <p:cNvPicPr>
            <a:picLocks noChangeAspect="1"/>
          </p:cNvPicPr>
          <p:nvPr/>
        </p:nvPicPr>
        <p:blipFill>
          <a:blip r:embed="rId1"/>
          <a:stretch>
            <a:fillRect/>
          </a:stretch>
        </p:blipFill>
        <p:spPr>
          <a:xfrm>
            <a:off x="843185" y="1234440"/>
            <a:ext cx="10475150" cy="3931920"/>
          </a:xfrm>
          <a:prstGeom prst="rect">
            <a:avLst/>
          </a:prstGeom>
        </p:spPr>
      </p:pic>
      <p:sp>
        <p:nvSpPr>
          <p:cNvPr id="4" name="tier card 1"/>
          <p:cNvSpPr/>
          <p:nvPr/>
        </p:nvSpPr>
        <p:spPr>
          <a:xfrm>
            <a:off x="548640" y="5303520"/>
            <a:ext cx="3520440" cy="914400"/>
          </a:xfrm>
          <a:prstGeom prst="roundRect">
            <a:avLst>
              <a:gd name="adj" fmla="val 12000"/>
            </a:avLst>
          </a:prstGeom>
          <a:solidFill>
            <a:schemeClr val="bg2"/>
          </a:solidFill>
          <a:ln/>
        </p:spPr>
      </p:sp>
      <p:sp>
        <p:nvSpPr>
          <p:cNvPr id="5" name="Text 2"/>
          <p:cNvSpPr txBox="1"/>
          <p:nvPr/>
        </p:nvSpPr>
        <p:spPr>
          <a:xfrm>
            <a:off x="731520" y="5376672"/>
            <a:ext cx="3200400" cy="777240"/>
          </a:xfrm>
          <a:prstGeom prst="rect">
            <a:avLst/>
          </a:prstGeom>
          <a:noFill/>
          <a:ln/>
        </p:spPr>
        <p:txBody>
          <a:bodyPr wrap="square" lIns="0" tIns="0" rIns="0" bIns="0" rtlCol="0" anchor="t"/>
          <a:lstStyle/>
          <a:p>
            <a:pPr indent="0" marL="0">
              <a:buNone/>
            </a:pPr>
            <a:r>
              <a:rPr lang="en-US" sz="1300" b="1" dirty="0">
                <a:solidFill>
                  <a:schemeClr val="accent1"/>
                </a:solidFill>
              </a:rPr>
              <a:t>Frontend · Vercel</a:t>
            </a:r>
            <a:endParaRPr lang="en-US" sz="1300" dirty="0"/>
          </a:p>
          <a:p>
            <a:pPr indent="0" marL="0">
              <a:buNone/>
            </a:pPr>
            <a:r>
              <a:rPr lang="en-US" sz="1300" dirty="0">
                <a:solidFill>
                  <a:schemeClr val="tx2"/>
                </a:solidFill>
              </a:rPr>
              <a:t>React 19, React Router 8, Tailwind CSS 4, Zustand, pdf.js</a:t>
            </a:r>
            <a:endParaRPr lang="en-US" sz="1300" dirty="0"/>
          </a:p>
        </p:txBody>
      </p:sp>
      <p:sp>
        <p:nvSpPr>
          <p:cNvPr id="6" name="tier card 2"/>
          <p:cNvSpPr/>
          <p:nvPr/>
        </p:nvSpPr>
        <p:spPr>
          <a:xfrm>
            <a:off x="4297680" y="5303520"/>
            <a:ext cx="3520440" cy="914400"/>
          </a:xfrm>
          <a:prstGeom prst="roundRect">
            <a:avLst>
              <a:gd name="adj" fmla="val 12000"/>
            </a:avLst>
          </a:prstGeom>
          <a:solidFill>
            <a:schemeClr val="bg2"/>
          </a:solidFill>
          <a:ln/>
        </p:spPr>
      </p:sp>
      <p:sp>
        <p:nvSpPr>
          <p:cNvPr id="7" name="Text 4"/>
          <p:cNvSpPr txBox="1"/>
          <p:nvPr/>
        </p:nvSpPr>
        <p:spPr>
          <a:xfrm>
            <a:off x="4480560" y="5376672"/>
            <a:ext cx="3200400" cy="777240"/>
          </a:xfrm>
          <a:prstGeom prst="rect">
            <a:avLst/>
          </a:prstGeom>
          <a:noFill/>
          <a:ln/>
        </p:spPr>
        <p:txBody>
          <a:bodyPr wrap="square" lIns="0" tIns="0" rIns="0" bIns="0" rtlCol="0" anchor="t"/>
          <a:lstStyle/>
          <a:p>
            <a:pPr indent="0" marL="0">
              <a:buNone/>
            </a:pPr>
            <a:r>
              <a:rPr lang="en-US" sz="1300" b="1" dirty="0">
                <a:solidFill>
                  <a:schemeClr val="accent1"/>
                </a:solidFill>
              </a:rPr>
              <a:t>Backend · Render</a:t>
            </a:r>
            <a:endParaRPr lang="en-US" sz="1300" dirty="0"/>
          </a:p>
          <a:p>
            <a:pPr indent="0" marL="0">
              <a:buNone/>
            </a:pPr>
            <a:r>
              <a:rPr lang="en-US" sz="1300" dirty="0">
                <a:solidFill>
                  <a:schemeClr val="tx2"/>
                </a:solidFill>
              </a:rPr>
              <a:t>Node.js, Express 5, Multer, pdf-parse, helmet, express-validator</a:t>
            </a:r>
            <a:endParaRPr lang="en-US" sz="1300" dirty="0"/>
          </a:p>
        </p:txBody>
      </p:sp>
      <p:sp>
        <p:nvSpPr>
          <p:cNvPr id="8" name="tier card 3"/>
          <p:cNvSpPr/>
          <p:nvPr/>
        </p:nvSpPr>
        <p:spPr>
          <a:xfrm>
            <a:off x="8046720" y="5303520"/>
            <a:ext cx="3520440" cy="914400"/>
          </a:xfrm>
          <a:prstGeom prst="roundRect">
            <a:avLst>
              <a:gd name="adj" fmla="val 12000"/>
            </a:avLst>
          </a:prstGeom>
          <a:solidFill>
            <a:schemeClr val="bg2"/>
          </a:solidFill>
          <a:ln/>
        </p:spPr>
      </p:sp>
      <p:sp>
        <p:nvSpPr>
          <p:cNvPr id="9" name="Text 6"/>
          <p:cNvSpPr txBox="1"/>
          <p:nvPr/>
        </p:nvSpPr>
        <p:spPr>
          <a:xfrm>
            <a:off x="8229600" y="5376672"/>
            <a:ext cx="3200400" cy="777240"/>
          </a:xfrm>
          <a:prstGeom prst="rect">
            <a:avLst/>
          </a:prstGeom>
          <a:noFill/>
          <a:ln/>
        </p:spPr>
        <p:txBody>
          <a:bodyPr wrap="square" lIns="0" tIns="0" rIns="0" bIns="0" rtlCol="0" anchor="t"/>
          <a:lstStyle/>
          <a:p>
            <a:pPr indent="0" marL="0">
              <a:buNone/>
            </a:pPr>
            <a:r>
              <a:rPr lang="en-US" sz="1300" b="1" dirty="0">
                <a:solidFill>
                  <a:schemeClr val="accent1"/>
                </a:solidFill>
              </a:rPr>
              <a:t>Data &amp; AI</a:t>
            </a:r>
            <a:endParaRPr lang="en-US" sz="1300" dirty="0"/>
          </a:p>
          <a:p>
            <a:pPr indent="0" marL="0">
              <a:buNone/>
            </a:pPr>
            <a:r>
              <a:rPr lang="en-US" sz="1300" dirty="0">
                <a:solidFill>
                  <a:schemeClr val="tx2"/>
                </a:solidFill>
              </a:rPr>
              <a:t>MongoDB Atlas + GridFS, Google Gemini, Google Identity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Database design</a:t>
            </a:r>
            <a:endParaRPr lang="en-US" sz="3600" dirty="0"/>
          </a:p>
        </p:txBody>
      </p:sp>
      <p:pic>
        <p:nvPicPr>
          <p:cNvPr id="3" name="entity relationship diagram" descr="entity relationship diagram">    </p:cNvPr>
          <p:cNvPicPr>
            <a:picLocks noChangeAspect="1"/>
          </p:cNvPicPr>
          <p:nvPr/>
        </p:nvPicPr>
        <p:blipFill>
          <a:blip r:embed="rId1"/>
          <a:stretch>
            <a:fillRect/>
          </a:stretch>
        </p:blipFill>
        <p:spPr>
          <a:xfrm>
            <a:off x="548640" y="1698009"/>
            <a:ext cx="6949440" cy="4010622"/>
          </a:xfrm>
          <a:prstGeom prst="rect">
            <a:avLst/>
          </a:prstGeom>
        </p:spPr>
      </p:pic>
      <p:sp>
        <p:nvSpPr>
          <p:cNvPr id="4" name="Text 1"/>
          <p:cNvSpPr txBox="1"/>
          <p:nvPr/>
        </p:nvSpPr>
        <p:spPr>
          <a:xfrm>
            <a:off x="7863840" y="1325880"/>
            <a:ext cx="3749040" cy="777240"/>
          </a:xfrm>
          <a:prstGeom prst="rect">
            <a:avLst/>
          </a:prstGeom>
          <a:noFill/>
          <a:ln/>
        </p:spPr>
        <p:txBody>
          <a:bodyPr wrap="square" lIns="0" tIns="0" rIns="0" bIns="0" rtlCol="0" anchor="t"/>
          <a:lstStyle/>
          <a:p>
            <a:pPr indent="0" marL="0">
              <a:buNone/>
            </a:pPr>
            <a:r>
              <a:rPr lang="en-US" sz="1500" b="1" dirty="0">
                <a:solidFill>
                  <a:schemeClr val="accent1"/>
                </a:solidFill>
              </a:rPr>
              <a:t>users 1–N resumes 1–N analyses 1–0..1 improvedresumes 1–0..1 coverletters</a:t>
            </a:r>
            <a:endParaRPr lang="en-US" sz="1500" dirty="0"/>
          </a:p>
        </p:txBody>
      </p:sp>
      <p:sp>
        <p:nvSpPr>
          <p:cNvPr id="5" name="Text 2"/>
          <p:cNvSpPr txBox="1"/>
          <p:nvPr/>
        </p:nvSpPr>
        <p:spPr>
          <a:xfrm>
            <a:off x="7863840" y="2240280"/>
            <a:ext cx="3749040" cy="38404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userId on every document — queries are always filtered by owner</a:t>
            </a:r>
            <a:endParaRPr lang="en-US" sz="1500" dirty="0"/>
          </a:p>
          <a:p>
            <a:pPr marL="342900" indent="-342900">
              <a:spcAft>
                <a:spcPts val="1000"/>
              </a:spcAft>
              <a:buSzPct val="100000"/>
              <a:buChar char="•"/>
            </a:pPr>
            <a:r>
              <a:rPr lang="en-US" sz="1500" dirty="0">
                <a:solidFill>
                  <a:schemeClr val="tx2"/>
                </a:solidFill>
              </a:rPr>
              <a:t>Unique indexes: one CV per analysis, one letter per CV</a:t>
            </a:r>
            <a:endParaRPr lang="en-US" sz="1500" dirty="0"/>
          </a:p>
          <a:p>
            <a:pPr marL="342900" indent="-342900">
              <a:spcAft>
                <a:spcPts val="1000"/>
              </a:spcAft>
              <a:buSzPct val="100000"/>
              <a:buChar char="•"/>
            </a:pPr>
            <a:r>
              <a:rPr lang="en-US" sz="1500" dirty="0">
                <a:solidFill>
                  <a:schemeClr val="tx2"/>
                </a:solidFill>
              </a:rPr>
              <a:t>Cascade delete for resume and account</a:t>
            </a:r>
            <a:endParaRPr lang="en-US" sz="1500" dirty="0"/>
          </a:p>
          <a:p>
            <a:pPr marL="342900" indent="-342900">
              <a:spcAft>
                <a:spcPts val="1000"/>
              </a:spcAft>
              <a:buSzPct val="100000"/>
              <a:buChar char="•"/>
            </a:pPr>
            <a:r>
              <a:rPr lang="en-US" sz="1500" dirty="0">
                <a:solidFill>
                  <a:schemeClr val="tx2"/>
                </a:solidFill>
              </a:rPr>
              <a:t>AI version and user edits stored side by side</a:t>
            </a:r>
            <a:endParaRPr lang="en-US" sz="1500" dirty="0"/>
          </a:p>
          <a:p>
            <a:pPr marL="342900" indent="-342900">
              <a:spcAft>
                <a:spcPts val="1000"/>
              </a:spcAft>
              <a:buSzPct val="100000"/>
              <a:buChar char="•"/>
            </a:pPr>
            <a:r>
              <a:rPr lang="en-US" sz="1500" dirty="0">
                <a:solidFill>
                  <a:schemeClr val="tx2"/>
                </a:solidFill>
              </a:rPr>
              <a:t>PDFs and previews in GridFS — safe across redeploys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AI workflow</a:t>
            </a:r>
            <a:endParaRPr lang="en-US" sz="3600" dirty="0"/>
          </a:p>
        </p:txBody>
      </p:sp>
      <p:sp>
        <p:nvSpPr>
          <p:cNvPr id="3" name="pipeline step 1"/>
          <p:cNvSpPr/>
          <p:nvPr/>
        </p:nvSpPr>
        <p:spPr>
          <a:xfrm>
            <a:off x="548640" y="1417320"/>
            <a:ext cx="1691640" cy="2103120"/>
          </a:xfrm>
          <a:prstGeom prst="roundRect">
            <a:avLst>
              <a:gd name="adj" fmla="val 6486"/>
            </a:avLst>
          </a:prstGeom>
          <a:solidFill>
            <a:schemeClr val="bg2"/>
          </a:solidFill>
          <a:ln/>
        </p:spPr>
      </p:sp>
      <p:sp>
        <p:nvSpPr>
          <p:cNvPr id="4" name="pipeline icon 1 circle"/>
          <p:cNvSpPr/>
          <p:nvPr/>
        </p:nvSpPr>
        <p:spPr>
          <a:xfrm>
            <a:off x="1097280" y="1600200"/>
            <a:ext cx="566928" cy="566928"/>
          </a:xfrm>
          <a:prstGeom prst="ellipse">
            <a:avLst/>
          </a:prstGeom>
          <a:solidFill>
            <a:schemeClr val="bg1"/>
          </a:solidFill>
          <a:ln/>
        </p:spPr>
      </p:sp>
      <p:pic>
        <p:nvPicPr>
          <p:cNvPr id="5" name="pipeline icon 1" descr="pipeline icon 1">    </p:cNvPr>
          <p:cNvPicPr>
            <a:picLocks noChangeAspect="1"/>
          </p:cNvPicPr>
          <p:nvPr/>
        </p:nvPicPr>
        <p:blipFill>
          <a:blip r:embed="rId1"/>
          <a:stretch>
            <a:fillRect/>
          </a:stretch>
        </p:blipFill>
        <p:spPr>
          <a:xfrm>
            <a:off x="1239012" y="1741932"/>
            <a:ext cx="283464" cy="283464"/>
          </a:xfrm>
          <a:prstGeom prst="rect">
            <a:avLst/>
          </a:prstGeom>
        </p:spPr>
      </p:pic>
      <p:sp>
        <p:nvSpPr>
          <p:cNvPr id="6" name="Text 3"/>
          <p:cNvSpPr txBox="1"/>
          <p:nvPr/>
        </p:nvSpPr>
        <p:spPr>
          <a:xfrm>
            <a:off x="640080" y="228600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rPr>
              <a:t>pdf-parse</a:t>
            </a:r>
            <a:endParaRPr lang="en-US" sz="1600" dirty="0"/>
          </a:p>
        </p:txBody>
      </p:sp>
      <p:sp>
        <p:nvSpPr>
          <p:cNvPr id="7" name="Text 4"/>
          <p:cNvSpPr txBox="1"/>
          <p:nvPr/>
        </p:nvSpPr>
        <p:spPr>
          <a:xfrm>
            <a:off x="640080" y="2651760"/>
            <a:ext cx="1508760" cy="777240"/>
          </a:xfrm>
          <a:prstGeom prst="rect">
            <a:avLst/>
          </a:prstGeom>
          <a:noFill/>
          <a:ln/>
        </p:spPr>
        <p:txBody>
          <a:bodyPr wrap="square" lIns="0" tIns="0" rIns="0" bIns="0" rtlCol="0" anchor="t"/>
          <a:lstStyle/>
          <a:p>
            <a:pPr algn="ctr" indent="0" marL="0">
              <a:buNone/>
            </a:pPr>
            <a:r>
              <a:rPr lang="en-US" sz="1300" dirty="0">
                <a:solidFill>
                  <a:schemeClr val="tx1"/>
                </a:solidFill>
              </a:rPr>
              <a:t>Extract text (422 if scanned)</a:t>
            </a:r>
            <a:endParaRPr lang="en-US" sz="1300" dirty="0"/>
          </a:p>
        </p:txBody>
      </p:sp>
      <p:sp>
        <p:nvSpPr>
          <p:cNvPr id="8" name="pipeline step 2"/>
          <p:cNvSpPr/>
          <p:nvPr/>
        </p:nvSpPr>
        <p:spPr>
          <a:xfrm>
            <a:off x="2423160" y="1417320"/>
            <a:ext cx="1691640" cy="2103120"/>
          </a:xfrm>
          <a:prstGeom prst="roundRect">
            <a:avLst>
              <a:gd name="adj" fmla="val 6486"/>
            </a:avLst>
          </a:prstGeom>
          <a:solidFill>
            <a:schemeClr val="bg2"/>
          </a:solidFill>
          <a:ln/>
        </p:spPr>
      </p:sp>
      <p:sp>
        <p:nvSpPr>
          <p:cNvPr id="9" name="pipeline icon 2 circle"/>
          <p:cNvSpPr/>
          <p:nvPr/>
        </p:nvSpPr>
        <p:spPr>
          <a:xfrm>
            <a:off x="2971800" y="1600200"/>
            <a:ext cx="566928" cy="566928"/>
          </a:xfrm>
          <a:prstGeom prst="ellipse">
            <a:avLst/>
          </a:prstGeom>
          <a:solidFill>
            <a:schemeClr val="bg1"/>
          </a:solidFill>
          <a:ln/>
        </p:spPr>
      </p:sp>
      <p:pic>
        <p:nvPicPr>
          <p:cNvPr id="10" name="pipeline icon 2" descr="pipeline icon 2">    </p:cNvPr>
          <p:cNvPicPr>
            <a:picLocks noChangeAspect="1"/>
          </p:cNvPicPr>
          <p:nvPr/>
        </p:nvPicPr>
        <p:blipFill>
          <a:blip r:embed="rId2"/>
          <a:stretch>
            <a:fillRect/>
          </a:stretch>
        </p:blipFill>
        <p:spPr>
          <a:xfrm>
            <a:off x="3113532" y="1741932"/>
            <a:ext cx="283464" cy="283464"/>
          </a:xfrm>
          <a:prstGeom prst="rect">
            <a:avLst/>
          </a:prstGeom>
        </p:spPr>
      </p:pic>
      <p:sp>
        <p:nvSpPr>
          <p:cNvPr id="11" name="Text 7"/>
          <p:cNvSpPr txBox="1"/>
          <p:nvPr/>
        </p:nvSpPr>
        <p:spPr>
          <a:xfrm>
            <a:off x="2514600" y="228600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rPr>
              <a:t>Prompt</a:t>
            </a:r>
            <a:endParaRPr lang="en-US" sz="1600" dirty="0"/>
          </a:p>
        </p:txBody>
      </p:sp>
      <p:sp>
        <p:nvSpPr>
          <p:cNvPr id="12" name="Text 8"/>
          <p:cNvSpPr txBox="1"/>
          <p:nvPr/>
        </p:nvSpPr>
        <p:spPr>
          <a:xfrm>
            <a:off x="2514600" y="2651760"/>
            <a:ext cx="1508760" cy="777240"/>
          </a:xfrm>
          <a:prstGeom prst="rect">
            <a:avLst/>
          </a:prstGeom>
          <a:noFill/>
          <a:ln/>
        </p:spPr>
        <p:txBody>
          <a:bodyPr wrap="square" lIns="0" tIns="0" rIns="0" bIns="0" rtlCol="0" anchor="t"/>
          <a:lstStyle/>
          <a:p>
            <a:pPr algn="ctr" indent="0" marL="0">
              <a:buNone/>
            </a:pPr>
            <a:r>
              <a:rPr lang="en-US" sz="1300" dirty="0">
                <a:solidFill>
                  <a:schemeClr val="tx1"/>
                </a:solidFill>
              </a:rPr>
              <a:t>Resume + job + rules</a:t>
            </a:r>
            <a:endParaRPr lang="en-US" sz="1300" dirty="0"/>
          </a:p>
        </p:txBody>
      </p:sp>
      <p:sp>
        <p:nvSpPr>
          <p:cNvPr id="13" name="pipeline step 3"/>
          <p:cNvSpPr/>
          <p:nvPr/>
        </p:nvSpPr>
        <p:spPr>
          <a:xfrm>
            <a:off x="4297680" y="1417320"/>
            <a:ext cx="1691640" cy="2103120"/>
          </a:xfrm>
          <a:prstGeom prst="roundRect">
            <a:avLst>
              <a:gd name="adj" fmla="val 6486"/>
            </a:avLst>
          </a:prstGeom>
          <a:solidFill>
            <a:schemeClr val="accent2"/>
          </a:solidFill>
          <a:ln/>
        </p:spPr>
      </p:sp>
      <p:sp>
        <p:nvSpPr>
          <p:cNvPr id="14" name="pipeline icon 3 circle"/>
          <p:cNvSpPr/>
          <p:nvPr/>
        </p:nvSpPr>
        <p:spPr>
          <a:xfrm>
            <a:off x="4846320" y="1600200"/>
            <a:ext cx="566928" cy="566928"/>
          </a:xfrm>
          <a:prstGeom prst="ellipse">
            <a:avLst/>
          </a:prstGeom>
          <a:solidFill>
            <a:schemeClr val="bg1"/>
          </a:solidFill>
          <a:ln/>
        </p:spPr>
      </p:sp>
      <p:pic>
        <p:nvPicPr>
          <p:cNvPr id="15" name="pipeline icon 3" descr="pipeline icon 3">    </p:cNvPr>
          <p:cNvPicPr>
            <a:picLocks noChangeAspect="1"/>
          </p:cNvPicPr>
          <p:nvPr/>
        </p:nvPicPr>
        <p:blipFill>
          <a:blip r:embed="rId3"/>
          <a:stretch>
            <a:fillRect/>
          </a:stretch>
        </p:blipFill>
        <p:spPr>
          <a:xfrm>
            <a:off x="4988052" y="1741932"/>
            <a:ext cx="283464" cy="283464"/>
          </a:xfrm>
          <a:prstGeom prst="rect">
            <a:avLst/>
          </a:prstGeom>
        </p:spPr>
      </p:pic>
      <p:sp>
        <p:nvSpPr>
          <p:cNvPr id="16" name="Text 11"/>
          <p:cNvSpPr txBox="1"/>
          <p:nvPr/>
        </p:nvSpPr>
        <p:spPr>
          <a:xfrm>
            <a:off x="4389120" y="228600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rPr>
              <a:t>Gemini</a:t>
            </a:r>
            <a:endParaRPr lang="en-US" sz="1600" dirty="0"/>
          </a:p>
        </p:txBody>
      </p:sp>
      <p:sp>
        <p:nvSpPr>
          <p:cNvPr id="17" name="Text 12"/>
          <p:cNvSpPr txBox="1"/>
          <p:nvPr/>
        </p:nvSpPr>
        <p:spPr>
          <a:xfrm>
            <a:off x="4389120" y="2651760"/>
            <a:ext cx="1508760" cy="777240"/>
          </a:xfrm>
          <a:prstGeom prst="rect">
            <a:avLst/>
          </a:prstGeom>
          <a:noFill/>
          <a:ln/>
        </p:spPr>
        <p:txBody>
          <a:bodyPr wrap="square" lIns="0" tIns="0" rIns="0" bIns="0" rtlCol="0" anchor="t"/>
          <a:lstStyle/>
          <a:p>
            <a:pPr algn="ctr" indent="0" marL="0">
              <a:buNone/>
            </a:pPr>
            <a:r>
              <a:rPr lang="en-US" sz="1300" dirty="0">
                <a:solidFill>
                  <a:schemeClr val="tx1"/>
                </a:solidFill>
              </a:rPr>
              <a:t>JSON mode + schema</a:t>
            </a:r>
            <a:endParaRPr lang="en-US" sz="1300" dirty="0"/>
          </a:p>
        </p:txBody>
      </p:sp>
      <p:sp>
        <p:nvSpPr>
          <p:cNvPr id="18" name="pipeline step 4"/>
          <p:cNvSpPr/>
          <p:nvPr/>
        </p:nvSpPr>
        <p:spPr>
          <a:xfrm>
            <a:off x="6172200" y="1417320"/>
            <a:ext cx="1691640" cy="2103120"/>
          </a:xfrm>
          <a:prstGeom prst="roundRect">
            <a:avLst>
              <a:gd name="adj" fmla="val 6486"/>
            </a:avLst>
          </a:prstGeom>
          <a:solidFill>
            <a:schemeClr val="bg2"/>
          </a:solidFill>
          <a:ln/>
        </p:spPr>
      </p:sp>
      <p:sp>
        <p:nvSpPr>
          <p:cNvPr id="19" name="pipeline icon 4 circle"/>
          <p:cNvSpPr/>
          <p:nvPr/>
        </p:nvSpPr>
        <p:spPr>
          <a:xfrm>
            <a:off x="6720840" y="1600200"/>
            <a:ext cx="566928" cy="566928"/>
          </a:xfrm>
          <a:prstGeom prst="ellipse">
            <a:avLst/>
          </a:prstGeom>
          <a:solidFill>
            <a:schemeClr val="bg1"/>
          </a:solidFill>
          <a:ln/>
        </p:spPr>
      </p:sp>
      <p:pic>
        <p:nvPicPr>
          <p:cNvPr id="20" name="pipeline icon 4" descr="pipeline icon 4">    </p:cNvPr>
          <p:cNvPicPr>
            <a:picLocks noChangeAspect="1"/>
          </p:cNvPicPr>
          <p:nvPr/>
        </p:nvPicPr>
        <p:blipFill>
          <a:blip r:embed="rId4"/>
          <a:stretch>
            <a:fillRect/>
          </a:stretch>
        </p:blipFill>
        <p:spPr>
          <a:xfrm>
            <a:off x="6862572" y="1741932"/>
            <a:ext cx="283464" cy="283464"/>
          </a:xfrm>
          <a:prstGeom prst="rect">
            <a:avLst/>
          </a:prstGeom>
        </p:spPr>
      </p:pic>
      <p:sp>
        <p:nvSpPr>
          <p:cNvPr id="21" name="Text 15"/>
          <p:cNvSpPr txBox="1"/>
          <p:nvPr/>
        </p:nvSpPr>
        <p:spPr>
          <a:xfrm>
            <a:off x="6263640" y="228600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rPr>
              <a:t>Retry</a:t>
            </a:r>
            <a:endParaRPr lang="en-US" sz="1600" dirty="0"/>
          </a:p>
        </p:txBody>
      </p:sp>
      <p:sp>
        <p:nvSpPr>
          <p:cNvPr id="22" name="Text 16"/>
          <p:cNvSpPr txBox="1"/>
          <p:nvPr/>
        </p:nvSpPr>
        <p:spPr>
          <a:xfrm>
            <a:off x="6263640" y="2651760"/>
            <a:ext cx="1508760" cy="777240"/>
          </a:xfrm>
          <a:prstGeom prst="rect">
            <a:avLst/>
          </a:prstGeom>
          <a:noFill/>
          <a:ln/>
        </p:spPr>
        <p:txBody>
          <a:bodyPr wrap="square" lIns="0" tIns="0" rIns="0" bIns="0" rtlCol="0" anchor="t"/>
          <a:lstStyle/>
          <a:p>
            <a:pPr algn="ctr" indent="0" marL="0">
              <a:buNone/>
            </a:pPr>
            <a:r>
              <a:rPr lang="en-US" sz="1300" dirty="0">
                <a:solidFill>
                  <a:schemeClr val="tx1"/>
                </a:solidFill>
              </a:rPr>
              <a:t>Busy → wait 2 s, then 4 s</a:t>
            </a:r>
            <a:endParaRPr lang="en-US" sz="1300" dirty="0"/>
          </a:p>
        </p:txBody>
      </p:sp>
      <p:sp>
        <p:nvSpPr>
          <p:cNvPr id="23" name="pipeline step 5"/>
          <p:cNvSpPr/>
          <p:nvPr/>
        </p:nvSpPr>
        <p:spPr>
          <a:xfrm>
            <a:off x="8046720" y="1417320"/>
            <a:ext cx="1691640" cy="2103120"/>
          </a:xfrm>
          <a:prstGeom prst="roundRect">
            <a:avLst>
              <a:gd name="adj" fmla="val 6486"/>
            </a:avLst>
          </a:prstGeom>
          <a:solidFill>
            <a:schemeClr val="bg2"/>
          </a:solidFill>
          <a:ln/>
        </p:spPr>
      </p:sp>
      <p:sp>
        <p:nvSpPr>
          <p:cNvPr id="24" name="pipeline icon 5 circle"/>
          <p:cNvSpPr/>
          <p:nvPr/>
        </p:nvSpPr>
        <p:spPr>
          <a:xfrm>
            <a:off x="8595360" y="1600200"/>
            <a:ext cx="566928" cy="566928"/>
          </a:xfrm>
          <a:prstGeom prst="ellipse">
            <a:avLst/>
          </a:prstGeom>
          <a:solidFill>
            <a:schemeClr val="bg1"/>
          </a:solidFill>
          <a:ln/>
        </p:spPr>
      </p:sp>
      <p:pic>
        <p:nvPicPr>
          <p:cNvPr id="25" name="pipeline icon 5" descr="pipeline icon 5">    </p:cNvPr>
          <p:cNvPicPr>
            <a:picLocks noChangeAspect="1"/>
          </p:cNvPicPr>
          <p:nvPr/>
        </p:nvPicPr>
        <p:blipFill>
          <a:blip r:embed="rId5"/>
          <a:stretch>
            <a:fillRect/>
          </a:stretch>
        </p:blipFill>
        <p:spPr>
          <a:xfrm>
            <a:off x="8737092" y="1741932"/>
            <a:ext cx="283464" cy="283464"/>
          </a:xfrm>
          <a:prstGeom prst="rect">
            <a:avLst/>
          </a:prstGeom>
        </p:spPr>
      </p:pic>
      <p:sp>
        <p:nvSpPr>
          <p:cNvPr id="26" name="Text 19"/>
          <p:cNvSpPr txBox="1"/>
          <p:nvPr/>
        </p:nvSpPr>
        <p:spPr>
          <a:xfrm>
            <a:off x="8138160" y="228600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rPr>
              <a:t>Normalise</a:t>
            </a:r>
            <a:endParaRPr lang="en-US" sz="1600" dirty="0"/>
          </a:p>
        </p:txBody>
      </p:sp>
      <p:sp>
        <p:nvSpPr>
          <p:cNvPr id="27" name="Text 20"/>
          <p:cNvSpPr txBox="1"/>
          <p:nvPr/>
        </p:nvSpPr>
        <p:spPr>
          <a:xfrm>
            <a:off x="8138160" y="2651760"/>
            <a:ext cx="1508760" cy="777240"/>
          </a:xfrm>
          <a:prstGeom prst="rect">
            <a:avLst/>
          </a:prstGeom>
          <a:noFill/>
          <a:ln/>
        </p:spPr>
        <p:txBody>
          <a:bodyPr wrap="square" lIns="0" tIns="0" rIns="0" bIns="0" rtlCol="0" anchor="t"/>
          <a:lstStyle/>
          <a:p>
            <a:pPr algn="ctr" indent="0" marL="0">
              <a:buNone/>
            </a:pPr>
            <a:r>
              <a:rPr lang="en-US" sz="1300" dirty="0">
                <a:solidFill>
                  <a:schemeClr val="tx1"/>
                </a:solidFill>
              </a:rPr>
              <a:t>Clamp scores, drop bad tips</a:t>
            </a:r>
            <a:endParaRPr lang="en-US" sz="1300" dirty="0"/>
          </a:p>
        </p:txBody>
      </p:sp>
      <p:sp>
        <p:nvSpPr>
          <p:cNvPr id="28" name="pipeline step 6"/>
          <p:cNvSpPr/>
          <p:nvPr/>
        </p:nvSpPr>
        <p:spPr>
          <a:xfrm>
            <a:off x="9921240" y="1417320"/>
            <a:ext cx="1691640" cy="2103120"/>
          </a:xfrm>
          <a:prstGeom prst="roundRect">
            <a:avLst>
              <a:gd name="adj" fmla="val 6486"/>
            </a:avLst>
          </a:prstGeom>
          <a:solidFill>
            <a:schemeClr val="bg2"/>
          </a:solidFill>
          <a:ln/>
        </p:spPr>
      </p:sp>
      <p:sp>
        <p:nvSpPr>
          <p:cNvPr id="29" name="pipeline icon 6 circle"/>
          <p:cNvSpPr/>
          <p:nvPr/>
        </p:nvSpPr>
        <p:spPr>
          <a:xfrm>
            <a:off x="10469880" y="1600200"/>
            <a:ext cx="566928" cy="566928"/>
          </a:xfrm>
          <a:prstGeom prst="ellipse">
            <a:avLst/>
          </a:prstGeom>
          <a:solidFill>
            <a:schemeClr val="bg1"/>
          </a:solidFill>
          <a:ln/>
        </p:spPr>
      </p:sp>
      <p:pic>
        <p:nvPicPr>
          <p:cNvPr id="30" name="pipeline icon 6" descr="pipeline icon 6">    </p:cNvPr>
          <p:cNvPicPr>
            <a:picLocks noChangeAspect="1"/>
          </p:cNvPicPr>
          <p:nvPr/>
        </p:nvPicPr>
        <p:blipFill>
          <a:blip r:embed="rId6"/>
          <a:stretch>
            <a:fillRect/>
          </a:stretch>
        </p:blipFill>
        <p:spPr>
          <a:xfrm>
            <a:off x="10611612" y="1741932"/>
            <a:ext cx="283464" cy="283464"/>
          </a:xfrm>
          <a:prstGeom prst="rect">
            <a:avLst/>
          </a:prstGeom>
        </p:spPr>
      </p:pic>
      <p:sp>
        <p:nvSpPr>
          <p:cNvPr id="31" name="Text 23"/>
          <p:cNvSpPr txBox="1"/>
          <p:nvPr/>
        </p:nvSpPr>
        <p:spPr>
          <a:xfrm>
            <a:off x="10012680" y="2286000"/>
            <a:ext cx="1508760" cy="365760"/>
          </a:xfrm>
          <a:prstGeom prst="rect">
            <a:avLst/>
          </a:prstGeom>
          <a:noFill/>
          <a:ln/>
        </p:spPr>
        <p:txBody>
          <a:bodyPr wrap="square" lIns="0" tIns="0" rIns="0" bIns="0" rtlCol="0" anchor="t"/>
          <a:lstStyle/>
          <a:p>
            <a:pPr algn="ctr" indent="0" marL="0">
              <a:buNone/>
            </a:pPr>
            <a:r>
              <a:rPr lang="en-US" sz="1600" b="1" dirty="0">
                <a:solidFill>
                  <a:schemeClr val="tx1"/>
                </a:solidFill>
              </a:rPr>
              <a:t>Save</a:t>
            </a:r>
            <a:endParaRPr lang="en-US" sz="1600" dirty="0"/>
          </a:p>
        </p:txBody>
      </p:sp>
      <p:sp>
        <p:nvSpPr>
          <p:cNvPr id="32" name="Text 24"/>
          <p:cNvSpPr txBox="1"/>
          <p:nvPr/>
        </p:nvSpPr>
        <p:spPr>
          <a:xfrm>
            <a:off x="10012680" y="2651760"/>
            <a:ext cx="1508760" cy="777240"/>
          </a:xfrm>
          <a:prstGeom prst="rect">
            <a:avLst/>
          </a:prstGeom>
          <a:noFill/>
          <a:ln/>
        </p:spPr>
        <p:txBody>
          <a:bodyPr wrap="square" lIns="0" tIns="0" rIns="0" bIns="0" rtlCol="0" anchor="t"/>
          <a:lstStyle/>
          <a:p>
            <a:pPr algn="ctr" indent="0" marL="0">
              <a:buNone/>
            </a:pPr>
            <a:r>
              <a:rPr lang="en-US" sz="1300" dirty="0">
                <a:solidFill>
                  <a:schemeClr val="tx1"/>
                </a:solidFill>
              </a:rPr>
              <a:t>Analysis → result page</a:t>
            </a:r>
            <a:endParaRPr lang="en-US" sz="1300" dirty="0"/>
          </a:p>
        </p:txBody>
      </p:sp>
      <p:sp>
        <p:nvSpPr>
          <p:cNvPr id="33" name="ai use 1"/>
          <p:cNvSpPr/>
          <p:nvPr/>
        </p:nvSpPr>
        <p:spPr>
          <a:xfrm>
            <a:off x="548640" y="3794760"/>
            <a:ext cx="5440680" cy="1097280"/>
          </a:xfrm>
          <a:prstGeom prst="roundRect">
            <a:avLst>
              <a:gd name="adj" fmla="val 10000"/>
            </a:avLst>
          </a:prstGeom>
          <a:solidFill>
            <a:schemeClr val="bg1"/>
          </a:solidFill>
          <a:ln w="12700">
            <a:solidFill>
              <a:schemeClr val="accent6"/>
            </a:solidFill>
            <a:prstDash val="solid"/>
          </a:ln>
        </p:spPr>
      </p:sp>
      <p:sp>
        <p:nvSpPr>
          <p:cNvPr id="34" name="Text 26"/>
          <p:cNvSpPr txBox="1"/>
          <p:nvPr/>
        </p:nvSpPr>
        <p:spPr>
          <a:xfrm>
            <a:off x="777240" y="3913632"/>
            <a:ext cx="5029200" cy="914400"/>
          </a:xfrm>
          <a:prstGeom prst="rect">
            <a:avLst/>
          </a:prstGeom>
          <a:noFill/>
          <a:ln/>
        </p:spPr>
        <p:txBody>
          <a:bodyPr wrap="square" lIns="0" tIns="0" rIns="0" bIns="0" rtlCol="0" anchor="t"/>
          <a:lstStyle/>
          <a:p>
            <a:pPr indent="0" marL="0">
              <a:buNone/>
            </a:pPr>
            <a:r>
              <a:rPr lang="en-US" sz="1400" b="1" dirty="0">
                <a:solidFill>
                  <a:schemeClr val="accent1"/>
                </a:solidFill>
              </a:rPr>
              <a:t>Analysis</a:t>
            </a:r>
            <a:endParaRPr lang="en-US" sz="1400" dirty="0"/>
          </a:p>
          <a:p>
            <a:pPr indent="0" marL="0">
              <a:buNone/>
            </a:pPr>
            <a:r>
              <a:rPr lang="en-US" sz="1400" dirty="0">
                <a:solidFill>
                  <a:schemeClr val="tx2"/>
                </a:solidFill>
              </a:rPr>
              <a:t>Overall score + ATS, tone &amp; style, content, structure, skills — each with good / improve tips</a:t>
            </a:r>
            <a:endParaRPr lang="en-US" sz="1400" dirty="0"/>
          </a:p>
        </p:txBody>
      </p:sp>
      <p:sp>
        <p:nvSpPr>
          <p:cNvPr id="35" name="ai use 2"/>
          <p:cNvSpPr/>
          <p:nvPr/>
        </p:nvSpPr>
        <p:spPr>
          <a:xfrm>
            <a:off x="6126480" y="3794760"/>
            <a:ext cx="5440680" cy="1097280"/>
          </a:xfrm>
          <a:prstGeom prst="roundRect">
            <a:avLst>
              <a:gd name="adj" fmla="val 10000"/>
            </a:avLst>
          </a:prstGeom>
          <a:solidFill>
            <a:schemeClr val="bg1"/>
          </a:solidFill>
          <a:ln w="12700">
            <a:solidFill>
              <a:schemeClr val="accent6"/>
            </a:solidFill>
            <a:prstDash val="solid"/>
          </a:ln>
        </p:spPr>
      </p:sp>
      <p:sp>
        <p:nvSpPr>
          <p:cNvPr id="36" name="Text 28"/>
          <p:cNvSpPr txBox="1"/>
          <p:nvPr/>
        </p:nvSpPr>
        <p:spPr>
          <a:xfrm>
            <a:off x="6355080" y="3913632"/>
            <a:ext cx="5029200" cy="914400"/>
          </a:xfrm>
          <a:prstGeom prst="rect">
            <a:avLst/>
          </a:prstGeom>
          <a:noFill/>
          <a:ln/>
        </p:spPr>
        <p:txBody>
          <a:bodyPr wrap="square" lIns="0" tIns="0" rIns="0" bIns="0" rtlCol="0" anchor="t"/>
          <a:lstStyle/>
          <a:p>
            <a:pPr indent="0" marL="0">
              <a:buNone/>
            </a:pPr>
            <a:r>
              <a:rPr lang="en-US" sz="1400" b="1" dirty="0">
                <a:solidFill>
                  <a:schemeClr val="accent1"/>
                </a:solidFill>
              </a:rPr>
              <a:t>Europass rewrite</a:t>
            </a:r>
            <a:endParaRPr lang="en-US" sz="1400" dirty="0"/>
          </a:p>
          <a:p>
            <a:pPr indent="0" marL="0">
              <a:buNone/>
            </a:pPr>
            <a:r>
              <a:rPr lang="en-US" sz="1400" dirty="0">
                <a:solidFill>
                  <a:schemeClr val="tx2"/>
                </a:solidFill>
              </a:rPr>
              <a:t>Every "improve" tip + job → Europass CV and a list of changes</a:t>
            </a:r>
            <a:endParaRPr lang="en-US" sz="1400" dirty="0"/>
          </a:p>
        </p:txBody>
      </p:sp>
      <p:sp>
        <p:nvSpPr>
          <p:cNvPr id="37" name="ai use 3"/>
          <p:cNvSpPr/>
          <p:nvPr/>
        </p:nvSpPr>
        <p:spPr>
          <a:xfrm>
            <a:off x="548640" y="5029200"/>
            <a:ext cx="5440680" cy="1097280"/>
          </a:xfrm>
          <a:prstGeom prst="roundRect">
            <a:avLst>
              <a:gd name="adj" fmla="val 10000"/>
            </a:avLst>
          </a:prstGeom>
          <a:solidFill>
            <a:schemeClr val="bg1"/>
          </a:solidFill>
          <a:ln w="12700">
            <a:solidFill>
              <a:schemeClr val="accent6"/>
            </a:solidFill>
            <a:prstDash val="solid"/>
          </a:ln>
        </p:spPr>
      </p:sp>
      <p:sp>
        <p:nvSpPr>
          <p:cNvPr id="38" name="Text 30"/>
          <p:cNvSpPr txBox="1"/>
          <p:nvPr/>
        </p:nvSpPr>
        <p:spPr>
          <a:xfrm>
            <a:off x="777240" y="5148072"/>
            <a:ext cx="5029200" cy="914400"/>
          </a:xfrm>
          <a:prstGeom prst="rect">
            <a:avLst/>
          </a:prstGeom>
          <a:noFill/>
          <a:ln/>
        </p:spPr>
        <p:txBody>
          <a:bodyPr wrap="square" lIns="0" tIns="0" rIns="0" bIns="0" rtlCol="0" anchor="t"/>
          <a:lstStyle/>
          <a:p>
            <a:pPr indent="0" marL="0">
              <a:buNone/>
            </a:pPr>
            <a:r>
              <a:rPr lang="en-US" sz="1400" b="1" dirty="0">
                <a:solidFill>
                  <a:schemeClr val="accent1"/>
                </a:solidFill>
              </a:rPr>
              <a:t>Before / after</a:t>
            </a:r>
            <a:endParaRPr lang="en-US" sz="1400" dirty="0"/>
          </a:p>
          <a:p>
            <a:pPr indent="0" marL="0">
              <a:buNone/>
            </a:pPr>
            <a:r>
              <a:rPr lang="en-US" sz="1400" dirty="0">
                <a:solidFill>
                  <a:schemeClr val="tx2"/>
                </a:solidFill>
              </a:rPr>
              <a:t>Improved CV → text, placeholders removed → same prompt, same job</a:t>
            </a:r>
            <a:endParaRPr lang="en-US" sz="1400" dirty="0"/>
          </a:p>
        </p:txBody>
      </p:sp>
      <p:sp>
        <p:nvSpPr>
          <p:cNvPr id="39" name="ai use 4"/>
          <p:cNvSpPr/>
          <p:nvPr/>
        </p:nvSpPr>
        <p:spPr>
          <a:xfrm>
            <a:off x="6126480" y="5029200"/>
            <a:ext cx="5440680" cy="1097280"/>
          </a:xfrm>
          <a:prstGeom prst="roundRect">
            <a:avLst>
              <a:gd name="adj" fmla="val 10000"/>
            </a:avLst>
          </a:prstGeom>
          <a:solidFill>
            <a:schemeClr val="bg1"/>
          </a:solidFill>
          <a:ln w="12700">
            <a:solidFill>
              <a:schemeClr val="accent6"/>
            </a:solidFill>
            <a:prstDash val="solid"/>
          </a:ln>
        </p:spPr>
      </p:sp>
      <p:sp>
        <p:nvSpPr>
          <p:cNvPr id="40" name="Text 32"/>
          <p:cNvSpPr txBox="1"/>
          <p:nvPr/>
        </p:nvSpPr>
        <p:spPr>
          <a:xfrm>
            <a:off x="6355080" y="5148072"/>
            <a:ext cx="5029200" cy="914400"/>
          </a:xfrm>
          <a:prstGeom prst="rect">
            <a:avLst/>
          </a:prstGeom>
          <a:noFill/>
          <a:ln/>
        </p:spPr>
        <p:txBody>
          <a:bodyPr wrap="square" lIns="0" tIns="0" rIns="0" bIns="0" rtlCol="0" anchor="t"/>
          <a:lstStyle/>
          <a:p>
            <a:pPr indent="0" marL="0">
              <a:buNone/>
            </a:pPr>
            <a:r>
              <a:rPr lang="en-US" sz="1400" b="1" dirty="0">
                <a:solidFill>
                  <a:schemeClr val="accent1"/>
                </a:solidFill>
              </a:rPr>
              <a:t>Cover letter</a:t>
            </a:r>
            <a:endParaRPr lang="en-US" sz="1400" dirty="0"/>
          </a:p>
          <a:p>
            <a:pPr indent="0" marL="0">
              <a:buNone/>
            </a:pPr>
            <a:r>
              <a:rPr lang="en-US" sz="1400" dirty="0">
                <a:solidFill>
                  <a:schemeClr val="tx2"/>
                </a:solidFill>
              </a:rPr>
              <a:t>AI writes opening, body, closing; code adds header, subject, salutation, sign-off</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Keeping the AI honest</a:t>
            </a:r>
            <a:endParaRPr lang="en-US" sz="3600" dirty="0"/>
          </a:p>
        </p:txBody>
      </p:sp>
      <p:sp>
        <p:nvSpPr>
          <p:cNvPr id="3" name="stat 1"/>
          <p:cNvSpPr/>
          <p:nvPr/>
        </p:nvSpPr>
        <p:spPr>
          <a:xfrm>
            <a:off x="548640" y="1371600"/>
            <a:ext cx="3657600" cy="1417320"/>
          </a:xfrm>
          <a:prstGeom prst="roundRect">
            <a:avLst>
              <a:gd name="adj" fmla="val 7742"/>
            </a:avLst>
          </a:prstGeom>
          <a:solidFill>
            <a:schemeClr val="bg2"/>
          </a:solidFill>
          <a:ln/>
        </p:spPr>
      </p:sp>
      <p:sp>
        <p:nvSpPr>
          <p:cNvPr id="4" name="Text 2"/>
          <p:cNvSpPr txBox="1"/>
          <p:nvPr/>
        </p:nvSpPr>
        <p:spPr>
          <a:xfrm>
            <a:off x="777240" y="1508760"/>
            <a:ext cx="3200400" cy="777240"/>
          </a:xfrm>
          <a:prstGeom prst="rect">
            <a:avLst/>
          </a:prstGeom>
          <a:noFill/>
          <a:ln/>
        </p:spPr>
        <p:txBody>
          <a:bodyPr wrap="square" lIns="0" tIns="0" rIns="0" bIns="0" rtlCol="0" anchor="t"/>
          <a:lstStyle/>
          <a:p>
            <a:pPr indent="0" marL="0">
              <a:buNone/>
            </a:pPr>
            <a:r>
              <a:rPr lang="en-US" sz="4800" b="1" dirty="0">
                <a:solidFill>
                  <a:schemeClr val="accent1"/>
                </a:solidFill>
              </a:rPr>
              <a:t>3×</a:t>
            </a:r>
            <a:endParaRPr lang="en-US" sz="4800" dirty="0"/>
          </a:p>
        </p:txBody>
      </p:sp>
      <p:sp>
        <p:nvSpPr>
          <p:cNvPr id="5" name="Text 3"/>
          <p:cNvSpPr txBox="1"/>
          <p:nvPr/>
        </p:nvSpPr>
        <p:spPr>
          <a:xfrm>
            <a:off x="777240" y="2286000"/>
            <a:ext cx="3200400" cy="411480"/>
          </a:xfrm>
          <a:prstGeom prst="rect">
            <a:avLst/>
          </a:prstGeom>
          <a:noFill/>
          <a:ln/>
        </p:spPr>
        <p:txBody>
          <a:bodyPr wrap="square" lIns="0" tIns="0" rIns="0" bIns="0" rtlCol="0" anchor="t"/>
          <a:lstStyle/>
          <a:p>
            <a:pPr indent="0" marL="0">
              <a:buNone/>
            </a:pPr>
            <a:r>
              <a:rPr lang="en-US" sz="1400" dirty="0">
                <a:solidFill>
                  <a:schemeClr val="tx2"/>
                </a:solidFill>
              </a:rPr>
              <a:t>automatic retries when Gemini is busy</a:t>
            </a:r>
            <a:endParaRPr lang="en-US" sz="1400" dirty="0"/>
          </a:p>
        </p:txBody>
      </p:sp>
      <p:sp>
        <p:nvSpPr>
          <p:cNvPr id="6" name="stat 2"/>
          <p:cNvSpPr/>
          <p:nvPr/>
        </p:nvSpPr>
        <p:spPr>
          <a:xfrm>
            <a:off x="548640" y="2971800"/>
            <a:ext cx="3657600" cy="1417320"/>
          </a:xfrm>
          <a:prstGeom prst="roundRect">
            <a:avLst>
              <a:gd name="adj" fmla="val 7742"/>
            </a:avLst>
          </a:prstGeom>
          <a:solidFill>
            <a:schemeClr val="bg2"/>
          </a:solidFill>
          <a:ln/>
        </p:spPr>
      </p:sp>
      <p:sp>
        <p:nvSpPr>
          <p:cNvPr id="7" name="Text 5"/>
          <p:cNvSpPr txBox="1"/>
          <p:nvPr/>
        </p:nvSpPr>
        <p:spPr>
          <a:xfrm>
            <a:off x="777240" y="3108960"/>
            <a:ext cx="3200400" cy="777240"/>
          </a:xfrm>
          <a:prstGeom prst="rect">
            <a:avLst/>
          </a:prstGeom>
          <a:noFill/>
          <a:ln/>
        </p:spPr>
        <p:txBody>
          <a:bodyPr wrap="square" lIns="0" tIns="0" rIns="0" bIns="0" rtlCol="0" anchor="t"/>
          <a:lstStyle/>
          <a:p>
            <a:pPr indent="0" marL="0">
              <a:buNone/>
            </a:pPr>
            <a:r>
              <a:rPr lang="en-US" sz="4800" b="1" dirty="0">
                <a:solidFill>
                  <a:schemeClr val="accent1"/>
                </a:solidFill>
              </a:rPr>
              <a:t>15/h</a:t>
            </a:r>
            <a:endParaRPr lang="en-US" sz="4800" dirty="0"/>
          </a:p>
        </p:txBody>
      </p:sp>
      <p:sp>
        <p:nvSpPr>
          <p:cNvPr id="8" name="Text 6"/>
          <p:cNvSpPr txBox="1"/>
          <p:nvPr/>
        </p:nvSpPr>
        <p:spPr>
          <a:xfrm>
            <a:off x="777240" y="3886200"/>
            <a:ext cx="3200400" cy="411480"/>
          </a:xfrm>
          <a:prstGeom prst="rect">
            <a:avLst/>
          </a:prstGeom>
          <a:noFill/>
          <a:ln/>
        </p:spPr>
        <p:txBody>
          <a:bodyPr wrap="square" lIns="0" tIns="0" rIns="0" bIns="0" rtlCol="0" anchor="t"/>
          <a:lstStyle/>
          <a:p>
            <a:pPr indent="0" marL="0">
              <a:buNone/>
            </a:pPr>
            <a:r>
              <a:rPr lang="en-US" sz="1400" dirty="0">
                <a:solidFill>
                  <a:schemeClr val="tx2"/>
                </a:solidFill>
              </a:rPr>
              <a:t>AI requests per user</a:t>
            </a:r>
            <a:endParaRPr lang="en-US" sz="1400" dirty="0"/>
          </a:p>
        </p:txBody>
      </p:sp>
      <p:sp>
        <p:nvSpPr>
          <p:cNvPr id="9" name="stat 3"/>
          <p:cNvSpPr/>
          <p:nvPr/>
        </p:nvSpPr>
        <p:spPr>
          <a:xfrm>
            <a:off x="548640" y="4572000"/>
            <a:ext cx="3657600" cy="1417320"/>
          </a:xfrm>
          <a:prstGeom prst="roundRect">
            <a:avLst>
              <a:gd name="adj" fmla="val 7742"/>
            </a:avLst>
          </a:prstGeom>
          <a:solidFill>
            <a:schemeClr val="bg2"/>
          </a:solidFill>
          <a:ln/>
        </p:spPr>
      </p:sp>
      <p:sp>
        <p:nvSpPr>
          <p:cNvPr id="10" name="Text 8"/>
          <p:cNvSpPr txBox="1"/>
          <p:nvPr/>
        </p:nvSpPr>
        <p:spPr>
          <a:xfrm>
            <a:off x="777240" y="4709160"/>
            <a:ext cx="3200400" cy="777240"/>
          </a:xfrm>
          <a:prstGeom prst="rect">
            <a:avLst/>
          </a:prstGeom>
          <a:noFill/>
          <a:ln/>
        </p:spPr>
        <p:txBody>
          <a:bodyPr wrap="square" lIns="0" tIns="0" rIns="0" bIns="0" rtlCol="0" anchor="t"/>
          <a:lstStyle/>
          <a:p>
            <a:pPr indent="0" marL="0">
              <a:buNone/>
            </a:pPr>
            <a:r>
              <a:rPr lang="en-US" sz="4800" b="1" dirty="0">
                <a:solidFill>
                  <a:schemeClr val="accent1"/>
                </a:solidFill>
              </a:rPr>
              <a:t>0</a:t>
            </a:r>
            <a:endParaRPr lang="en-US" sz="4800" dirty="0"/>
          </a:p>
        </p:txBody>
      </p:sp>
      <p:sp>
        <p:nvSpPr>
          <p:cNvPr id="11" name="Text 9"/>
          <p:cNvSpPr txBox="1"/>
          <p:nvPr/>
        </p:nvSpPr>
        <p:spPr>
          <a:xfrm>
            <a:off x="777240" y="5486400"/>
            <a:ext cx="3200400" cy="411480"/>
          </a:xfrm>
          <a:prstGeom prst="rect">
            <a:avLst/>
          </a:prstGeom>
          <a:noFill/>
          <a:ln/>
        </p:spPr>
        <p:txBody>
          <a:bodyPr wrap="square" lIns="0" tIns="0" rIns="0" bIns="0" rtlCol="0" anchor="t"/>
          <a:lstStyle/>
          <a:p>
            <a:pPr indent="0" marL="0">
              <a:buNone/>
            </a:pPr>
            <a:r>
              <a:rPr lang="en-US" sz="1400" dirty="0">
                <a:solidFill>
                  <a:schemeClr val="tx2"/>
                </a:solidFill>
              </a:rPr>
              <a:t>invented numbers allowed in the CV</a:t>
            </a:r>
            <a:endParaRPr lang="en-US" sz="1400" dirty="0"/>
          </a:p>
        </p:txBody>
      </p:sp>
      <p:sp>
        <p:nvSpPr>
          <p:cNvPr id="12" name="Text 10"/>
          <p:cNvSpPr txBox="1"/>
          <p:nvPr/>
        </p:nvSpPr>
        <p:spPr>
          <a:xfrm>
            <a:off x="4572000" y="1371600"/>
            <a:ext cx="7040880" cy="411480"/>
          </a:xfrm>
          <a:prstGeom prst="rect">
            <a:avLst/>
          </a:prstGeom>
          <a:noFill/>
          <a:ln/>
        </p:spPr>
        <p:txBody>
          <a:bodyPr wrap="square" lIns="0" tIns="0" rIns="0" bIns="0" rtlCol="0" anchor="t"/>
          <a:lstStyle/>
          <a:p>
            <a:pPr indent="0" marL="0">
              <a:buNone/>
            </a:pPr>
            <a:r>
              <a:rPr lang="en-US" sz="1800" b="1" dirty="0">
                <a:solidFill>
                  <a:schemeClr val="tx1"/>
                </a:solidFill>
              </a:rPr>
              <a:t>postCheck() in code fixes what the model gets wrong</a:t>
            </a:r>
            <a:endParaRPr lang="en-US" sz="1800" dirty="0"/>
          </a:p>
        </p:txBody>
      </p:sp>
      <p:graphicFrame>
        <p:nvGraphicFramePr>
          <p:cNvPr id="9" name="post-check table"/>
          <p:cNvGraphicFramePr>
            <a:graphicFrameLocks noGrp="1"/>
          </p:cNvGraphicFramePr>
          <p:nvPr>
            <p:extLst>
              <p:ext uri="{D42A27DB-BD31-4B8C-83A1-F6EECF244321}">
                <p14:modId xmlns:p14="http://schemas.microsoft.com/office/powerpoint/2010/main" val="1579011935"/>
              </p:ext>
            </p:extLst>
          </p:nvPr>
        </p:nvGraphicFramePr>
        <p:xfrm>
          <a:off x="4572000" y="1920240"/>
          <a:ext cx="7040880" cy="914400"/>
        </p:xfrm>
        <a:graphic>
          <a:graphicData uri="http://schemas.openxmlformats.org/drawingml/2006/table">
            <a:tbl>
              <a:tblPr/>
              <a:tblGrid>
                <a:gridCol w="2926080"/>
                <a:gridCol w="4114800"/>
              </a:tblGrid>
              <a:tr h="566928">
                <a:tc>
                  <a:txBody>
                    <a:bodyPr/>
                    <a:lstStyle/>
                    <a:p>
                      <a:pPr indent="0" marL="0">
                        <a:buNone/>
                      </a:pPr>
                      <a:r>
                        <a:rPr lang="en-US" sz="1400" b="1" dirty="0">
                          <a:solidFill>
                            <a:schemeClr val="bg1"/>
                          </a:solidFill>
                        </a:rPr>
                        <a:t>AI wrote</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After post-check</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accent1"/>
                    </a:solidFill>
                  </a:tcPr>
                </a:tc>
              </a:tr>
              <a:tr h="566928">
                <a:tc>
                  <a:txBody>
                    <a:bodyPr/>
                    <a:lstStyle/>
                    <a:p>
                      <a:pPr indent="0" marL="0">
                        <a:buNone/>
                      </a:pPr>
                      <a:r>
                        <a:rPr lang="en-US" sz="1400" dirty="0">
                          <a:solidFill>
                            <a:schemeClr val="tx1"/>
                          </a:solidFill>
                        </a:rPr>
                        <a:t>improved load time by 40%</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by [Add a measurable result, e.g. X%]</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November 30, 2024</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11/2024</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Current (ongoing degree)</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Expected 08/2026</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H.S.C, 4.67</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Higher Secondary Certificate (HSC), GPA 4.67 / 5.00, EQF 4</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Religion, date of birth</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removed (not part of Europass)</a:t>
                      </a:r>
                      <a:endParaRPr lang="en-US" sz="1400" dirty="0"/>
                    </a:p>
                  </a:txBody>
                  <a:tcPr marL="73152" marR="73152" marT="73152" marB="73152"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bl>
          </a:graphicData>
        </a:graphic>
      </p:graphicFrame>
      <p:sp>
        <p:nvSpPr>
          <p:cNvPr id="14" name="Text 11"/>
          <p:cNvSpPr txBox="1"/>
          <p:nvPr/>
        </p:nvSpPr>
        <p:spPr>
          <a:xfrm>
            <a:off x="4572000" y="5623560"/>
            <a:ext cx="7040880" cy="457200"/>
          </a:xfrm>
          <a:prstGeom prst="rect">
            <a:avLst/>
          </a:prstGeom>
          <a:noFill/>
          <a:ln/>
        </p:spPr>
        <p:txBody>
          <a:bodyPr wrap="square" lIns="0" tIns="0" rIns="0" bIns="0" rtlCol="0" anchor="t"/>
          <a:lstStyle/>
          <a:p>
            <a:pPr indent="0" marL="0">
              <a:buNone/>
            </a:pPr>
            <a:r>
              <a:rPr lang="en-US" sz="1500" i="1" dirty="0">
                <a:solidFill>
                  <a:schemeClr val="accent1"/>
                </a:solidFill>
              </a:rPr>
              <a:t>Placeholders show the user exactly what to fill in — the CV stays truthful.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Authentication, security and API</a:t>
            </a:r>
            <a:endParaRPr lang="en-US" sz="3600" dirty="0"/>
          </a:p>
        </p:txBody>
      </p:sp>
      <p:sp>
        <p:nvSpPr>
          <p:cNvPr id="3" name="security icon 1 circle"/>
          <p:cNvSpPr/>
          <p:nvPr/>
        </p:nvSpPr>
        <p:spPr>
          <a:xfrm>
            <a:off x="548640" y="1463040"/>
            <a:ext cx="640080" cy="640080"/>
          </a:xfrm>
          <a:prstGeom prst="ellipse">
            <a:avLst/>
          </a:prstGeom>
          <a:solidFill>
            <a:schemeClr val="bg2"/>
          </a:solidFill>
          <a:ln/>
        </p:spPr>
      </p:sp>
      <p:pic>
        <p:nvPicPr>
          <p:cNvPr id="4" name="security icon 1" descr="security icon 1">    </p:cNvPr>
          <p:cNvPicPr>
            <a:picLocks noChangeAspect="1"/>
          </p:cNvPicPr>
          <p:nvPr/>
        </p:nvPicPr>
        <p:blipFill>
          <a:blip r:embed="rId1"/>
          <a:stretch>
            <a:fillRect/>
          </a:stretch>
        </p:blipFill>
        <p:spPr>
          <a:xfrm>
            <a:off x="708660" y="1623060"/>
            <a:ext cx="320040" cy="320040"/>
          </a:xfrm>
          <a:prstGeom prst="rect">
            <a:avLst/>
          </a:prstGeom>
        </p:spPr>
      </p:pic>
      <p:sp>
        <p:nvSpPr>
          <p:cNvPr id="5" name="Text 2"/>
          <p:cNvSpPr txBox="1"/>
          <p:nvPr/>
        </p:nvSpPr>
        <p:spPr>
          <a:xfrm>
            <a:off x="1371600" y="1371600"/>
            <a:ext cx="4754880" cy="1097280"/>
          </a:xfrm>
          <a:prstGeom prst="rect">
            <a:avLst/>
          </a:prstGeom>
          <a:noFill/>
          <a:ln/>
        </p:spPr>
        <p:txBody>
          <a:bodyPr wrap="square" lIns="0" tIns="0" rIns="0" bIns="0" rtlCol="0" anchor="t"/>
          <a:lstStyle/>
          <a:p>
            <a:pPr indent="0" marL="0">
              <a:buNone/>
            </a:pPr>
            <a:r>
              <a:rPr lang="en-US" sz="1400" b="1" dirty="0">
                <a:solidFill>
                  <a:schemeClr val="tx1"/>
                </a:solidFill>
              </a:rPr>
              <a:t>bcrypt + JWT</a:t>
            </a:r>
            <a:endParaRPr lang="en-US" sz="1400" dirty="0"/>
          </a:p>
          <a:p>
            <a:pPr indent="0" marL="0">
              <a:buNone/>
            </a:pPr>
            <a:r>
              <a:rPr lang="en-US" sz="1400" dirty="0">
                <a:solidFill>
                  <a:schemeClr val="tx2"/>
                </a:solidFill>
              </a:rPr>
              <a:t>Passwords 8–72 chars, hashed. Token valid 7 days; password change logs out other devices.</a:t>
            </a:r>
            <a:endParaRPr lang="en-US" sz="1400" dirty="0"/>
          </a:p>
        </p:txBody>
      </p:sp>
      <p:sp>
        <p:nvSpPr>
          <p:cNvPr id="6" name="security icon 2 circle"/>
          <p:cNvSpPr/>
          <p:nvPr/>
        </p:nvSpPr>
        <p:spPr>
          <a:xfrm>
            <a:off x="548640" y="2670048"/>
            <a:ext cx="640080" cy="640080"/>
          </a:xfrm>
          <a:prstGeom prst="ellipse">
            <a:avLst/>
          </a:prstGeom>
          <a:solidFill>
            <a:schemeClr val="bg2"/>
          </a:solidFill>
          <a:ln/>
        </p:spPr>
      </p:sp>
      <p:pic>
        <p:nvPicPr>
          <p:cNvPr id="7" name="security icon 2" descr="security icon 2">    </p:cNvPr>
          <p:cNvPicPr>
            <a:picLocks noChangeAspect="1"/>
          </p:cNvPicPr>
          <p:nvPr/>
        </p:nvPicPr>
        <p:blipFill>
          <a:blip r:embed="rId2"/>
          <a:stretch>
            <a:fillRect/>
          </a:stretch>
        </p:blipFill>
        <p:spPr>
          <a:xfrm>
            <a:off x="708660" y="2830068"/>
            <a:ext cx="320040" cy="320040"/>
          </a:xfrm>
          <a:prstGeom prst="rect">
            <a:avLst/>
          </a:prstGeom>
        </p:spPr>
      </p:pic>
      <p:sp>
        <p:nvSpPr>
          <p:cNvPr id="8" name="Text 4"/>
          <p:cNvSpPr txBox="1"/>
          <p:nvPr/>
        </p:nvSpPr>
        <p:spPr>
          <a:xfrm>
            <a:off x="1371600" y="2578608"/>
            <a:ext cx="4754880" cy="1097280"/>
          </a:xfrm>
          <a:prstGeom prst="rect">
            <a:avLst/>
          </a:prstGeom>
          <a:noFill/>
          <a:ln/>
        </p:spPr>
        <p:txBody>
          <a:bodyPr wrap="square" lIns="0" tIns="0" rIns="0" bIns="0" rtlCol="0" anchor="t"/>
          <a:lstStyle/>
          <a:p>
            <a:pPr indent="0" marL="0">
              <a:buNone/>
            </a:pPr>
            <a:r>
              <a:rPr lang="en-US" sz="1400" b="1" dirty="0">
                <a:solidFill>
                  <a:schemeClr val="tx1"/>
                </a:solidFill>
              </a:rPr>
              <a:t>Google Sign-In</a:t>
            </a:r>
            <a:endParaRPr lang="en-US" sz="1400" dirty="0"/>
          </a:p>
          <a:p>
            <a:pPr indent="0" marL="0">
              <a:buNone/>
            </a:pPr>
            <a:r>
              <a:rPr lang="en-US" sz="1400" dirty="0">
                <a:solidFill>
                  <a:schemeClr val="tx2"/>
                </a:solidFill>
              </a:rPr>
              <a:t>ID token verified on the server; only verified e-mails.</a:t>
            </a:r>
            <a:endParaRPr lang="en-US" sz="1400" dirty="0"/>
          </a:p>
        </p:txBody>
      </p:sp>
      <p:sp>
        <p:nvSpPr>
          <p:cNvPr id="9" name="security icon 3 circle"/>
          <p:cNvSpPr/>
          <p:nvPr/>
        </p:nvSpPr>
        <p:spPr>
          <a:xfrm>
            <a:off x="548640" y="3877056"/>
            <a:ext cx="640080" cy="640080"/>
          </a:xfrm>
          <a:prstGeom prst="ellipse">
            <a:avLst/>
          </a:prstGeom>
          <a:solidFill>
            <a:schemeClr val="bg2"/>
          </a:solidFill>
          <a:ln/>
        </p:spPr>
      </p:sp>
      <p:pic>
        <p:nvPicPr>
          <p:cNvPr id="10" name="security icon 3" descr="security icon 3">    </p:cNvPr>
          <p:cNvPicPr>
            <a:picLocks noChangeAspect="1"/>
          </p:cNvPicPr>
          <p:nvPr/>
        </p:nvPicPr>
        <p:blipFill>
          <a:blip r:embed="rId3"/>
          <a:stretch>
            <a:fillRect/>
          </a:stretch>
        </p:blipFill>
        <p:spPr>
          <a:xfrm>
            <a:off x="708660" y="4037076"/>
            <a:ext cx="320040" cy="320040"/>
          </a:xfrm>
          <a:prstGeom prst="rect">
            <a:avLst/>
          </a:prstGeom>
        </p:spPr>
      </p:pic>
      <p:sp>
        <p:nvSpPr>
          <p:cNvPr id="11" name="Text 6"/>
          <p:cNvSpPr txBox="1"/>
          <p:nvPr/>
        </p:nvSpPr>
        <p:spPr>
          <a:xfrm>
            <a:off x="1371600" y="3785616"/>
            <a:ext cx="4754880" cy="1097280"/>
          </a:xfrm>
          <a:prstGeom prst="rect">
            <a:avLst/>
          </a:prstGeom>
          <a:noFill/>
          <a:ln/>
        </p:spPr>
        <p:txBody>
          <a:bodyPr wrap="square" lIns="0" tIns="0" rIns="0" bIns="0" rtlCol="0" anchor="t"/>
          <a:lstStyle/>
          <a:p>
            <a:pPr indent="0" marL="0">
              <a:buNone/>
            </a:pPr>
            <a:r>
              <a:rPr lang="en-US" sz="1400" b="1" dirty="0">
                <a:solidFill>
                  <a:schemeClr val="tx1"/>
                </a:solidFill>
              </a:rPr>
              <a:t>Hardening</a:t>
            </a:r>
            <a:endParaRPr lang="en-US" sz="1400" dirty="0"/>
          </a:p>
          <a:p>
            <a:pPr indent="0" marL="0">
              <a:buNone/>
            </a:pPr>
            <a:r>
              <a:rPr lang="en-US" sz="1400" dirty="0">
                <a:solidFill>
                  <a:schemeClr val="tx2"/>
                </a:solidFill>
              </a:rPr>
              <a:t>helmet, CORS allow-list, validation on every input, 404 for other users' data.</a:t>
            </a:r>
            <a:endParaRPr lang="en-US" sz="1400" dirty="0"/>
          </a:p>
        </p:txBody>
      </p:sp>
      <p:sp>
        <p:nvSpPr>
          <p:cNvPr id="12" name="security icon 4 circle"/>
          <p:cNvSpPr/>
          <p:nvPr/>
        </p:nvSpPr>
        <p:spPr>
          <a:xfrm>
            <a:off x="548640" y="5084064"/>
            <a:ext cx="640080" cy="640080"/>
          </a:xfrm>
          <a:prstGeom prst="ellipse">
            <a:avLst/>
          </a:prstGeom>
          <a:solidFill>
            <a:schemeClr val="bg2"/>
          </a:solidFill>
          <a:ln/>
        </p:spPr>
      </p:sp>
      <p:pic>
        <p:nvPicPr>
          <p:cNvPr id="13" name="security icon 4" descr="security icon 4">    </p:cNvPr>
          <p:cNvPicPr>
            <a:picLocks noChangeAspect="1"/>
          </p:cNvPicPr>
          <p:nvPr/>
        </p:nvPicPr>
        <p:blipFill>
          <a:blip r:embed="rId4"/>
          <a:stretch>
            <a:fillRect/>
          </a:stretch>
        </p:blipFill>
        <p:spPr>
          <a:xfrm>
            <a:off x="708660" y="5244084"/>
            <a:ext cx="320040" cy="320040"/>
          </a:xfrm>
          <a:prstGeom prst="rect">
            <a:avLst/>
          </a:prstGeom>
        </p:spPr>
      </p:pic>
      <p:sp>
        <p:nvSpPr>
          <p:cNvPr id="14" name="Text 8"/>
          <p:cNvSpPr txBox="1"/>
          <p:nvPr/>
        </p:nvSpPr>
        <p:spPr>
          <a:xfrm>
            <a:off x="1371600" y="4992624"/>
            <a:ext cx="4754880" cy="1097280"/>
          </a:xfrm>
          <a:prstGeom prst="rect">
            <a:avLst/>
          </a:prstGeom>
          <a:noFill/>
          <a:ln/>
        </p:spPr>
        <p:txBody>
          <a:bodyPr wrap="square" lIns="0" tIns="0" rIns="0" bIns="0" rtlCol="0" anchor="t"/>
          <a:lstStyle/>
          <a:p>
            <a:pPr indent="0" marL="0">
              <a:buNone/>
            </a:pPr>
            <a:r>
              <a:rPr lang="en-US" sz="1400" b="1" dirty="0">
                <a:solidFill>
                  <a:schemeClr val="tx1"/>
                </a:solidFill>
              </a:rPr>
              <a:t>Rate limits</a:t>
            </a:r>
            <a:endParaRPr lang="en-US" sz="1400" dirty="0"/>
          </a:p>
          <a:p>
            <a:pPr indent="0" marL="0">
              <a:buNone/>
            </a:pPr>
            <a:r>
              <a:rPr lang="en-US" sz="1400" dirty="0">
                <a:solidFill>
                  <a:schemeClr val="tx2"/>
                </a:solidFill>
              </a:rPr>
              <a:t>20 auth requests / 15 min per IP; 15 AI requests / hour per user.</a:t>
            </a:r>
            <a:endParaRPr lang="en-US" sz="1400" dirty="0"/>
          </a:p>
        </p:txBody>
      </p:sp>
      <p:sp>
        <p:nvSpPr>
          <p:cNvPr id="15" name="api card"/>
          <p:cNvSpPr/>
          <p:nvPr/>
        </p:nvSpPr>
        <p:spPr>
          <a:xfrm>
            <a:off x="6492240" y="1371600"/>
            <a:ext cx="5120640" cy="4754880"/>
          </a:xfrm>
          <a:prstGeom prst="roundRect">
            <a:avLst>
              <a:gd name="adj" fmla="val 2308"/>
            </a:avLst>
          </a:prstGeom>
          <a:solidFill>
            <a:schemeClr val="bg2"/>
          </a:solidFill>
          <a:ln/>
        </p:spPr>
      </p:sp>
      <p:sp>
        <p:nvSpPr>
          <p:cNvPr id="16" name="Text 10"/>
          <p:cNvSpPr txBox="1"/>
          <p:nvPr/>
        </p:nvSpPr>
        <p:spPr>
          <a:xfrm>
            <a:off x="6766560" y="1554480"/>
            <a:ext cx="4572000" cy="457200"/>
          </a:xfrm>
          <a:prstGeom prst="rect">
            <a:avLst/>
          </a:prstGeom>
          <a:noFill/>
          <a:ln/>
        </p:spPr>
        <p:txBody>
          <a:bodyPr wrap="square" lIns="0" tIns="0" rIns="0" bIns="0" rtlCol="0" anchor="t"/>
          <a:lstStyle/>
          <a:p>
            <a:pPr indent="0" marL="0">
              <a:buNone/>
            </a:pPr>
            <a:r>
              <a:rPr lang="en-US" sz="2000" b="1" dirty="0">
                <a:solidFill>
                  <a:schemeClr val="tx1"/>
                </a:solidFill>
              </a:rPr>
              <a:t>21 REST endpoints</a:t>
            </a:r>
            <a:endParaRPr lang="en-US" sz="2000" dirty="0"/>
          </a:p>
        </p:txBody>
      </p:sp>
      <p:graphicFrame>
        <p:nvGraphicFramePr>
          <p:cNvPr id="10" name="endpoint table"/>
          <p:cNvGraphicFramePr>
            <a:graphicFrameLocks noGrp="1"/>
          </p:cNvGraphicFramePr>
          <p:nvPr>
            <p:extLst>
              <p:ext uri="{D42A27DB-BD31-4B8C-83A1-F6EECF244321}">
                <p14:modId xmlns:p14="http://schemas.microsoft.com/office/powerpoint/2010/main" val="1579011935"/>
              </p:ext>
            </p:extLst>
          </p:nvPr>
        </p:nvGraphicFramePr>
        <p:xfrm>
          <a:off x="6766560" y="2148840"/>
          <a:ext cx="4572000" cy="914400"/>
        </p:xfrm>
        <a:graphic>
          <a:graphicData uri="http://schemas.openxmlformats.org/drawingml/2006/table">
            <a:tbl>
              <a:tblPr/>
              <a:tblGrid>
                <a:gridCol w="1280160"/>
                <a:gridCol w="3291840"/>
              </a:tblGrid>
              <a:tr h="0">
                <a:tc>
                  <a:txBody>
                    <a:bodyPr/>
                    <a:lstStyle/>
                    <a:p>
                      <a:pPr indent="0" marL="0">
                        <a:buNone/>
                      </a:pPr>
                      <a:r>
                        <a:rPr lang="en-US" sz="1300" b="1" dirty="0">
                          <a:solidFill>
                            <a:schemeClr val="tx1"/>
                          </a:solidFill>
                        </a:rPr>
                        <a:t>Group</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Endpoints</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Auth (6)</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register, login, google, me, password, delete</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Resume (6)</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upload, list, get, file, image, delete</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AI (8)</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analyze, improve, get/edit CV, score, cover letter get/create/edit</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Health (1)</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/api/health for Render</a:t>
                      </a:r>
                      <a:endParaRPr lang="en-US" sz="1300" dirty="0"/>
                    </a:p>
                  </a:txBody>
                  <a:tcPr marL="73152" marR="73152" marT="73152" marB="73152">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bl>
          </a:graphicData>
        </a:graphic>
      </p:graphicFrame>
      <p:sp>
        <p:nvSpPr>
          <p:cNvPr id="18" name="Text 11"/>
          <p:cNvSpPr txBox="1"/>
          <p:nvPr/>
        </p:nvSpPr>
        <p:spPr>
          <a:xfrm>
            <a:off x="6766560" y="5394960"/>
            <a:ext cx="4572000" cy="5486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Authorization: Bearer &lt;JWT&gt;  ·  JSON errors { message, details }</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Testing and continuous integration</a:t>
            </a:r>
            <a:endParaRPr lang="en-US" sz="3600" dirty="0"/>
          </a:p>
        </p:txBody>
      </p:sp>
      <p:sp>
        <p:nvSpPr>
          <p:cNvPr id="3" name="tests stat"/>
          <p:cNvSpPr/>
          <p:nvPr/>
        </p:nvSpPr>
        <p:spPr>
          <a:xfrm>
            <a:off x="548640" y="1371600"/>
            <a:ext cx="3291840" cy="2286000"/>
          </a:xfrm>
          <a:prstGeom prst="roundRect">
            <a:avLst>
              <a:gd name="adj" fmla="val 4800"/>
            </a:avLst>
          </a:prstGeom>
          <a:solidFill>
            <a:schemeClr val="bg2"/>
          </a:solidFill>
          <a:ln/>
        </p:spPr>
      </p:sp>
      <p:sp>
        <p:nvSpPr>
          <p:cNvPr id="4" name="Text 2"/>
          <p:cNvSpPr txBox="1"/>
          <p:nvPr/>
        </p:nvSpPr>
        <p:spPr>
          <a:xfrm>
            <a:off x="822960" y="1508760"/>
            <a:ext cx="2743200" cy="1188720"/>
          </a:xfrm>
          <a:prstGeom prst="rect">
            <a:avLst/>
          </a:prstGeom>
          <a:noFill/>
          <a:ln/>
        </p:spPr>
        <p:txBody>
          <a:bodyPr wrap="square" lIns="0" tIns="0" rIns="0" bIns="0" rtlCol="0" anchor="t"/>
          <a:lstStyle/>
          <a:p>
            <a:pPr indent="0" marL="0">
              <a:buNone/>
            </a:pPr>
            <a:r>
              <a:rPr lang="en-US" sz="7200" b="1" dirty="0">
                <a:solidFill>
                  <a:schemeClr val="accent1"/>
                </a:solidFill>
              </a:rPr>
              <a:t>48</a:t>
            </a:r>
            <a:endParaRPr lang="en-US" sz="7200" dirty="0"/>
          </a:p>
        </p:txBody>
      </p:sp>
      <p:sp>
        <p:nvSpPr>
          <p:cNvPr id="5" name="Text 3"/>
          <p:cNvSpPr txBox="1"/>
          <p:nvPr/>
        </p:nvSpPr>
        <p:spPr>
          <a:xfrm>
            <a:off x="822960" y="2743200"/>
            <a:ext cx="2743200" cy="731520"/>
          </a:xfrm>
          <a:prstGeom prst="rect">
            <a:avLst/>
          </a:prstGeom>
          <a:noFill/>
          <a:ln/>
        </p:spPr>
        <p:txBody>
          <a:bodyPr wrap="square" lIns="0" tIns="0" rIns="0" bIns="0" rtlCol="0" anchor="t"/>
          <a:lstStyle/>
          <a:p>
            <a:pPr indent="0" marL="0">
              <a:buNone/>
            </a:pPr>
            <a:r>
              <a:rPr lang="en-US" sz="1400" dirty="0">
                <a:solidFill>
                  <a:schemeClr val="tx2"/>
                </a:solidFill>
              </a:rPr>
              <a:t>automated API tests, all passing in GitHub Actions</a:t>
            </a:r>
            <a:endParaRPr lang="en-US" sz="1400" dirty="0"/>
          </a:p>
        </p:txBody>
      </p:sp>
      <p:graphicFrame>
        <p:nvGraphicFramePr>
          <p:cNvPr id="6" name="tests per suite chart" descr=""/>
          <p:cNvGraphicFramePr/>
          <p:nvPr/>
        </p:nvGraphicFramePr>
        <p:xfrm>
          <a:off x="4114800" y="1280160"/>
          <a:ext cx="7498080" cy="2560320"/>
        </p:xfrm>
        <a:graphic xmlns:a="http://schemas.openxmlformats.org/drawingml/2006/main">
          <a:graphicData uri="http://schemas.openxmlformats.org/drawingml/2006/chart">
            <c:chart xmlns:c="http://schemas.openxmlformats.org/drawingml/2006/chart" r:id="rId1"/>
          </a:graphicData>
        </a:graphic>
      </p:graphicFrame>
      <p:sp>
        <p:nvSpPr>
          <p:cNvPr id="7" name="test method 1"/>
          <p:cNvSpPr/>
          <p:nvPr/>
        </p:nvSpPr>
        <p:spPr>
          <a:xfrm>
            <a:off x="548640" y="4069080"/>
            <a:ext cx="2587752" cy="2011680"/>
          </a:xfrm>
          <a:prstGeom prst="roundRect">
            <a:avLst>
              <a:gd name="adj" fmla="val 5455"/>
            </a:avLst>
          </a:prstGeom>
          <a:solidFill>
            <a:schemeClr val="bg2"/>
          </a:solidFill>
          <a:ln/>
        </p:spPr>
      </p:sp>
      <p:sp>
        <p:nvSpPr>
          <p:cNvPr id="8" name="test icon 1 circle"/>
          <p:cNvSpPr/>
          <p:nvPr/>
        </p:nvSpPr>
        <p:spPr>
          <a:xfrm>
            <a:off x="777240" y="4251960"/>
            <a:ext cx="548640" cy="548640"/>
          </a:xfrm>
          <a:prstGeom prst="ellipse">
            <a:avLst/>
          </a:prstGeom>
          <a:solidFill>
            <a:schemeClr val="bg1"/>
          </a:solidFill>
          <a:ln/>
        </p:spPr>
      </p:sp>
      <p:pic>
        <p:nvPicPr>
          <p:cNvPr id="9" name="test icon 1" descr="test icon 1">    </p:cNvPr>
          <p:cNvPicPr>
            <a:picLocks noChangeAspect="1"/>
          </p:cNvPicPr>
          <p:nvPr/>
        </p:nvPicPr>
        <p:blipFill>
          <a:blip r:embed="rId2"/>
          <a:stretch>
            <a:fillRect/>
          </a:stretch>
        </p:blipFill>
        <p:spPr>
          <a:xfrm>
            <a:off x="914400" y="4389120"/>
            <a:ext cx="274320" cy="274320"/>
          </a:xfrm>
          <a:prstGeom prst="rect">
            <a:avLst/>
          </a:prstGeom>
        </p:spPr>
      </p:pic>
      <p:sp>
        <p:nvSpPr>
          <p:cNvPr id="10" name="Text 6"/>
          <p:cNvSpPr txBox="1"/>
          <p:nvPr/>
        </p:nvSpPr>
        <p:spPr>
          <a:xfrm>
            <a:off x="777240" y="4892040"/>
            <a:ext cx="2194560" cy="365760"/>
          </a:xfrm>
          <a:prstGeom prst="rect">
            <a:avLst/>
          </a:prstGeom>
          <a:noFill/>
          <a:ln/>
        </p:spPr>
        <p:txBody>
          <a:bodyPr wrap="square" lIns="0" tIns="0" rIns="0" bIns="0" rtlCol="0" anchor="t"/>
          <a:lstStyle/>
          <a:p>
            <a:pPr indent="0" marL="0">
              <a:buNone/>
            </a:pPr>
            <a:r>
              <a:rPr lang="en-US" sz="1500" b="1" dirty="0">
                <a:solidFill>
                  <a:schemeClr val="tx1"/>
                </a:solidFill>
              </a:rPr>
              <a:t>Vitest + Supertest</a:t>
            </a:r>
            <a:endParaRPr lang="en-US" sz="1500" dirty="0"/>
          </a:p>
        </p:txBody>
      </p:sp>
      <p:sp>
        <p:nvSpPr>
          <p:cNvPr id="11" name="Text 7"/>
          <p:cNvSpPr txBox="1"/>
          <p:nvPr/>
        </p:nvSpPr>
        <p:spPr>
          <a:xfrm>
            <a:off x="777240" y="5257800"/>
            <a:ext cx="2194560" cy="731520"/>
          </a:xfrm>
          <a:prstGeom prst="rect">
            <a:avLst/>
          </a:prstGeom>
          <a:noFill/>
          <a:ln/>
        </p:spPr>
        <p:txBody>
          <a:bodyPr wrap="square" lIns="0" tIns="0" rIns="0" bIns="0" rtlCol="0" anchor="t"/>
          <a:lstStyle/>
          <a:p>
            <a:pPr indent="0" marL="0">
              <a:buNone/>
            </a:pPr>
            <a:r>
              <a:rPr lang="en-US" sz="1300" dirty="0">
                <a:solidFill>
                  <a:schemeClr val="tx2"/>
                </a:solidFill>
              </a:rPr>
              <a:t>Real HTTP requests against the Express app</a:t>
            </a:r>
            <a:endParaRPr lang="en-US" sz="1300" dirty="0"/>
          </a:p>
        </p:txBody>
      </p:sp>
      <p:sp>
        <p:nvSpPr>
          <p:cNvPr id="12" name="test method 2"/>
          <p:cNvSpPr/>
          <p:nvPr/>
        </p:nvSpPr>
        <p:spPr>
          <a:xfrm>
            <a:off x="3364992" y="4069080"/>
            <a:ext cx="2587752" cy="2011680"/>
          </a:xfrm>
          <a:prstGeom prst="roundRect">
            <a:avLst>
              <a:gd name="adj" fmla="val 5455"/>
            </a:avLst>
          </a:prstGeom>
          <a:solidFill>
            <a:schemeClr val="bg2"/>
          </a:solidFill>
          <a:ln/>
        </p:spPr>
      </p:sp>
      <p:sp>
        <p:nvSpPr>
          <p:cNvPr id="13" name="test icon 2 circle"/>
          <p:cNvSpPr/>
          <p:nvPr/>
        </p:nvSpPr>
        <p:spPr>
          <a:xfrm>
            <a:off x="3593592" y="4251960"/>
            <a:ext cx="548640" cy="548640"/>
          </a:xfrm>
          <a:prstGeom prst="ellipse">
            <a:avLst/>
          </a:prstGeom>
          <a:solidFill>
            <a:schemeClr val="bg1"/>
          </a:solidFill>
          <a:ln/>
        </p:spPr>
      </p:sp>
      <p:pic>
        <p:nvPicPr>
          <p:cNvPr id="14" name="test icon 2" descr="test icon 2">    </p:cNvPr>
          <p:cNvPicPr>
            <a:picLocks noChangeAspect="1"/>
          </p:cNvPicPr>
          <p:nvPr/>
        </p:nvPicPr>
        <p:blipFill>
          <a:blip r:embed="rId3"/>
          <a:stretch>
            <a:fillRect/>
          </a:stretch>
        </p:blipFill>
        <p:spPr>
          <a:xfrm>
            <a:off x="3730752" y="4389120"/>
            <a:ext cx="274320" cy="274320"/>
          </a:xfrm>
          <a:prstGeom prst="rect">
            <a:avLst/>
          </a:prstGeom>
        </p:spPr>
      </p:pic>
      <p:sp>
        <p:nvSpPr>
          <p:cNvPr id="15" name="Text 10"/>
          <p:cNvSpPr txBox="1"/>
          <p:nvPr/>
        </p:nvSpPr>
        <p:spPr>
          <a:xfrm>
            <a:off x="3593592" y="4892040"/>
            <a:ext cx="2194560" cy="365760"/>
          </a:xfrm>
          <a:prstGeom prst="rect">
            <a:avLst/>
          </a:prstGeom>
          <a:noFill/>
          <a:ln/>
        </p:spPr>
        <p:txBody>
          <a:bodyPr wrap="square" lIns="0" tIns="0" rIns="0" bIns="0" rtlCol="0" anchor="t"/>
          <a:lstStyle/>
          <a:p>
            <a:pPr indent="0" marL="0">
              <a:buNone/>
            </a:pPr>
            <a:r>
              <a:rPr lang="en-US" sz="1500" b="1" dirty="0">
                <a:solidFill>
                  <a:schemeClr val="tx1"/>
                </a:solidFill>
              </a:rPr>
              <a:t>In-memory MongoDB</a:t>
            </a:r>
            <a:endParaRPr lang="en-US" sz="1500" dirty="0"/>
          </a:p>
        </p:txBody>
      </p:sp>
      <p:sp>
        <p:nvSpPr>
          <p:cNvPr id="16" name="Text 11"/>
          <p:cNvSpPr txBox="1"/>
          <p:nvPr/>
        </p:nvSpPr>
        <p:spPr>
          <a:xfrm>
            <a:off x="3593592" y="5257800"/>
            <a:ext cx="2194560" cy="731520"/>
          </a:xfrm>
          <a:prstGeom prst="rect">
            <a:avLst/>
          </a:prstGeom>
          <a:noFill/>
          <a:ln/>
        </p:spPr>
        <p:txBody>
          <a:bodyPr wrap="square" lIns="0" tIns="0" rIns="0" bIns="0" rtlCol="0" anchor="t"/>
          <a:lstStyle/>
          <a:p>
            <a:pPr indent="0" marL="0">
              <a:buNone/>
            </a:pPr>
            <a:r>
              <a:rPr lang="en-US" sz="1300" dirty="0">
                <a:solidFill>
                  <a:schemeClr val="tx2"/>
                </a:solidFill>
              </a:rPr>
              <a:t>Fresh database every run; no real data touched</a:t>
            </a:r>
            <a:endParaRPr lang="en-US" sz="1300" dirty="0"/>
          </a:p>
        </p:txBody>
      </p:sp>
      <p:sp>
        <p:nvSpPr>
          <p:cNvPr id="17" name="test method 3"/>
          <p:cNvSpPr/>
          <p:nvPr/>
        </p:nvSpPr>
        <p:spPr>
          <a:xfrm>
            <a:off x="6181344" y="4069080"/>
            <a:ext cx="2587752" cy="2011680"/>
          </a:xfrm>
          <a:prstGeom prst="roundRect">
            <a:avLst>
              <a:gd name="adj" fmla="val 5455"/>
            </a:avLst>
          </a:prstGeom>
          <a:solidFill>
            <a:schemeClr val="bg2"/>
          </a:solidFill>
          <a:ln/>
        </p:spPr>
      </p:sp>
      <p:sp>
        <p:nvSpPr>
          <p:cNvPr id="18" name="test icon 3 circle"/>
          <p:cNvSpPr/>
          <p:nvPr/>
        </p:nvSpPr>
        <p:spPr>
          <a:xfrm>
            <a:off x="6409944" y="4251960"/>
            <a:ext cx="548640" cy="548640"/>
          </a:xfrm>
          <a:prstGeom prst="ellipse">
            <a:avLst/>
          </a:prstGeom>
          <a:solidFill>
            <a:schemeClr val="bg1"/>
          </a:solidFill>
          <a:ln/>
        </p:spPr>
      </p:sp>
      <p:pic>
        <p:nvPicPr>
          <p:cNvPr id="19" name="test icon 3" descr="test icon 3">    </p:cNvPr>
          <p:cNvPicPr>
            <a:picLocks noChangeAspect="1"/>
          </p:cNvPicPr>
          <p:nvPr/>
        </p:nvPicPr>
        <p:blipFill>
          <a:blip r:embed="rId4"/>
          <a:stretch>
            <a:fillRect/>
          </a:stretch>
        </p:blipFill>
        <p:spPr>
          <a:xfrm>
            <a:off x="6547104" y="4389120"/>
            <a:ext cx="274320" cy="274320"/>
          </a:xfrm>
          <a:prstGeom prst="rect">
            <a:avLst/>
          </a:prstGeom>
        </p:spPr>
      </p:pic>
      <p:sp>
        <p:nvSpPr>
          <p:cNvPr id="20" name="Text 14"/>
          <p:cNvSpPr txBox="1"/>
          <p:nvPr/>
        </p:nvSpPr>
        <p:spPr>
          <a:xfrm>
            <a:off x="6409944" y="4892040"/>
            <a:ext cx="2194560" cy="365760"/>
          </a:xfrm>
          <a:prstGeom prst="rect">
            <a:avLst/>
          </a:prstGeom>
          <a:noFill/>
          <a:ln/>
        </p:spPr>
        <p:txBody>
          <a:bodyPr wrap="square" lIns="0" tIns="0" rIns="0" bIns="0" rtlCol="0" anchor="t"/>
          <a:lstStyle/>
          <a:p>
            <a:pPr indent="0" marL="0">
              <a:buNone/>
            </a:pPr>
            <a:r>
              <a:rPr lang="en-US" sz="1500" b="1" dirty="0">
                <a:solidFill>
                  <a:schemeClr val="tx1"/>
                </a:solidFill>
              </a:rPr>
              <a:t>Gemini mocked</a:t>
            </a:r>
            <a:endParaRPr lang="en-US" sz="1500" dirty="0"/>
          </a:p>
        </p:txBody>
      </p:sp>
      <p:sp>
        <p:nvSpPr>
          <p:cNvPr id="21" name="Text 15"/>
          <p:cNvSpPr txBox="1"/>
          <p:nvPr/>
        </p:nvSpPr>
        <p:spPr>
          <a:xfrm>
            <a:off x="6409944" y="5257800"/>
            <a:ext cx="2194560" cy="731520"/>
          </a:xfrm>
          <a:prstGeom prst="rect">
            <a:avLst/>
          </a:prstGeom>
          <a:noFill/>
          <a:ln/>
        </p:spPr>
        <p:txBody>
          <a:bodyPr wrap="square" lIns="0" tIns="0" rIns="0" bIns="0" rtlCol="0" anchor="t"/>
          <a:lstStyle/>
          <a:p>
            <a:pPr indent="0" marL="0">
              <a:buNone/>
            </a:pPr>
            <a:r>
              <a:rPr lang="en-US" sz="1300" dirty="0">
                <a:solidFill>
                  <a:schemeClr val="tx2"/>
                </a:solidFill>
              </a:rPr>
              <a:t>Fast, repeatable, no API key needed</a:t>
            </a:r>
            <a:endParaRPr lang="en-US" sz="1300" dirty="0"/>
          </a:p>
        </p:txBody>
      </p:sp>
      <p:sp>
        <p:nvSpPr>
          <p:cNvPr id="22" name="test method 4"/>
          <p:cNvSpPr/>
          <p:nvPr/>
        </p:nvSpPr>
        <p:spPr>
          <a:xfrm>
            <a:off x="8997696" y="4069080"/>
            <a:ext cx="2587752" cy="2011680"/>
          </a:xfrm>
          <a:prstGeom prst="roundRect">
            <a:avLst>
              <a:gd name="adj" fmla="val 5455"/>
            </a:avLst>
          </a:prstGeom>
          <a:solidFill>
            <a:schemeClr val="bg2"/>
          </a:solidFill>
          <a:ln/>
        </p:spPr>
      </p:sp>
      <p:sp>
        <p:nvSpPr>
          <p:cNvPr id="23" name="test icon 4 circle"/>
          <p:cNvSpPr/>
          <p:nvPr/>
        </p:nvSpPr>
        <p:spPr>
          <a:xfrm>
            <a:off x="9226296" y="4251960"/>
            <a:ext cx="548640" cy="548640"/>
          </a:xfrm>
          <a:prstGeom prst="ellipse">
            <a:avLst/>
          </a:prstGeom>
          <a:solidFill>
            <a:schemeClr val="bg1"/>
          </a:solidFill>
          <a:ln/>
        </p:spPr>
      </p:sp>
      <p:pic>
        <p:nvPicPr>
          <p:cNvPr id="24" name="test icon 4" descr="test icon 4">    </p:cNvPr>
          <p:cNvPicPr>
            <a:picLocks noChangeAspect="1"/>
          </p:cNvPicPr>
          <p:nvPr/>
        </p:nvPicPr>
        <p:blipFill>
          <a:blip r:embed="rId5"/>
          <a:stretch>
            <a:fillRect/>
          </a:stretch>
        </p:blipFill>
        <p:spPr>
          <a:xfrm>
            <a:off x="9363456" y="4389120"/>
            <a:ext cx="274320" cy="274320"/>
          </a:xfrm>
          <a:prstGeom prst="rect">
            <a:avLst/>
          </a:prstGeom>
        </p:spPr>
      </p:pic>
      <p:sp>
        <p:nvSpPr>
          <p:cNvPr id="25" name="Text 18"/>
          <p:cNvSpPr txBox="1"/>
          <p:nvPr/>
        </p:nvSpPr>
        <p:spPr>
          <a:xfrm>
            <a:off x="9226296" y="4892040"/>
            <a:ext cx="2194560" cy="365760"/>
          </a:xfrm>
          <a:prstGeom prst="rect">
            <a:avLst/>
          </a:prstGeom>
          <a:noFill/>
          <a:ln/>
        </p:spPr>
        <p:txBody>
          <a:bodyPr wrap="square" lIns="0" tIns="0" rIns="0" bIns="0" rtlCol="0" anchor="t"/>
          <a:lstStyle/>
          <a:p>
            <a:pPr indent="0" marL="0">
              <a:buNone/>
            </a:pPr>
            <a:r>
              <a:rPr lang="en-US" sz="1500" b="1" dirty="0">
                <a:solidFill>
                  <a:schemeClr val="tx1"/>
                </a:solidFill>
              </a:rPr>
              <a:t>CI on every push</a:t>
            </a:r>
            <a:endParaRPr lang="en-US" sz="1500" dirty="0"/>
          </a:p>
        </p:txBody>
      </p:sp>
      <p:sp>
        <p:nvSpPr>
          <p:cNvPr id="26" name="Text 19"/>
          <p:cNvSpPr txBox="1"/>
          <p:nvPr/>
        </p:nvSpPr>
        <p:spPr>
          <a:xfrm>
            <a:off x="9226296" y="5257800"/>
            <a:ext cx="2194560" cy="731520"/>
          </a:xfrm>
          <a:prstGeom prst="rect">
            <a:avLst/>
          </a:prstGeom>
          <a:noFill/>
          <a:ln/>
        </p:spPr>
        <p:txBody>
          <a:bodyPr wrap="square" lIns="0" tIns="0" rIns="0" bIns="0" rtlCol="0" anchor="t"/>
          <a:lstStyle/>
          <a:p>
            <a:pPr indent="0" marL="0">
              <a:buNone/>
            </a:pPr>
            <a:r>
              <a:rPr lang="en-US" sz="1300" dirty="0">
                <a:solidFill>
                  <a:schemeClr val="tx2"/>
                </a:solidFill>
              </a:rPr>
              <a:t>Backend tests + frontend type check and build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Deployment: live on the web</a:t>
            </a:r>
            <a:endParaRPr lang="en-US" sz="3600" dirty="0"/>
          </a:p>
        </p:txBody>
      </p:sp>
      <p:sp>
        <p:nvSpPr>
          <p:cNvPr id="3" name="deploy row 1"/>
          <p:cNvSpPr/>
          <p:nvPr/>
        </p:nvSpPr>
        <p:spPr>
          <a:xfrm>
            <a:off x="548640" y="1371600"/>
            <a:ext cx="7315200" cy="1005840"/>
          </a:xfrm>
          <a:prstGeom prst="roundRect">
            <a:avLst>
              <a:gd name="adj" fmla="val 10909"/>
            </a:avLst>
          </a:prstGeom>
          <a:solidFill>
            <a:schemeClr val="bg2"/>
          </a:solidFill>
          <a:ln/>
        </p:spPr>
      </p:sp>
      <p:sp>
        <p:nvSpPr>
          <p:cNvPr id="4" name="deploy icon 1 circle"/>
          <p:cNvSpPr/>
          <p:nvPr/>
        </p:nvSpPr>
        <p:spPr>
          <a:xfrm>
            <a:off x="777240" y="1572768"/>
            <a:ext cx="603504" cy="603504"/>
          </a:xfrm>
          <a:prstGeom prst="ellipse">
            <a:avLst/>
          </a:prstGeom>
          <a:solidFill>
            <a:schemeClr val="bg1"/>
          </a:solidFill>
          <a:ln/>
        </p:spPr>
      </p:sp>
      <p:pic>
        <p:nvPicPr>
          <p:cNvPr id="5" name="deploy icon 1" descr="deploy icon 1">    </p:cNvPr>
          <p:cNvPicPr>
            <a:picLocks noChangeAspect="1"/>
          </p:cNvPicPr>
          <p:nvPr/>
        </p:nvPicPr>
        <p:blipFill>
          <a:blip r:embed="rId1"/>
          <a:stretch>
            <a:fillRect/>
          </a:stretch>
        </p:blipFill>
        <p:spPr>
          <a:xfrm>
            <a:off x="928116" y="1723644"/>
            <a:ext cx="301752" cy="301752"/>
          </a:xfrm>
          <a:prstGeom prst="rect">
            <a:avLst/>
          </a:prstGeom>
        </p:spPr>
      </p:pic>
      <p:sp>
        <p:nvSpPr>
          <p:cNvPr id="6" name="Text 3"/>
          <p:cNvSpPr txBox="1"/>
          <p:nvPr/>
        </p:nvSpPr>
        <p:spPr>
          <a:xfrm>
            <a:off x="1600200" y="1527048"/>
            <a:ext cx="6126480" cy="365760"/>
          </a:xfrm>
          <a:prstGeom prst="rect">
            <a:avLst/>
          </a:prstGeom>
          <a:noFill/>
          <a:ln/>
        </p:spPr>
        <p:txBody>
          <a:bodyPr wrap="square" lIns="0" tIns="0" rIns="0" bIns="0" rtlCol="0" anchor="t"/>
          <a:lstStyle/>
          <a:p>
            <a:pPr indent="0" marL="0">
              <a:buNone/>
            </a:pPr>
            <a:r>
              <a:rPr lang="en-US" sz="1600" b="1" dirty="0">
                <a:solidFill>
                  <a:schemeClr val="tx1"/>
                </a:solidFill>
              </a:rPr>
              <a:t>Vercel  </a:t>
            </a:r>
            <a:pPr indent="0" marL="0">
              <a:buNone/>
            </a:pPr>
            <a:r>
              <a:rPr lang="en-US" sz="1600" dirty="0">
                <a:solidFill>
                  <a:schemeClr val="tx2"/>
                </a:solidFill>
              </a:rPr>
              <a:t>Frontend · static SPA</a:t>
            </a:r>
            <a:endParaRPr lang="en-US" sz="1600" dirty="0"/>
          </a:p>
        </p:txBody>
      </p:sp>
      <p:sp>
        <p:nvSpPr>
          <p:cNvPr id="7" name="Text 4"/>
          <p:cNvSpPr txBox="1"/>
          <p:nvPr/>
        </p:nvSpPr>
        <p:spPr>
          <a:xfrm>
            <a:off x="1600200" y="1920240"/>
            <a:ext cx="6126480" cy="320040"/>
          </a:xfrm>
          <a:prstGeom prst="rect">
            <a:avLst/>
          </a:prstGeom>
          <a:noFill/>
          <a:ln/>
        </p:spPr>
        <p:txBody>
          <a:bodyPr wrap="square" lIns="0" tIns="0" rIns="0" bIns="0" rtlCol="0" anchor="t"/>
          <a:lstStyle/>
          <a:p>
            <a:pPr indent="0" marL="0">
              <a:buNone/>
            </a:pPr>
            <a:r>
              <a:rPr lang="en-US" sz="1300" dirty="0">
                <a:solidFill>
                  <a:schemeClr val="accent1"/>
                </a:solidFill>
              </a:rPr>
              <a:t>https://ai-resume-analyzer-psi-lime.vercel.app</a:t>
            </a:r>
            <a:endParaRPr lang="en-US" sz="1300" dirty="0"/>
          </a:p>
        </p:txBody>
      </p:sp>
      <p:sp>
        <p:nvSpPr>
          <p:cNvPr id="8" name="deploy row 2"/>
          <p:cNvSpPr/>
          <p:nvPr/>
        </p:nvSpPr>
        <p:spPr>
          <a:xfrm>
            <a:off x="548640" y="2560320"/>
            <a:ext cx="7315200" cy="1005840"/>
          </a:xfrm>
          <a:prstGeom prst="roundRect">
            <a:avLst>
              <a:gd name="adj" fmla="val 10909"/>
            </a:avLst>
          </a:prstGeom>
          <a:solidFill>
            <a:schemeClr val="bg2"/>
          </a:solidFill>
          <a:ln/>
        </p:spPr>
      </p:sp>
      <p:sp>
        <p:nvSpPr>
          <p:cNvPr id="9" name="deploy icon 2 circle"/>
          <p:cNvSpPr/>
          <p:nvPr/>
        </p:nvSpPr>
        <p:spPr>
          <a:xfrm>
            <a:off x="777240" y="2761488"/>
            <a:ext cx="603504" cy="603504"/>
          </a:xfrm>
          <a:prstGeom prst="ellipse">
            <a:avLst/>
          </a:prstGeom>
          <a:solidFill>
            <a:schemeClr val="bg1"/>
          </a:solidFill>
          <a:ln/>
        </p:spPr>
      </p:sp>
      <p:pic>
        <p:nvPicPr>
          <p:cNvPr id="10" name="deploy icon 2" descr="deploy icon 2">    </p:cNvPr>
          <p:cNvPicPr>
            <a:picLocks noChangeAspect="1"/>
          </p:cNvPicPr>
          <p:nvPr/>
        </p:nvPicPr>
        <p:blipFill>
          <a:blip r:embed="rId2"/>
          <a:stretch>
            <a:fillRect/>
          </a:stretch>
        </p:blipFill>
        <p:spPr>
          <a:xfrm>
            <a:off x="928116" y="2912364"/>
            <a:ext cx="301752" cy="301752"/>
          </a:xfrm>
          <a:prstGeom prst="rect">
            <a:avLst/>
          </a:prstGeom>
        </p:spPr>
      </p:pic>
      <p:sp>
        <p:nvSpPr>
          <p:cNvPr id="11" name="Text 7"/>
          <p:cNvSpPr txBox="1"/>
          <p:nvPr/>
        </p:nvSpPr>
        <p:spPr>
          <a:xfrm>
            <a:off x="1600200" y="2715768"/>
            <a:ext cx="6126480" cy="365760"/>
          </a:xfrm>
          <a:prstGeom prst="rect">
            <a:avLst/>
          </a:prstGeom>
          <a:noFill/>
          <a:ln/>
        </p:spPr>
        <p:txBody>
          <a:bodyPr wrap="square" lIns="0" tIns="0" rIns="0" bIns="0" rtlCol="0" anchor="t"/>
          <a:lstStyle/>
          <a:p>
            <a:pPr indent="0" marL="0">
              <a:buNone/>
            </a:pPr>
            <a:r>
              <a:rPr lang="en-US" sz="1600" b="1" dirty="0">
                <a:solidFill>
                  <a:schemeClr val="tx1"/>
                </a:solidFill>
              </a:rPr>
              <a:t>Render  </a:t>
            </a:r>
            <a:pPr indent="0" marL="0">
              <a:buNone/>
            </a:pPr>
            <a:r>
              <a:rPr lang="en-US" sz="1600" dirty="0">
                <a:solidFill>
                  <a:schemeClr val="tx2"/>
                </a:solidFill>
              </a:rPr>
              <a:t>Backend · render.yaml Blueprint</a:t>
            </a:r>
            <a:endParaRPr lang="en-US" sz="1600" dirty="0"/>
          </a:p>
        </p:txBody>
      </p:sp>
      <p:sp>
        <p:nvSpPr>
          <p:cNvPr id="12" name="Text 8"/>
          <p:cNvSpPr txBox="1"/>
          <p:nvPr/>
        </p:nvSpPr>
        <p:spPr>
          <a:xfrm>
            <a:off x="1600200" y="3108960"/>
            <a:ext cx="6126480" cy="320040"/>
          </a:xfrm>
          <a:prstGeom prst="rect">
            <a:avLst/>
          </a:prstGeom>
          <a:noFill/>
          <a:ln/>
        </p:spPr>
        <p:txBody>
          <a:bodyPr wrap="square" lIns="0" tIns="0" rIns="0" bIns="0" rtlCol="0" anchor="t"/>
          <a:lstStyle/>
          <a:p>
            <a:pPr indent="0" marL="0">
              <a:buNone/>
            </a:pPr>
            <a:r>
              <a:rPr lang="en-US" sz="1300" dirty="0">
                <a:solidFill>
                  <a:schemeClr val="accent1"/>
                </a:solidFill>
              </a:rPr>
              <a:t>resumind-api-3kpd.onrender.com</a:t>
            </a:r>
            <a:endParaRPr lang="en-US" sz="1300" dirty="0"/>
          </a:p>
        </p:txBody>
      </p:sp>
      <p:sp>
        <p:nvSpPr>
          <p:cNvPr id="13" name="deploy row 3"/>
          <p:cNvSpPr/>
          <p:nvPr/>
        </p:nvSpPr>
        <p:spPr>
          <a:xfrm>
            <a:off x="548640" y="3749040"/>
            <a:ext cx="7315200" cy="1005840"/>
          </a:xfrm>
          <a:prstGeom prst="roundRect">
            <a:avLst>
              <a:gd name="adj" fmla="val 10909"/>
            </a:avLst>
          </a:prstGeom>
          <a:solidFill>
            <a:schemeClr val="bg2"/>
          </a:solidFill>
          <a:ln/>
        </p:spPr>
      </p:sp>
      <p:sp>
        <p:nvSpPr>
          <p:cNvPr id="14" name="deploy icon 3 circle"/>
          <p:cNvSpPr/>
          <p:nvPr/>
        </p:nvSpPr>
        <p:spPr>
          <a:xfrm>
            <a:off x="777240" y="3950208"/>
            <a:ext cx="603504" cy="603504"/>
          </a:xfrm>
          <a:prstGeom prst="ellipse">
            <a:avLst/>
          </a:prstGeom>
          <a:solidFill>
            <a:schemeClr val="bg1"/>
          </a:solidFill>
          <a:ln/>
        </p:spPr>
      </p:sp>
      <p:pic>
        <p:nvPicPr>
          <p:cNvPr id="15" name="deploy icon 3" descr="deploy icon 3">    </p:cNvPr>
          <p:cNvPicPr>
            <a:picLocks noChangeAspect="1"/>
          </p:cNvPicPr>
          <p:nvPr/>
        </p:nvPicPr>
        <p:blipFill>
          <a:blip r:embed="rId3"/>
          <a:stretch>
            <a:fillRect/>
          </a:stretch>
        </p:blipFill>
        <p:spPr>
          <a:xfrm>
            <a:off x="928116" y="4101084"/>
            <a:ext cx="301752" cy="301752"/>
          </a:xfrm>
          <a:prstGeom prst="rect">
            <a:avLst/>
          </a:prstGeom>
        </p:spPr>
      </p:pic>
      <p:sp>
        <p:nvSpPr>
          <p:cNvPr id="16" name="Text 11"/>
          <p:cNvSpPr txBox="1"/>
          <p:nvPr/>
        </p:nvSpPr>
        <p:spPr>
          <a:xfrm>
            <a:off x="1600200" y="3904488"/>
            <a:ext cx="6126480" cy="365760"/>
          </a:xfrm>
          <a:prstGeom prst="rect">
            <a:avLst/>
          </a:prstGeom>
          <a:noFill/>
          <a:ln/>
        </p:spPr>
        <p:txBody>
          <a:bodyPr wrap="square" lIns="0" tIns="0" rIns="0" bIns="0" rtlCol="0" anchor="t"/>
          <a:lstStyle/>
          <a:p>
            <a:pPr indent="0" marL="0">
              <a:buNone/>
            </a:pPr>
            <a:r>
              <a:rPr lang="en-US" sz="1600" b="1" dirty="0">
                <a:solidFill>
                  <a:schemeClr val="tx1"/>
                </a:solidFill>
              </a:rPr>
              <a:t>MongoDB Atlas  </a:t>
            </a:r>
            <a:pPr indent="0" marL="0">
              <a:buNone/>
            </a:pPr>
            <a:r>
              <a:rPr lang="en-US" sz="1600" dirty="0">
                <a:solidFill>
                  <a:schemeClr val="tx2"/>
                </a:solidFill>
              </a:rPr>
              <a:t>Database + GridFS files</a:t>
            </a:r>
            <a:endParaRPr lang="en-US" sz="1600" dirty="0"/>
          </a:p>
        </p:txBody>
      </p:sp>
      <p:sp>
        <p:nvSpPr>
          <p:cNvPr id="17" name="Text 12"/>
          <p:cNvSpPr txBox="1"/>
          <p:nvPr/>
        </p:nvSpPr>
        <p:spPr>
          <a:xfrm>
            <a:off x="1600200" y="4297680"/>
            <a:ext cx="6126480" cy="320040"/>
          </a:xfrm>
          <a:prstGeom prst="rect">
            <a:avLst/>
          </a:prstGeom>
          <a:noFill/>
          <a:ln/>
        </p:spPr>
        <p:txBody>
          <a:bodyPr wrap="square" lIns="0" tIns="0" rIns="0" bIns="0" rtlCol="0" anchor="t"/>
          <a:lstStyle/>
          <a:p>
            <a:pPr indent="0" marL="0">
              <a:buNone/>
            </a:pPr>
            <a:r>
              <a:rPr lang="en-US" sz="1300" dirty="0">
                <a:solidFill>
                  <a:schemeClr val="accent1"/>
                </a:solidFill>
              </a:rPr>
              <a:t>M0 cluster</a:t>
            </a:r>
            <a:endParaRPr lang="en-US" sz="1300" dirty="0"/>
          </a:p>
        </p:txBody>
      </p:sp>
      <p:sp>
        <p:nvSpPr>
          <p:cNvPr id="18" name="deploy row 4"/>
          <p:cNvSpPr/>
          <p:nvPr/>
        </p:nvSpPr>
        <p:spPr>
          <a:xfrm>
            <a:off x="548640" y="4937760"/>
            <a:ext cx="7315200" cy="1005840"/>
          </a:xfrm>
          <a:prstGeom prst="roundRect">
            <a:avLst>
              <a:gd name="adj" fmla="val 10909"/>
            </a:avLst>
          </a:prstGeom>
          <a:solidFill>
            <a:schemeClr val="bg2"/>
          </a:solidFill>
          <a:ln/>
        </p:spPr>
      </p:sp>
      <p:sp>
        <p:nvSpPr>
          <p:cNvPr id="19" name="deploy icon 4 circle"/>
          <p:cNvSpPr/>
          <p:nvPr/>
        </p:nvSpPr>
        <p:spPr>
          <a:xfrm>
            <a:off x="777240" y="5138928"/>
            <a:ext cx="603504" cy="603504"/>
          </a:xfrm>
          <a:prstGeom prst="ellipse">
            <a:avLst/>
          </a:prstGeom>
          <a:solidFill>
            <a:schemeClr val="bg1"/>
          </a:solidFill>
          <a:ln/>
        </p:spPr>
      </p:sp>
      <p:pic>
        <p:nvPicPr>
          <p:cNvPr id="20" name="deploy icon 4" descr="deploy icon 4">    </p:cNvPr>
          <p:cNvPicPr>
            <a:picLocks noChangeAspect="1"/>
          </p:cNvPicPr>
          <p:nvPr/>
        </p:nvPicPr>
        <p:blipFill>
          <a:blip r:embed="rId4"/>
          <a:stretch>
            <a:fillRect/>
          </a:stretch>
        </p:blipFill>
        <p:spPr>
          <a:xfrm>
            <a:off x="928116" y="5289804"/>
            <a:ext cx="301752" cy="301752"/>
          </a:xfrm>
          <a:prstGeom prst="rect">
            <a:avLst/>
          </a:prstGeom>
        </p:spPr>
      </p:pic>
      <p:sp>
        <p:nvSpPr>
          <p:cNvPr id="21" name="Text 15"/>
          <p:cNvSpPr txBox="1"/>
          <p:nvPr/>
        </p:nvSpPr>
        <p:spPr>
          <a:xfrm>
            <a:off x="1600200" y="5093208"/>
            <a:ext cx="6126480" cy="365760"/>
          </a:xfrm>
          <a:prstGeom prst="rect">
            <a:avLst/>
          </a:prstGeom>
          <a:noFill/>
          <a:ln/>
        </p:spPr>
        <p:txBody>
          <a:bodyPr wrap="square" lIns="0" tIns="0" rIns="0" bIns="0" rtlCol="0" anchor="t"/>
          <a:lstStyle/>
          <a:p>
            <a:pPr indent="0" marL="0">
              <a:buNone/>
            </a:pPr>
            <a:r>
              <a:rPr lang="en-US" sz="1600" b="1" dirty="0">
                <a:solidFill>
                  <a:schemeClr val="tx1"/>
                </a:solidFill>
              </a:rPr>
              <a:t>GitHub Actions  </a:t>
            </a:r>
            <a:pPr indent="0" marL="0">
              <a:buNone/>
            </a:pPr>
            <a:r>
              <a:rPr lang="en-US" sz="1600" dirty="0">
                <a:solidFill>
                  <a:schemeClr val="tx2"/>
                </a:solidFill>
              </a:rPr>
              <a:t>Tests before every deploy</a:t>
            </a:r>
            <a:endParaRPr lang="en-US" sz="1600" dirty="0"/>
          </a:p>
        </p:txBody>
      </p:sp>
      <p:sp>
        <p:nvSpPr>
          <p:cNvPr id="22" name="Text 16"/>
          <p:cNvSpPr txBox="1"/>
          <p:nvPr/>
        </p:nvSpPr>
        <p:spPr>
          <a:xfrm>
            <a:off x="1600200" y="5486400"/>
            <a:ext cx="6126480" cy="320040"/>
          </a:xfrm>
          <a:prstGeom prst="rect">
            <a:avLst/>
          </a:prstGeom>
          <a:noFill/>
          <a:ln/>
        </p:spPr>
        <p:txBody>
          <a:bodyPr wrap="square" lIns="0" tIns="0" rIns="0" bIns="0" rtlCol="0" anchor="t"/>
          <a:lstStyle/>
          <a:p>
            <a:pPr indent="0" marL="0">
              <a:buNone/>
            </a:pPr>
            <a:r>
              <a:rPr lang="en-US" sz="1300" dirty="0">
                <a:solidFill>
                  <a:schemeClr val="accent1"/>
                </a:solidFill>
              </a:rPr>
              <a:t>github.com/mahamud894/AI_Resume_Analyzer</a:t>
            </a:r>
            <a:endParaRPr lang="en-US" sz="1300" dirty="0"/>
          </a:p>
        </p:txBody>
      </p:sp>
      <p:sp>
        <p:nvSpPr>
          <p:cNvPr id="23" name="deploy qr card"/>
          <p:cNvSpPr/>
          <p:nvPr/>
        </p:nvSpPr>
        <p:spPr>
          <a:xfrm>
            <a:off x="8229600" y="1371600"/>
            <a:ext cx="3383280" cy="4572000"/>
          </a:xfrm>
          <a:prstGeom prst="roundRect">
            <a:avLst>
              <a:gd name="adj" fmla="val 3243"/>
            </a:avLst>
          </a:prstGeom>
          <a:solidFill>
            <a:schemeClr val="bg2"/>
          </a:solidFill>
          <a:ln/>
        </p:spPr>
      </p:sp>
      <p:pic>
        <p:nvPicPr>
          <p:cNvPr id="24" name="deploy QR" descr="QR code to the live app">    </p:cNvPr>
          <p:cNvPicPr>
            <a:picLocks noChangeAspect="1"/>
          </p:cNvPicPr>
          <p:nvPr/>
        </p:nvPicPr>
        <p:blipFill>
          <a:blip r:embed="rId5"/>
          <a:stretch>
            <a:fillRect/>
          </a:stretch>
        </p:blipFill>
        <p:spPr>
          <a:xfrm>
            <a:off x="8641080" y="1645920"/>
            <a:ext cx="2560320" cy="2560320"/>
          </a:xfrm>
          <a:prstGeom prst="rect">
            <a:avLst/>
          </a:prstGeom>
        </p:spPr>
      </p:pic>
      <p:sp>
        <p:nvSpPr>
          <p:cNvPr id="25" name="Text 18"/>
          <p:cNvSpPr txBox="1"/>
          <p:nvPr/>
        </p:nvSpPr>
        <p:spPr>
          <a:xfrm>
            <a:off x="8229600" y="4343400"/>
            <a:ext cx="3383280" cy="365760"/>
          </a:xfrm>
          <a:prstGeom prst="rect">
            <a:avLst/>
          </a:prstGeom>
          <a:noFill/>
          <a:ln/>
        </p:spPr>
        <p:txBody>
          <a:bodyPr wrap="square" lIns="0" tIns="0" rIns="0" bIns="0" rtlCol="0" anchor="t"/>
          <a:lstStyle/>
          <a:p>
            <a:pPr algn="ctr" indent="0" marL="0">
              <a:buNone/>
            </a:pPr>
            <a:r>
              <a:rPr lang="en-US" sz="1800" b="1" dirty="0">
                <a:solidFill>
                  <a:schemeClr val="tx1"/>
                </a:solidFill>
              </a:rPr>
              <a:t>Try it now</a:t>
            </a:r>
            <a:endParaRPr lang="en-US" sz="1800" dirty="0"/>
          </a:p>
        </p:txBody>
      </p:sp>
      <p:sp>
        <p:nvSpPr>
          <p:cNvPr id="26" name="Text 19"/>
          <p:cNvSpPr txBox="1"/>
          <p:nvPr/>
        </p:nvSpPr>
        <p:spPr>
          <a:xfrm>
            <a:off x="8503920" y="4754880"/>
            <a:ext cx="2834640" cy="1005840"/>
          </a:xfrm>
          <a:prstGeom prst="rect">
            <a:avLst/>
          </a:prstGeom>
          <a:noFill/>
          <a:ln/>
        </p:spPr>
        <p:txBody>
          <a:bodyPr wrap="square" lIns="0" tIns="0" rIns="0" bIns="0" rtlCol="0" anchor="t"/>
          <a:lstStyle/>
          <a:p>
            <a:pPr algn="ctr" indent="0" marL="0">
              <a:buNone/>
            </a:pPr>
            <a:r>
              <a:rPr lang="en-US" sz="1300" dirty="0">
                <a:solidFill>
                  <a:schemeClr val="tx2"/>
                </a:solidFill>
              </a:rPr>
              <a:t>Secrets live only in .env and the Render / Vercel dashboards — never in Git.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Live demonstration</a:t>
            </a:r>
            <a:endParaRPr lang="en-US" sz="3600" dirty="0"/>
          </a:p>
        </p:txBody>
      </p:sp>
      <p:sp>
        <p:nvSpPr>
          <p:cNvPr id="3" name="demo step 1"/>
          <p:cNvSpPr/>
          <p:nvPr/>
        </p:nvSpPr>
        <p:spPr>
          <a:xfrm>
            <a:off x="548640" y="1417320"/>
            <a:ext cx="548640" cy="548640"/>
          </a:xfrm>
          <a:prstGeom prst="ellipse">
            <a:avLst/>
          </a:prstGeom>
          <a:solidFill>
            <a:schemeClr val="accent1"/>
          </a:solidFill>
          <a:ln/>
        </p:spPr>
      </p:sp>
      <p:sp>
        <p:nvSpPr>
          <p:cNvPr id="4" name="Text 2"/>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280160" y="1435608"/>
            <a:ext cx="2926080" cy="548640"/>
          </a:xfrm>
          <a:prstGeom prst="rect">
            <a:avLst/>
          </a:prstGeom>
          <a:noFill/>
          <a:ln/>
        </p:spPr>
        <p:txBody>
          <a:bodyPr wrap="square" lIns="0" tIns="0" rIns="0" bIns="0" rtlCol="0" anchor="ctr"/>
          <a:lstStyle/>
          <a:p>
            <a:pPr indent="0" marL="0">
              <a:buNone/>
            </a:pPr>
            <a:r>
              <a:rPr lang="en-US" sz="1500" dirty="0">
                <a:solidFill>
                  <a:schemeClr val="bg1"/>
                </a:solidFill>
              </a:rPr>
              <a:t>Open the live site on laptop and phone</a:t>
            </a:r>
            <a:endParaRPr lang="en-US" sz="1500" dirty="0"/>
          </a:p>
        </p:txBody>
      </p:sp>
      <p:sp>
        <p:nvSpPr>
          <p:cNvPr id="6" name="demo step 2"/>
          <p:cNvSpPr/>
          <p:nvPr/>
        </p:nvSpPr>
        <p:spPr>
          <a:xfrm>
            <a:off x="4389120" y="1417320"/>
            <a:ext cx="548640" cy="548640"/>
          </a:xfrm>
          <a:prstGeom prst="ellipse">
            <a:avLst/>
          </a:prstGeom>
          <a:solidFill>
            <a:schemeClr val="accent1"/>
          </a:solidFill>
          <a:ln/>
        </p:spPr>
      </p:sp>
      <p:sp>
        <p:nvSpPr>
          <p:cNvPr id="7" name="Text 5"/>
          <p:cNvSpPr txBox="1"/>
          <p:nvPr/>
        </p:nvSpPr>
        <p:spPr>
          <a:xfrm>
            <a:off x="438912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 6"/>
          <p:cNvSpPr txBox="1"/>
          <p:nvPr/>
        </p:nvSpPr>
        <p:spPr>
          <a:xfrm>
            <a:off x="5120640" y="1435608"/>
            <a:ext cx="2926080" cy="548640"/>
          </a:xfrm>
          <a:prstGeom prst="rect">
            <a:avLst/>
          </a:prstGeom>
          <a:noFill/>
          <a:ln/>
        </p:spPr>
        <p:txBody>
          <a:bodyPr wrap="square" lIns="0" tIns="0" rIns="0" bIns="0" rtlCol="0" anchor="ctr"/>
          <a:lstStyle/>
          <a:p>
            <a:pPr indent="0" marL="0">
              <a:buNone/>
            </a:pPr>
            <a:r>
              <a:rPr lang="en-US" sz="1500" dirty="0">
                <a:solidFill>
                  <a:schemeClr val="bg1"/>
                </a:solidFill>
              </a:rPr>
              <a:t>Sign up / Sign in with Google</a:t>
            </a:r>
            <a:endParaRPr lang="en-US" sz="1500" dirty="0"/>
          </a:p>
        </p:txBody>
      </p:sp>
      <p:sp>
        <p:nvSpPr>
          <p:cNvPr id="9" name="demo step 3"/>
          <p:cNvSpPr/>
          <p:nvPr/>
        </p:nvSpPr>
        <p:spPr>
          <a:xfrm>
            <a:off x="548640" y="2560320"/>
            <a:ext cx="548640" cy="548640"/>
          </a:xfrm>
          <a:prstGeom prst="ellipse">
            <a:avLst/>
          </a:prstGeom>
          <a:solidFill>
            <a:schemeClr val="accent1"/>
          </a:solidFill>
          <a:ln/>
        </p:spPr>
      </p:sp>
      <p:sp>
        <p:nvSpPr>
          <p:cNvPr id="10" name="Text 8"/>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 9"/>
          <p:cNvSpPr txBox="1"/>
          <p:nvPr/>
        </p:nvSpPr>
        <p:spPr>
          <a:xfrm>
            <a:off x="1280160" y="2578608"/>
            <a:ext cx="2926080" cy="548640"/>
          </a:xfrm>
          <a:prstGeom prst="rect">
            <a:avLst/>
          </a:prstGeom>
          <a:noFill/>
          <a:ln/>
        </p:spPr>
        <p:txBody>
          <a:bodyPr wrap="square" lIns="0" tIns="0" rIns="0" bIns="0" rtlCol="0" anchor="ctr"/>
          <a:lstStyle/>
          <a:p>
            <a:pPr indent="0" marL="0">
              <a:buNone/>
            </a:pPr>
            <a:r>
              <a:rPr lang="en-US" sz="1500" dirty="0">
                <a:solidFill>
                  <a:schemeClr val="bg1"/>
                </a:solidFill>
              </a:rPr>
              <a:t>Upload a resume for a real job</a:t>
            </a:r>
            <a:endParaRPr lang="en-US" sz="1500" dirty="0"/>
          </a:p>
        </p:txBody>
      </p:sp>
      <p:sp>
        <p:nvSpPr>
          <p:cNvPr id="12" name="demo step 4"/>
          <p:cNvSpPr/>
          <p:nvPr/>
        </p:nvSpPr>
        <p:spPr>
          <a:xfrm>
            <a:off x="4389120" y="2560320"/>
            <a:ext cx="548640" cy="548640"/>
          </a:xfrm>
          <a:prstGeom prst="ellipse">
            <a:avLst/>
          </a:prstGeom>
          <a:solidFill>
            <a:schemeClr val="accent1"/>
          </a:solidFill>
          <a:ln/>
        </p:spPr>
      </p:sp>
      <p:sp>
        <p:nvSpPr>
          <p:cNvPr id="13" name="Text 11"/>
          <p:cNvSpPr txBox="1"/>
          <p:nvPr/>
        </p:nvSpPr>
        <p:spPr>
          <a:xfrm>
            <a:off x="4389120" y="2560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Text 12"/>
          <p:cNvSpPr txBox="1"/>
          <p:nvPr/>
        </p:nvSpPr>
        <p:spPr>
          <a:xfrm>
            <a:off x="5120640" y="2578608"/>
            <a:ext cx="2926080" cy="548640"/>
          </a:xfrm>
          <a:prstGeom prst="rect">
            <a:avLst/>
          </a:prstGeom>
          <a:noFill/>
          <a:ln/>
        </p:spPr>
        <p:txBody>
          <a:bodyPr wrap="square" lIns="0" tIns="0" rIns="0" bIns="0" rtlCol="0" anchor="ctr"/>
          <a:lstStyle/>
          <a:p>
            <a:pPr indent="0" marL="0">
              <a:buNone/>
            </a:pPr>
            <a:r>
              <a:rPr lang="en-US" sz="1500" dirty="0">
                <a:solidFill>
                  <a:schemeClr val="bg1"/>
                </a:solidFill>
              </a:rPr>
              <a:t>Read the scores and tips</a:t>
            </a:r>
            <a:endParaRPr lang="en-US" sz="1500" dirty="0"/>
          </a:p>
        </p:txBody>
      </p:sp>
      <p:sp>
        <p:nvSpPr>
          <p:cNvPr id="15" name="demo step 5"/>
          <p:cNvSpPr/>
          <p:nvPr/>
        </p:nvSpPr>
        <p:spPr>
          <a:xfrm>
            <a:off x="548640" y="3703320"/>
            <a:ext cx="548640" cy="548640"/>
          </a:xfrm>
          <a:prstGeom prst="ellipse">
            <a:avLst/>
          </a:prstGeom>
          <a:solidFill>
            <a:schemeClr val="accent1"/>
          </a:solidFill>
          <a:ln/>
        </p:spPr>
      </p:sp>
      <p:sp>
        <p:nvSpPr>
          <p:cNvPr id="16" name="Text 14"/>
          <p:cNvSpPr txBox="1"/>
          <p:nvPr/>
        </p:nvSpPr>
        <p:spPr>
          <a:xfrm>
            <a:off x="548640" y="3703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7" name="Text 15"/>
          <p:cNvSpPr txBox="1"/>
          <p:nvPr/>
        </p:nvSpPr>
        <p:spPr>
          <a:xfrm>
            <a:off x="1280160" y="3721608"/>
            <a:ext cx="2926080" cy="548640"/>
          </a:xfrm>
          <a:prstGeom prst="rect">
            <a:avLst/>
          </a:prstGeom>
          <a:noFill/>
          <a:ln/>
        </p:spPr>
        <p:txBody>
          <a:bodyPr wrap="square" lIns="0" tIns="0" rIns="0" bIns="0" rtlCol="0" anchor="ctr"/>
          <a:lstStyle/>
          <a:p>
            <a:pPr indent="0" marL="0">
              <a:buNone/>
            </a:pPr>
            <a:r>
              <a:rPr lang="en-US" sz="1500" dirty="0">
                <a:solidFill>
                  <a:schemeClr val="bg1"/>
                </a:solidFill>
              </a:rPr>
              <a:t>Improve to Europass, edit a line</a:t>
            </a:r>
            <a:endParaRPr lang="en-US" sz="1500" dirty="0"/>
          </a:p>
        </p:txBody>
      </p:sp>
      <p:sp>
        <p:nvSpPr>
          <p:cNvPr id="18" name="demo step 6"/>
          <p:cNvSpPr/>
          <p:nvPr/>
        </p:nvSpPr>
        <p:spPr>
          <a:xfrm>
            <a:off x="4389120" y="3703320"/>
            <a:ext cx="548640" cy="548640"/>
          </a:xfrm>
          <a:prstGeom prst="ellipse">
            <a:avLst/>
          </a:prstGeom>
          <a:solidFill>
            <a:schemeClr val="accent1"/>
          </a:solidFill>
          <a:ln/>
        </p:spPr>
      </p:sp>
      <p:sp>
        <p:nvSpPr>
          <p:cNvPr id="19" name="Text 17"/>
          <p:cNvSpPr txBox="1"/>
          <p:nvPr/>
        </p:nvSpPr>
        <p:spPr>
          <a:xfrm>
            <a:off x="4389120" y="3703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0" name="Text 18"/>
          <p:cNvSpPr txBox="1"/>
          <p:nvPr/>
        </p:nvSpPr>
        <p:spPr>
          <a:xfrm>
            <a:off x="5120640" y="3721608"/>
            <a:ext cx="2926080" cy="548640"/>
          </a:xfrm>
          <a:prstGeom prst="rect">
            <a:avLst/>
          </a:prstGeom>
          <a:noFill/>
          <a:ln/>
        </p:spPr>
        <p:txBody>
          <a:bodyPr wrap="square" lIns="0" tIns="0" rIns="0" bIns="0" rtlCol="0" anchor="ctr"/>
          <a:lstStyle/>
          <a:p>
            <a:pPr indent="0" marL="0">
              <a:buNone/>
            </a:pPr>
            <a:r>
              <a:rPr lang="en-US" sz="1500" dirty="0">
                <a:solidFill>
                  <a:schemeClr val="bg1"/>
                </a:solidFill>
              </a:rPr>
              <a:t>Score the improved CV</a:t>
            </a:r>
            <a:endParaRPr lang="en-US" sz="1500" dirty="0"/>
          </a:p>
        </p:txBody>
      </p:sp>
      <p:sp>
        <p:nvSpPr>
          <p:cNvPr id="21" name="demo step 7"/>
          <p:cNvSpPr/>
          <p:nvPr/>
        </p:nvSpPr>
        <p:spPr>
          <a:xfrm>
            <a:off x="548640" y="4846320"/>
            <a:ext cx="548640" cy="548640"/>
          </a:xfrm>
          <a:prstGeom prst="ellipse">
            <a:avLst/>
          </a:prstGeom>
          <a:solidFill>
            <a:schemeClr val="accent1"/>
          </a:solidFill>
          <a:ln/>
        </p:spPr>
      </p:sp>
      <p:sp>
        <p:nvSpPr>
          <p:cNvPr id="22" name="Text 20"/>
          <p:cNvSpPr txBox="1"/>
          <p:nvPr/>
        </p:nvSpPr>
        <p:spPr>
          <a:xfrm>
            <a:off x="548640" y="4846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23" name="Text 21"/>
          <p:cNvSpPr txBox="1"/>
          <p:nvPr/>
        </p:nvSpPr>
        <p:spPr>
          <a:xfrm>
            <a:off x="1280160" y="4864608"/>
            <a:ext cx="2926080" cy="548640"/>
          </a:xfrm>
          <a:prstGeom prst="rect">
            <a:avLst/>
          </a:prstGeom>
          <a:noFill/>
          <a:ln/>
        </p:spPr>
        <p:txBody>
          <a:bodyPr wrap="square" lIns="0" tIns="0" rIns="0" bIns="0" rtlCol="0" anchor="ctr"/>
          <a:lstStyle/>
          <a:p>
            <a:pPr indent="0" marL="0">
              <a:buNone/>
            </a:pPr>
            <a:r>
              <a:rPr lang="en-US" sz="1500" dirty="0">
                <a:solidFill>
                  <a:schemeClr val="bg1"/>
                </a:solidFill>
              </a:rPr>
              <a:t>Generate and download the cover letter</a:t>
            </a:r>
            <a:endParaRPr lang="en-US" sz="1500" dirty="0"/>
          </a:p>
        </p:txBody>
      </p:sp>
      <p:sp>
        <p:nvSpPr>
          <p:cNvPr id="24" name="demo step 8"/>
          <p:cNvSpPr/>
          <p:nvPr/>
        </p:nvSpPr>
        <p:spPr>
          <a:xfrm>
            <a:off x="4389120" y="4846320"/>
            <a:ext cx="548640" cy="548640"/>
          </a:xfrm>
          <a:prstGeom prst="ellipse">
            <a:avLst/>
          </a:prstGeom>
          <a:solidFill>
            <a:schemeClr val="accent1"/>
          </a:solidFill>
          <a:ln/>
        </p:spPr>
      </p:sp>
      <p:sp>
        <p:nvSpPr>
          <p:cNvPr id="25" name="Text 23"/>
          <p:cNvSpPr txBox="1"/>
          <p:nvPr/>
        </p:nvSpPr>
        <p:spPr>
          <a:xfrm>
            <a:off x="4389120" y="4846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26" name="Text 24"/>
          <p:cNvSpPr txBox="1"/>
          <p:nvPr/>
        </p:nvSpPr>
        <p:spPr>
          <a:xfrm>
            <a:off x="5120640" y="4864608"/>
            <a:ext cx="2926080" cy="548640"/>
          </a:xfrm>
          <a:prstGeom prst="rect">
            <a:avLst/>
          </a:prstGeom>
          <a:noFill/>
          <a:ln/>
        </p:spPr>
        <p:txBody>
          <a:bodyPr wrap="square" lIns="0" tIns="0" rIns="0" bIns="0" rtlCol="0" anchor="ctr"/>
          <a:lstStyle/>
          <a:p>
            <a:pPr indent="0" marL="0">
              <a:buNone/>
            </a:pPr>
            <a:r>
              <a:rPr lang="en-US" sz="1500" dirty="0">
                <a:solidFill>
                  <a:schemeClr val="bg1"/>
                </a:solidFill>
              </a:rPr>
              <a:t>Dashboard history + green CI</a:t>
            </a:r>
            <a:endParaRPr lang="en-US" sz="1500" dirty="0"/>
          </a:p>
        </p:txBody>
      </p:sp>
      <p:pic>
        <p:nvPicPr>
          <p:cNvPr id="27" name="phone screenshot" descr="phone screenshot">    </p:cNvPr>
          <p:cNvPicPr>
            <a:picLocks noChangeAspect="1"/>
          </p:cNvPicPr>
          <p:nvPr/>
        </p:nvPicPr>
        <p:blipFill>
          <a:blip r:embed="rId1"/>
          <a:stretch>
            <a:fillRect/>
          </a:stretch>
        </p:blipFill>
        <p:spPr>
          <a:xfrm>
            <a:off x="8783874" y="1188720"/>
            <a:ext cx="2366173" cy="512064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Screens (backup for the demo)</a:t>
            </a:r>
            <a:endParaRPr lang="en-US" sz="3600" dirty="0"/>
          </a:p>
        </p:txBody>
      </p:sp>
      <p:pic>
        <p:nvPicPr>
          <p:cNvPr id="3" name="Dashboard screenshot" descr="Dashboard screenshot">    </p:cNvPr>
          <p:cNvPicPr>
            <a:picLocks noChangeAspect="1"/>
          </p:cNvPicPr>
          <p:nvPr/>
        </p:nvPicPr>
        <p:blipFill>
          <a:blip r:embed="rId1"/>
          <a:stretch>
            <a:fillRect/>
          </a:stretch>
        </p:blipFill>
        <p:spPr>
          <a:xfrm>
            <a:off x="1549908" y="1234440"/>
            <a:ext cx="3438144" cy="2148840"/>
          </a:xfrm>
          <a:prstGeom prst="rect">
            <a:avLst/>
          </a:prstGeom>
          <a:effectLst>
            <a:outerShdw sx="100000" sy="100000" kx="0" ky="0" algn="bl" rotWithShape="0" blurRad="152400" dist="38100" dir="5400000">
              <a:srgbClr val="14123A">
                <a:alpha val="18000"/>
              </a:srgbClr>
            </a:outerShdw>
          </a:effectLst>
        </p:spPr>
      </p:pic>
      <p:sp>
        <p:nvSpPr>
          <p:cNvPr id="4" name="Text 1"/>
          <p:cNvSpPr txBox="1"/>
          <p:nvPr/>
        </p:nvSpPr>
        <p:spPr>
          <a:xfrm>
            <a:off x="548640" y="3447288"/>
            <a:ext cx="5440680" cy="274320"/>
          </a:xfrm>
          <a:prstGeom prst="rect">
            <a:avLst/>
          </a:prstGeom>
          <a:noFill/>
          <a:ln/>
        </p:spPr>
        <p:txBody>
          <a:bodyPr wrap="square" lIns="0" tIns="0" rIns="0" bIns="0" rtlCol="0" anchor="t"/>
          <a:lstStyle/>
          <a:p>
            <a:pPr algn="ctr" indent="0" marL="0">
              <a:buNone/>
            </a:pPr>
            <a:r>
              <a:rPr lang="en-US" sz="1200" dirty="0">
                <a:solidFill>
                  <a:schemeClr val="tx2"/>
                </a:solidFill>
              </a:rPr>
              <a:t>Dashboard</a:t>
            </a:r>
            <a:endParaRPr lang="en-US" sz="1200" dirty="0"/>
          </a:p>
        </p:txBody>
      </p:sp>
      <p:pic>
        <p:nvPicPr>
          <p:cNvPr id="5" name="Analysis result screenshot" descr="Analysis result screenshot">    </p:cNvPr>
          <p:cNvPicPr>
            <a:picLocks noChangeAspect="1"/>
          </p:cNvPicPr>
          <p:nvPr/>
        </p:nvPicPr>
        <p:blipFill>
          <a:blip r:embed="rId2"/>
          <a:stretch>
            <a:fillRect/>
          </a:stretch>
        </p:blipFill>
        <p:spPr>
          <a:xfrm>
            <a:off x="7127748" y="1234440"/>
            <a:ext cx="3438144" cy="2148840"/>
          </a:xfrm>
          <a:prstGeom prst="rect">
            <a:avLst/>
          </a:prstGeom>
          <a:effectLst>
            <a:outerShdw sx="100000" sy="100000" kx="0" ky="0" algn="bl" rotWithShape="0" blurRad="152400" dist="38100" dir="5400000">
              <a:srgbClr val="14123A">
                <a:alpha val="18000"/>
              </a:srgbClr>
            </a:outerShdw>
          </a:effectLst>
        </p:spPr>
      </p:pic>
      <p:sp>
        <p:nvSpPr>
          <p:cNvPr id="6" name="Text 2"/>
          <p:cNvSpPr txBox="1"/>
          <p:nvPr/>
        </p:nvSpPr>
        <p:spPr>
          <a:xfrm>
            <a:off x="6126480" y="3447288"/>
            <a:ext cx="5440680" cy="274320"/>
          </a:xfrm>
          <a:prstGeom prst="rect">
            <a:avLst/>
          </a:prstGeom>
          <a:noFill/>
          <a:ln/>
        </p:spPr>
        <p:txBody>
          <a:bodyPr wrap="square" lIns="0" tIns="0" rIns="0" bIns="0" rtlCol="0" anchor="t"/>
          <a:lstStyle/>
          <a:p>
            <a:pPr algn="ctr" indent="0" marL="0">
              <a:buNone/>
            </a:pPr>
            <a:r>
              <a:rPr lang="en-US" sz="1200" dirty="0">
                <a:solidFill>
                  <a:schemeClr val="tx2"/>
                </a:solidFill>
              </a:rPr>
              <a:t>Analysis result</a:t>
            </a:r>
            <a:endParaRPr lang="en-US" sz="1200" dirty="0"/>
          </a:p>
        </p:txBody>
      </p:sp>
      <p:pic>
        <p:nvPicPr>
          <p:cNvPr id="7" name="Europass CV screenshot" descr="Europass CV screenshot">    </p:cNvPr>
          <p:cNvPicPr>
            <a:picLocks noChangeAspect="1"/>
          </p:cNvPicPr>
          <p:nvPr/>
        </p:nvPicPr>
        <p:blipFill>
          <a:blip r:embed="rId3"/>
          <a:stretch>
            <a:fillRect/>
          </a:stretch>
        </p:blipFill>
        <p:spPr>
          <a:xfrm>
            <a:off x="1549908" y="3840480"/>
            <a:ext cx="3438144" cy="2148840"/>
          </a:xfrm>
          <a:prstGeom prst="rect">
            <a:avLst/>
          </a:prstGeom>
          <a:effectLst>
            <a:outerShdw sx="100000" sy="100000" kx="0" ky="0" algn="bl" rotWithShape="0" blurRad="152400" dist="38100" dir="5400000">
              <a:srgbClr val="14123A">
                <a:alpha val="18000"/>
              </a:srgbClr>
            </a:outerShdw>
          </a:effectLst>
        </p:spPr>
      </p:pic>
      <p:sp>
        <p:nvSpPr>
          <p:cNvPr id="8" name="Text 3"/>
          <p:cNvSpPr txBox="1"/>
          <p:nvPr/>
        </p:nvSpPr>
        <p:spPr>
          <a:xfrm>
            <a:off x="548640" y="6053328"/>
            <a:ext cx="5440680" cy="274320"/>
          </a:xfrm>
          <a:prstGeom prst="rect">
            <a:avLst/>
          </a:prstGeom>
          <a:noFill/>
          <a:ln/>
        </p:spPr>
        <p:txBody>
          <a:bodyPr wrap="square" lIns="0" tIns="0" rIns="0" bIns="0" rtlCol="0" anchor="t"/>
          <a:lstStyle/>
          <a:p>
            <a:pPr algn="ctr" indent="0" marL="0">
              <a:buNone/>
            </a:pPr>
            <a:r>
              <a:rPr lang="en-US" sz="1200" dirty="0">
                <a:solidFill>
                  <a:schemeClr val="tx2"/>
                </a:solidFill>
              </a:rPr>
              <a:t>Europass CV</a:t>
            </a:r>
            <a:endParaRPr lang="en-US" sz="1200" dirty="0"/>
          </a:p>
        </p:txBody>
      </p:sp>
      <p:pic>
        <p:nvPicPr>
          <p:cNvPr id="9" name="Cover letter screenshot" descr="Cover letter screenshot">    </p:cNvPr>
          <p:cNvPicPr>
            <a:picLocks noChangeAspect="1"/>
          </p:cNvPicPr>
          <p:nvPr/>
        </p:nvPicPr>
        <p:blipFill>
          <a:blip r:embed="rId4"/>
          <a:stretch>
            <a:fillRect/>
          </a:stretch>
        </p:blipFill>
        <p:spPr>
          <a:xfrm>
            <a:off x="7127748" y="3840480"/>
            <a:ext cx="3438144" cy="2148840"/>
          </a:xfrm>
          <a:prstGeom prst="rect">
            <a:avLst/>
          </a:prstGeom>
          <a:effectLst>
            <a:outerShdw sx="100000" sy="100000" kx="0" ky="0" algn="bl" rotWithShape="0" blurRad="152400" dist="38100" dir="5400000">
              <a:srgbClr val="14123A">
                <a:alpha val="18000"/>
              </a:srgbClr>
            </a:outerShdw>
          </a:effectLst>
        </p:spPr>
      </p:pic>
      <p:sp>
        <p:nvSpPr>
          <p:cNvPr id="10" name="Text 4"/>
          <p:cNvSpPr txBox="1"/>
          <p:nvPr/>
        </p:nvSpPr>
        <p:spPr>
          <a:xfrm>
            <a:off x="6126480" y="6053328"/>
            <a:ext cx="5440680" cy="274320"/>
          </a:xfrm>
          <a:prstGeom prst="rect">
            <a:avLst/>
          </a:prstGeom>
          <a:noFill/>
          <a:ln/>
        </p:spPr>
        <p:txBody>
          <a:bodyPr wrap="square" lIns="0" tIns="0" rIns="0" bIns="0" rtlCol="0" anchor="t"/>
          <a:lstStyle/>
          <a:p>
            <a:pPr algn="ctr" indent="0" marL="0">
              <a:buNone/>
            </a:pPr>
            <a:r>
              <a:rPr lang="en-US" sz="1200" dirty="0">
                <a:solidFill>
                  <a:schemeClr val="tx2"/>
                </a:solidFill>
              </a:rPr>
              <a:t>Cover letter</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Challenges and how we solved them</a:t>
            </a:r>
            <a:endParaRPr lang="en-US" sz="3600" dirty="0"/>
          </a:p>
        </p:txBody>
      </p:sp>
      <p:sp>
        <p:nvSpPr>
          <p:cNvPr id="3" name="challenge 1"/>
          <p:cNvSpPr/>
          <p:nvPr/>
        </p:nvSpPr>
        <p:spPr>
          <a:xfrm>
            <a:off x="548640" y="1371600"/>
            <a:ext cx="5440680" cy="1371600"/>
          </a:xfrm>
          <a:prstGeom prst="roundRect">
            <a:avLst>
              <a:gd name="adj" fmla="val 8000"/>
            </a:avLst>
          </a:prstGeom>
          <a:solidFill>
            <a:schemeClr val="bg2"/>
          </a:solidFill>
          <a:ln/>
        </p:spPr>
      </p:sp>
      <p:sp>
        <p:nvSpPr>
          <p:cNvPr id="4" name="Text 2"/>
          <p:cNvSpPr txBox="1"/>
          <p:nvPr/>
        </p:nvSpPr>
        <p:spPr>
          <a:xfrm>
            <a:off x="822960" y="1600200"/>
            <a:ext cx="4937760" cy="9601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Inconsistent AI output</a:t>
            </a:r>
            <a:endParaRPr lang="en-US" sz="1600" dirty="0"/>
          </a:p>
          <a:p>
            <a:pPr indent="0" marL="0">
              <a:spcAft>
                <a:spcPts val="600"/>
              </a:spcAft>
              <a:buNone/>
            </a:pPr>
            <a:r>
              <a:rPr lang="en-US" sz="1600" dirty="0">
                <a:solidFill>
                  <a:schemeClr val="accent1"/>
                </a:solidFill>
              </a:rPr>
              <a:t>→ JSON mode + strict schema + validation in code</a:t>
            </a:r>
            <a:endParaRPr lang="en-US" sz="1600" dirty="0"/>
          </a:p>
        </p:txBody>
      </p:sp>
      <p:sp>
        <p:nvSpPr>
          <p:cNvPr id="5" name="challenge 2"/>
          <p:cNvSpPr/>
          <p:nvPr/>
        </p:nvSpPr>
        <p:spPr>
          <a:xfrm>
            <a:off x="6126480" y="1371600"/>
            <a:ext cx="5440680" cy="1371600"/>
          </a:xfrm>
          <a:prstGeom prst="roundRect">
            <a:avLst>
              <a:gd name="adj" fmla="val 8000"/>
            </a:avLst>
          </a:prstGeom>
          <a:solidFill>
            <a:schemeClr val="bg2"/>
          </a:solidFill>
          <a:ln/>
        </p:spPr>
      </p:sp>
      <p:sp>
        <p:nvSpPr>
          <p:cNvPr id="6" name="Text 4"/>
          <p:cNvSpPr txBox="1"/>
          <p:nvPr/>
        </p:nvSpPr>
        <p:spPr>
          <a:xfrm>
            <a:off x="6400800" y="1600200"/>
            <a:ext cx="4937760" cy="9601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AI invented numbers and dates</a:t>
            </a:r>
            <a:endParaRPr lang="en-US" sz="1600" dirty="0"/>
          </a:p>
          <a:p>
            <a:pPr indent="0" marL="0">
              <a:spcAft>
                <a:spcPts val="600"/>
              </a:spcAft>
              <a:buNone/>
            </a:pPr>
            <a:r>
              <a:rPr lang="en-US" sz="1600" dirty="0">
                <a:solidFill>
                  <a:schemeClr val="accent1"/>
                </a:solidFill>
              </a:rPr>
              <a:t>→ Deterministic post-check with placeholders</a:t>
            </a:r>
            <a:endParaRPr lang="en-US" sz="1600" dirty="0"/>
          </a:p>
        </p:txBody>
      </p:sp>
      <p:sp>
        <p:nvSpPr>
          <p:cNvPr id="7" name="challenge 3"/>
          <p:cNvSpPr/>
          <p:nvPr/>
        </p:nvSpPr>
        <p:spPr>
          <a:xfrm>
            <a:off x="548640" y="2926080"/>
            <a:ext cx="5440680" cy="1371600"/>
          </a:xfrm>
          <a:prstGeom prst="roundRect">
            <a:avLst>
              <a:gd name="adj" fmla="val 8000"/>
            </a:avLst>
          </a:prstGeom>
          <a:solidFill>
            <a:schemeClr val="bg2"/>
          </a:solidFill>
          <a:ln/>
        </p:spPr>
      </p:sp>
      <p:sp>
        <p:nvSpPr>
          <p:cNvPr id="8" name="Text 6"/>
          <p:cNvSpPr txBox="1"/>
          <p:nvPr/>
        </p:nvSpPr>
        <p:spPr>
          <a:xfrm>
            <a:off x="822960" y="3154680"/>
            <a:ext cx="4937760" cy="9601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Gemini "high demand" errors</a:t>
            </a:r>
            <a:endParaRPr lang="en-US" sz="1600" dirty="0"/>
          </a:p>
          <a:p>
            <a:pPr indent="0" marL="0">
              <a:spcAft>
                <a:spcPts val="600"/>
              </a:spcAft>
              <a:buNone/>
            </a:pPr>
            <a:r>
              <a:rPr lang="en-US" sz="1600" dirty="0">
                <a:solidFill>
                  <a:schemeClr val="accent1"/>
                </a:solidFill>
              </a:rPr>
              <a:t>→ Retries with back-off, clear messages</a:t>
            </a:r>
            <a:endParaRPr lang="en-US" sz="1600" dirty="0"/>
          </a:p>
        </p:txBody>
      </p:sp>
      <p:sp>
        <p:nvSpPr>
          <p:cNvPr id="9" name="challenge 4"/>
          <p:cNvSpPr/>
          <p:nvPr/>
        </p:nvSpPr>
        <p:spPr>
          <a:xfrm>
            <a:off x="6126480" y="2926080"/>
            <a:ext cx="5440680" cy="1371600"/>
          </a:xfrm>
          <a:prstGeom prst="roundRect">
            <a:avLst>
              <a:gd name="adj" fmla="val 8000"/>
            </a:avLst>
          </a:prstGeom>
          <a:solidFill>
            <a:schemeClr val="bg2"/>
          </a:solidFill>
          <a:ln/>
        </p:spPr>
      </p:sp>
      <p:sp>
        <p:nvSpPr>
          <p:cNvPr id="10" name="Text 8"/>
          <p:cNvSpPr txBox="1"/>
          <p:nvPr/>
        </p:nvSpPr>
        <p:spPr>
          <a:xfrm>
            <a:off x="6400800" y="3154680"/>
            <a:ext cx="4937760" cy="9601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Files lost on redeploy</a:t>
            </a:r>
            <a:endParaRPr lang="en-US" sz="1600" dirty="0"/>
          </a:p>
          <a:p>
            <a:pPr indent="0" marL="0">
              <a:spcAft>
                <a:spcPts val="600"/>
              </a:spcAft>
              <a:buNone/>
            </a:pPr>
            <a:r>
              <a:rPr lang="en-US" sz="1600" dirty="0">
                <a:solidFill>
                  <a:schemeClr val="accent1"/>
                </a:solidFill>
              </a:rPr>
              <a:t>→ Moved storage to MongoDB GridFS</a:t>
            </a:r>
            <a:endParaRPr lang="en-US" sz="1600" dirty="0"/>
          </a:p>
        </p:txBody>
      </p:sp>
      <p:sp>
        <p:nvSpPr>
          <p:cNvPr id="11" name="challenge 5"/>
          <p:cNvSpPr/>
          <p:nvPr/>
        </p:nvSpPr>
        <p:spPr>
          <a:xfrm>
            <a:off x="548640" y="4480560"/>
            <a:ext cx="5440680" cy="1371600"/>
          </a:xfrm>
          <a:prstGeom prst="roundRect">
            <a:avLst>
              <a:gd name="adj" fmla="val 8000"/>
            </a:avLst>
          </a:prstGeom>
          <a:solidFill>
            <a:schemeClr val="bg2"/>
          </a:solidFill>
          <a:ln/>
        </p:spPr>
      </p:sp>
      <p:sp>
        <p:nvSpPr>
          <p:cNvPr id="12" name="Text 10"/>
          <p:cNvSpPr txBox="1"/>
          <p:nvPr/>
        </p:nvSpPr>
        <p:spPr>
          <a:xfrm>
            <a:off x="822960" y="4709160"/>
            <a:ext cx="4937760" cy="9601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One rate limit for all users behind a proxy</a:t>
            </a:r>
            <a:endParaRPr lang="en-US" sz="1600" dirty="0"/>
          </a:p>
          <a:p>
            <a:pPr indent="0" marL="0">
              <a:spcAft>
                <a:spcPts val="600"/>
              </a:spcAft>
              <a:buNone/>
            </a:pPr>
            <a:r>
              <a:rPr lang="en-US" sz="1600" dirty="0">
                <a:solidFill>
                  <a:schemeClr val="accent1"/>
                </a:solidFill>
              </a:rPr>
              <a:t>→ TRUST_PROXY so each real IP counts</a:t>
            </a:r>
            <a:endParaRPr lang="en-US" sz="1600" dirty="0"/>
          </a:p>
        </p:txBody>
      </p:sp>
      <p:sp>
        <p:nvSpPr>
          <p:cNvPr id="13" name="challenge 6"/>
          <p:cNvSpPr/>
          <p:nvPr/>
        </p:nvSpPr>
        <p:spPr>
          <a:xfrm>
            <a:off x="6126480" y="4480560"/>
            <a:ext cx="5440680" cy="1371600"/>
          </a:xfrm>
          <a:prstGeom prst="roundRect">
            <a:avLst>
              <a:gd name="adj" fmla="val 8000"/>
            </a:avLst>
          </a:prstGeom>
          <a:solidFill>
            <a:schemeClr val="bg2"/>
          </a:solidFill>
          <a:ln/>
        </p:spPr>
      </p:sp>
      <p:sp>
        <p:nvSpPr>
          <p:cNvPr id="14" name="Text 12"/>
          <p:cNvSpPr txBox="1"/>
          <p:nvPr/>
        </p:nvSpPr>
        <p:spPr>
          <a:xfrm>
            <a:off x="6400800" y="4709160"/>
            <a:ext cx="4937760" cy="9601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Document-heavy pages on phones</a:t>
            </a:r>
            <a:endParaRPr lang="en-US" sz="1600" dirty="0"/>
          </a:p>
          <a:p>
            <a:pPr indent="0" marL="0">
              <a:spcAft>
                <a:spcPts val="600"/>
              </a:spcAft>
              <a:buNone/>
            </a:pPr>
            <a:r>
              <a:rPr lang="en-US" sz="1600" dirty="0">
                <a:solidFill>
                  <a:schemeClr val="accent1"/>
                </a:solidFill>
              </a:rPr>
              <a:t>→ Mobile-first layout, A4 sheets that scale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Future improvements</a:t>
            </a:r>
            <a:endParaRPr lang="en-US" sz="3600" dirty="0"/>
          </a:p>
        </p:txBody>
      </p:sp>
      <p:sp>
        <p:nvSpPr>
          <p:cNvPr id="3" name="future card 1"/>
          <p:cNvSpPr/>
          <p:nvPr/>
        </p:nvSpPr>
        <p:spPr>
          <a:xfrm>
            <a:off x="548640" y="1417320"/>
            <a:ext cx="3520440" cy="2103120"/>
          </a:xfrm>
          <a:prstGeom prst="roundRect">
            <a:avLst>
              <a:gd name="adj" fmla="val 5217"/>
            </a:avLst>
          </a:prstGeom>
          <a:solidFill>
            <a:schemeClr val="bg2"/>
          </a:solidFill>
          <a:ln/>
        </p:spPr>
      </p:sp>
      <p:sp>
        <p:nvSpPr>
          <p:cNvPr id="4" name="future icon 1 circle"/>
          <p:cNvSpPr/>
          <p:nvPr/>
        </p:nvSpPr>
        <p:spPr>
          <a:xfrm>
            <a:off x="822960" y="1691640"/>
            <a:ext cx="603504" cy="603504"/>
          </a:xfrm>
          <a:prstGeom prst="ellipse">
            <a:avLst/>
          </a:prstGeom>
          <a:solidFill>
            <a:schemeClr val="bg1"/>
          </a:solidFill>
          <a:ln/>
        </p:spPr>
      </p:sp>
      <p:pic>
        <p:nvPicPr>
          <p:cNvPr id="5" name="future icon 1" descr="future icon 1">    </p:cNvPr>
          <p:cNvPicPr>
            <a:picLocks noChangeAspect="1"/>
          </p:cNvPicPr>
          <p:nvPr/>
        </p:nvPicPr>
        <p:blipFill>
          <a:blip r:embed="rId1"/>
          <a:stretch>
            <a:fillRect/>
          </a:stretch>
        </p:blipFill>
        <p:spPr>
          <a:xfrm>
            <a:off x="973836" y="1842516"/>
            <a:ext cx="301752" cy="301752"/>
          </a:xfrm>
          <a:prstGeom prst="rect">
            <a:avLst/>
          </a:prstGeom>
        </p:spPr>
      </p:pic>
      <p:sp>
        <p:nvSpPr>
          <p:cNvPr id="6" name="Text 3"/>
          <p:cNvSpPr txBox="1"/>
          <p:nvPr/>
        </p:nvSpPr>
        <p:spPr>
          <a:xfrm>
            <a:off x="822960" y="2423160"/>
            <a:ext cx="3017520" cy="411480"/>
          </a:xfrm>
          <a:prstGeom prst="rect">
            <a:avLst/>
          </a:prstGeom>
          <a:noFill/>
          <a:ln/>
        </p:spPr>
        <p:txBody>
          <a:bodyPr wrap="square" lIns="0" tIns="0" rIns="0" bIns="0" rtlCol="0" anchor="t"/>
          <a:lstStyle/>
          <a:p>
            <a:pPr indent="0" marL="0">
              <a:buNone/>
            </a:pPr>
            <a:r>
              <a:rPr lang="en-US" sz="1800" b="1" dirty="0">
                <a:solidFill>
                  <a:schemeClr val="tx1"/>
                </a:solidFill>
              </a:rPr>
              <a:t>OCR for scanned PDFs</a:t>
            </a:r>
            <a:endParaRPr lang="en-US" sz="1800" dirty="0"/>
          </a:p>
        </p:txBody>
      </p:sp>
      <p:sp>
        <p:nvSpPr>
          <p:cNvPr id="7" name="Text 4"/>
          <p:cNvSpPr txBox="1"/>
          <p:nvPr/>
        </p:nvSpPr>
        <p:spPr>
          <a:xfrm>
            <a:off x="822960" y="2834640"/>
            <a:ext cx="3017520" cy="594360"/>
          </a:xfrm>
          <a:prstGeom prst="rect">
            <a:avLst/>
          </a:prstGeom>
          <a:noFill/>
          <a:ln/>
        </p:spPr>
        <p:txBody>
          <a:bodyPr wrap="square" lIns="0" tIns="0" rIns="0" bIns="0" rtlCol="0" anchor="t"/>
          <a:lstStyle/>
          <a:p>
            <a:pPr indent="0" marL="0">
              <a:buNone/>
            </a:pPr>
            <a:r>
              <a:rPr lang="en-US" sz="1400" dirty="0">
                <a:solidFill>
                  <a:schemeClr val="tx2"/>
                </a:solidFill>
              </a:rPr>
              <a:t>Read image-only resumes and DOCX files</a:t>
            </a:r>
            <a:endParaRPr lang="en-US" sz="1400" dirty="0"/>
          </a:p>
        </p:txBody>
      </p:sp>
      <p:sp>
        <p:nvSpPr>
          <p:cNvPr id="8" name="future card 2"/>
          <p:cNvSpPr/>
          <p:nvPr/>
        </p:nvSpPr>
        <p:spPr>
          <a:xfrm>
            <a:off x="4297680" y="1417320"/>
            <a:ext cx="3520440" cy="2103120"/>
          </a:xfrm>
          <a:prstGeom prst="roundRect">
            <a:avLst>
              <a:gd name="adj" fmla="val 5217"/>
            </a:avLst>
          </a:prstGeom>
          <a:solidFill>
            <a:schemeClr val="bg2"/>
          </a:solidFill>
          <a:ln/>
        </p:spPr>
      </p:sp>
      <p:sp>
        <p:nvSpPr>
          <p:cNvPr id="9" name="future icon 2 circle"/>
          <p:cNvSpPr/>
          <p:nvPr/>
        </p:nvSpPr>
        <p:spPr>
          <a:xfrm>
            <a:off x="4572000" y="1691640"/>
            <a:ext cx="603504" cy="603504"/>
          </a:xfrm>
          <a:prstGeom prst="ellipse">
            <a:avLst/>
          </a:prstGeom>
          <a:solidFill>
            <a:schemeClr val="bg1"/>
          </a:solidFill>
          <a:ln/>
        </p:spPr>
      </p:sp>
      <p:pic>
        <p:nvPicPr>
          <p:cNvPr id="10" name="future icon 2" descr="future icon 2">    </p:cNvPr>
          <p:cNvPicPr>
            <a:picLocks noChangeAspect="1"/>
          </p:cNvPicPr>
          <p:nvPr/>
        </p:nvPicPr>
        <p:blipFill>
          <a:blip r:embed="rId2"/>
          <a:stretch>
            <a:fillRect/>
          </a:stretch>
        </p:blipFill>
        <p:spPr>
          <a:xfrm>
            <a:off x="4722876" y="1842516"/>
            <a:ext cx="301752" cy="301752"/>
          </a:xfrm>
          <a:prstGeom prst="rect">
            <a:avLst/>
          </a:prstGeom>
        </p:spPr>
      </p:pic>
      <p:sp>
        <p:nvSpPr>
          <p:cNvPr id="11" name="Text 7"/>
          <p:cNvSpPr txBox="1"/>
          <p:nvPr/>
        </p:nvSpPr>
        <p:spPr>
          <a:xfrm>
            <a:off x="4572000" y="2423160"/>
            <a:ext cx="3017520" cy="411480"/>
          </a:xfrm>
          <a:prstGeom prst="rect">
            <a:avLst/>
          </a:prstGeom>
          <a:noFill/>
          <a:ln/>
        </p:spPr>
        <p:txBody>
          <a:bodyPr wrap="square" lIns="0" tIns="0" rIns="0" bIns="0" rtlCol="0" anchor="t"/>
          <a:lstStyle/>
          <a:p>
            <a:pPr indent="0" marL="0">
              <a:buNone/>
            </a:pPr>
            <a:r>
              <a:rPr lang="en-US" sz="1800" b="1" dirty="0">
                <a:solidFill>
                  <a:schemeClr val="tx1"/>
                </a:solidFill>
              </a:rPr>
              <a:t>Job link import</a:t>
            </a:r>
            <a:endParaRPr lang="en-US" sz="1800" dirty="0"/>
          </a:p>
        </p:txBody>
      </p:sp>
      <p:sp>
        <p:nvSpPr>
          <p:cNvPr id="12" name="Text 8"/>
          <p:cNvSpPr txBox="1"/>
          <p:nvPr/>
        </p:nvSpPr>
        <p:spPr>
          <a:xfrm>
            <a:off x="4572000" y="2834640"/>
            <a:ext cx="3017520" cy="594360"/>
          </a:xfrm>
          <a:prstGeom prst="rect">
            <a:avLst/>
          </a:prstGeom>
          <a:noFill/>
          <a:ln/>
        </p:spPr>
        <p:txBody>
          <a:bodyPr wrap="square" lIns="0" tIns="0" rIns="0" bIns="0" rtlCol="0" anchor="t"/>
          <a:lstStyle/>
          <a:p>
            <a:pPr indent="0" marL="0">
              <a:buNone/>
            </a:pPr>
            <a:r>
              <a:rPr lang="en-US" sz="1400" dirty="0">
                <a:solidFill>
                  <a:schemeClr val="tx2"/>
                </a:solidFill>
              </a:rPr>
              <a:t>Paste a LinkedIn or BDJobs link instead of the description</a:t>
            </a:r>
            <a:endParaRPr lang="en-US" sz="1400" dirty="0"/>
          </a:p>
        </p:txBody>
      </p:sp>
      <p:sp>
        <p:nvSpPr>
          <p:cNvPr id="13" name="future card 3"/>
          <p:cNvSpPr/>
          <p:nvPr/>
        </p:nvSpPr>
        <p:spPr>
          <a:xfrm>
            <a:off x="8046720" y="1417320"/>
            <a:ext cx="3520440" cy="2103120"/>
          </a:xfrm>
          <a:prstGeom prst="roundRect">
            <a:avLst>
              <a:gd name="adj" fmla="val 5217"/>
            </a:avLst>
          </a:prstGeom>
          <a:solidFill>
            <a:schemeClr val="bg2"/>
          </a:solidFill>
          <a:ln/>
        </p:spPr>
      </p:sp>
      <p:sp>
        <p:nvSpPr>
          <p:cNvPr id="14" name="future icon 3 circle"/>
          <p:cNvSpPr/>
          <p:nvPr/>
        </p:nvSpPr>
        <p:spPr>
          <a:xfrm>
            <a:off x="8321040" y="1691640"/>
            <a:ext cx="603504" cy="603504"/>
          </a:xfrm>
          <a:prstGeom prst="ellipse">
            <a:avLst/>
          </a:prstGeom>
          <a:solidFill>
            <a:schemeClr val="bg1"/>
          </a:solidFill>
          <a:ln/>
        </p:spPr>
      </p:sp>
      <p:pic>
        <p:nvPicPr>
          <p:cNvPr id="15" name="future icon 3" descr="future icon 3">    </p:cNvPr>
          <p:cNvPicPr>
            <a:picLocks noChangeAspect="1"/>
          </p:cNvPicPr>
          <p:nvPr/>
        </p:nvPicPr>
        <p:blipFill>
          <a:blip r:embed="rId3"/>
          <a:stretch>
            <a:fillRect/>
          </a:stretch>
        </p:blipFill>
        <p:spPr>
          <a:xfrm>
            <a:off x="8471916" y="1842516"/>
            <a:ext cx="301752" cy="301752"/>
          </a:xfrm>
          <a:prstGeom prst="rect">
            <a:avLst/>
          </a:prstGeom>
        </p:spPr>
      </p:pic>
      <p:sp>
        <p:nvSpPr>
          <p:cNvPr id="16" name="Text 11"/>
          <p:cNvSpPr txBox="1"/>
          <p:nvPr/>
        </p:nvSpPr>
        <p:spPr>
          <a:xfrm>
            <a:off x="8321040" y="2423160"/>
            <a:ext cx="3017520" cy="411480"/>
          </a:xfrm>
          <a:prstGeom prst="rect">
            <a:avLst/>
          </a:prstGeom>
          <a:noFill/>
          <a:ln/>
        </p:spPr>
        <p:txBody>
          <a:bodyPr wrap="square" lIns="0" tIns="0" rIns="0" bIns="0" rtlCol="0" anchor="t"/>
          <a:lstStyle/>
          <a:p>
            <a:pPr indent="0" marL="0">
              <a:buNone/>
            </a:pPr>
            <a:r>
              <a:rPr lang="en-US" sz="1800" b="1" dirty="0">
                <a:solidFill>
                  <a:schemeClr val="tx1"/>
                </a:solidFill>
              </a:rPr>
              <a:t>Interview practice</a:t>
            </a:r>
            <a:endParaRPr lang="en-US" sz="1800" dirty="0"/>
          </a:p>
        </p:txBody>
      </p:sp>
      <p:sp>
        <p:nvSpPr>
          <p:cNvPr id="17" name="Text 12"/>
          <p:cNvSpPr txBox="1"/>
          <p:nvPr/>
        </p:nvSpPr>
        <p:spPr>
          <a:xfrm>
            <a:off x="8321040" y="2834640"/>
            <a:ext cx="3017520" cy="594360"/>
          </a:xfrm>
          <a:prstGeom prst="rect">
            <a:avLst/>
          </a:prstGeom>
          <a:noFill/>
          <a:ln/>
        </p:spPr>
        <p:txBody>
          <a:bodyPr wrap="square" lIns="0" tIns="0" rIns="0" bIns="0" rtlCol="0" anchor="t"/>
          <a:lstStyle/>
          <a:p>
            <a:pPr indent="0" marL="0">
              <a:buNone/>
            </a:pPr>
            <a:r>
              <a:rPr lang="en-US" sz="1400" dirty="0">
                <a:solidFill>
                  <a:schemeClr val="tx2"/>
                </a:solidFill>
              </a:rPr>
              <a:t>AI questions based on the CV and the job</a:t>
            </a:r>
            <a:endParaRPr lang="en-US" sz="1400" dirty="0"/>
          </a:p>
        </p:txBody>
      </p:sp>
      <p:sp>
        <p:nvSpPr>
          <p:cNvPr id="18" name="future card 4"/>
          <p:cNvSpPr/>
          <p:nvPr/>
        </p:nvSpPr>
        <p:spPr>
          <a:xfrm>
            <a:off x="548640" y="3794760"/>
            <a:ext cx="3520440" cy="2103120"/>
          </a:xfrm>
          <a:prstGeom prst="roundRect">
            <a:avLst>
              <a:gd name="adj" fmla="val 5217"/>
            </a:avLst>
          </a:prstGeom>
          <a:solidFill>
            <a:schemeClr val="bg2"/>
          </a:solidFill>
          <a:ln/>
        </p:spPr>
      </p:sp>
      <p:sp>
        <p:nvSpPr>
          <p:cNvPr id="19" name="future icon 4 circle"/>
          <p:cNvSpPr/>
          <p:nvPr/>
        </p:nvSpPr>
        <p:spPr>
          <a:xfrm>
            <a:off x="822960" y="4069080"/>
            <a:ext cx="603504" cy="603504"/>
          </a:xfrm>
          <a:prstGeom prst="ellipse">
            <a:avLst/>
          </a:prstGeom>
          <a:solidFill>
            <a:schemeClr val="bg1"/>
          </a:solidFill>
          <a:ln/>
        </p:spPr>
      </p:sp>
      <p:pic>
        <p:nvPicPr>
          <p:cNvPr id="20" name="future icon 4" descr="future icon 4">    </p:cNvPr>
          <p:cNvPicPr>
            <a:picLocks noChangeAspect="1"/>
          </p:cNvPicPr>
          <p:nvPr/>
        </p:nvPicPr>
        <p:blipFill>
          <a:blip r:embed="rId4"/>
          <a:stretch>
            <a:fillRect/>
          </a:stretch>
        </p:blipFill>
        <p:spPr>
          <a:xfrm>
            <a:off x="973836" y="4219956"/>
            <a:ext cx="301752" cy="301752"/>
          </a:xfrm>
          <a:prstGeom prst="rect">
            <a:avLst/>
          </a:prstGeom>
        </p:spPr>
      </p:pic>
      <p:sp>
        <p:nvSpPr>
          <p:cNvPr id="21" name="Text 15"/>
          <p:cNvSpPr txBox="1"/>
          <p:nvPr/>
        </p:nvSpPr>
        <p:spPr>
          <a:xfrm>
            <a:off x="822960" y="4800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Bangla support</a:t>
            </a:r>
            <a:endParaRPr lang="en-US" sz="1800" dirty="0"/>
          </a:p>
        </p:txBody>
      </p:sp>
      <p:sp>
        <p:nvSpPr>
          <p:cNvPr id="22" name="Text 16"/>
          <p:cNvSpPr txBox="1"/>
          <p:nvPr/>
        </p:nvSpPr>
        <p:spPr>
          <a:xfrm>
            <a:off x="822960" y="5212080"/>
            <a:ext cx="3017520" cy="594360"/>
          </a:xfrm>
          <a:prstGeom prst="rect">
            <a:avLst/>
          </a:prstGeom>
          <a:noFill/>
          <a:ln/>
        </p:spPr>
        <p:txBody>
          <a:bodyPr wrap="square" lIns="0" tIns="0" rIns="0" bIns="0" rtlCol="0" anchor="t"/>
          <a:lstStyle/>
          <a:p>
            <a:pPr indent="0" marL="0">
              <a:buNone/>
            </a:pPr>
            <a:r>
              <a:rPr lang="en-US" sz="1400" dirty="0">
                <a:solidFill>
                  <a:schemeClr val="tx2"/>
                </a:solidFill>
              </a:rPr>
              <a:t>Interface and feedback in Bangla</a:t>
            </a:r>
            <a:endParaRPr lang="en-US" sz="1400" dirty="0"/>
          </a:p>
        </p:txBody>
      </p:sp>
      <p:sp>
        <p:nvSpPr>
          <p:cNvPr id="23" name="future card 5"/>
          <p:cNvSpPr/>
          <p:nvPr/>
        </p:nvSpPr>
        <p:spPr>
          <a:xfrm>
            <a:off x="4297680" y="3794760"/>
            <a:ext cx="3520440" cy="2103120"/>
          </a:xfrm>
          <a:prstGeom prst="roundRect">
            <a:avLst>
              <a:gd name="adj" fmla="val 5217"/>
            </a:avLst>
          </a:prstGeom>
          <a:solidFill>
            <a:schemeClr val="bg2"/>
          </a:solidFill>
          <a:ln/>
        </p:spPr>
      </p:sp>
      <p:sp>
        <p:nvSpPr>
          <p:cNvPr id="24" name="future icon 5 circle"/>
          <p:cNvSpPr/>
          <p:nvPr/>
        </p:nvSpPr>
        <p:spPr>
          <a:xfrm>
            <a:off x="4572000" y="4069080"/>
            <a:ext cx="603504" cy="603504"/>
          </a:xfrm>
          <a:prstGeom prst="ellipse">
            <a:avLst/>
          </a:prstGeom>
          <a:solidFill>
            <a:schemeClr val="bg1"/>
          </a:solidFill>
          <a:ln/>
        </p:spPr>
      </p:sp>
      <p:pic>
        <p:nvPicPr>
          <p:cNvPr id="25" name="future icon 5" descr="future icon 5">    </p:cNvPr>
          <p:cNvPicPr>
            <a:picLocks noChangeAspect="1"/>
          </p:cNvPicPr>
          <p:nvPr/>
        </p:nvPicPr>
        <p:blipFill>
          <a:blip r:embed="rId5"/>
          <a:stretch>
            <a:fillRect/>
          </a:stretch>
        </p:blipFill>
        <p:spPr>
          <a:xfrm>
            <a:off x="4722876" y="4219956"/>
            <a:ext cx="301752" cy="301752"/>
          </a:xfrm>
          <a:prstGeom prst="rect">
            <a:avLst/>
          </a:prstGeom>
        </p:spPr>
      </p:pic>
      <p:sp>
        <p:nvSpPr>
          <p:cNvPr id="26" name="Text 19"/>
          <p:cNvSpPr txBox="1"/>
          <p:nvPr/>
        </p:nvSpPr>
        <p:spPr>
          <a:xfrm>
            <a:off x="4572000" y="4800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Native mobile app</a:t>
            </a:r>
            <a:endParaRPr lang="en-US" sz="1800" dirty="0"/>
          </a:p>
        </p:txBody>
      </p:sp>
      <p:sp>
        <p:nvSpPr>
          <p:cNvPr id="27" name="Text 20"/>
          <p:cNvSpPr txBox="1"/>
          <p:nvPr/>
        </p:nvSpPr>
        <p:spPr>
          <a:xfrm>
            <a:off x="4572000" y="5212080"/>
            <a:ext cx="3017520" cy="594360"/>
          </a:xfrm>
          <a:prstGeom prst="rect">
            <a:avLst/>
          </a:prstGeom>
          <a:noFill/>
          <a:ln/>
        </p:spPr>
        <p:txBody>
          <a:bodyPr wrap="square" lIns="0" tIns="0" rIns="0" bIns="0" rtlCol="0" anchor="t"/>
          <a:lstStyle/>
          <a:p>
            <a:pPr indent="0" marL="0">
              <a:buNone/>
            </a:pPr>
            <a:r>
              <a:rPr lang="en-US" sz="1400" dirty="0">
                <a:solidFill>
                  <a:schemeClr val="tx2"/>
                </a:solidFill>
              </a:rPr>
              <a:t>React Native on the same REST API, push notifications</a:t>
            </a:r>
            <a:endParaRPr lang="en-US" sz="1400" dirty="0"/>
          </a:p>
        </p:txBody>
      </p:sp>
      <p:sp>
        <p:nvSpPr>
          <p:cNvPr id="28" name="future card 6"/>
          <p:cNvSpPr/>
          <p:nvPr/>
        </p:nvSpPr>
        <p:spPr>
          <a:xfrm>
            <a:off x="8046720" y="3794760"/>
            <a:ext cx="3520440" cy="2103120"/>
          </a:xfrm>
          <a:prstGeom prst="roundRect">
            <a:avLst>
              <a:gd name="adj" fmla="val 5217"/>
            </a:avLst>
          </a:prstGeom>
          <a:solidFill>
            <a:schemeClr val="bg2"/>
          </a:solidFill>
          <a:ln/>
        </p:spPr>
      </p:sp>
      <p:sp>
        <p:nvSpPr>
          <p:cNvPr id="29" name="future icon 6 circle"/>
          <p:cNvSpPr/>
          <p:nvPr/>
        </p:nvSpPr>
        <p:spPr>
          <a:xfrm>
            <a:off x="8321040" y="4069080"/>
            <a:ext cx="603504" cy="603504"/>
          </a:xfrm>
          <a:prstGeom prst="ellipse">
            <a:avLst/>
          </a:prstGeom>
          <a:solidFill>
            <a:schemeClr val="bg1"/>
          </a:solidFill>
          <a:ln/>
        </p:spPr>
      </p:sp>
      <p:pic>
        <p:nvPicPr>
          <p:cNvPr id="30" name="future icon 6" descr="future icon 6">    </p:cNvPr>
          <p:cNvPicPr>
            <a:picLocks noChangeAspect="1"/>
          </p:cNvPicPr>
          <p:nvPr/>
        </p:nvPicPr>
        <p:blipFill>
          <a:blip r:embed="rId6"/>
          <a:stretch>
            <a:fillRect/>
          </a:stretch>
        </p:blipFill>
        <p:spPr>
          <a:xfrm>
            <a:off x="8471916" y="4219956"/>
            <a:ext cx="301752" cy="301752"/>
          </a:xfrm>
          <a:prstGeom prst="rect">
            <a:avLst/>
          </a:prstGeom>
        </p:spPr>
      </p:pic>
      <p:sp>
        <p:nvSpPr>
          <p:cNvPr id="31" name="Text 23"/>
          <p:cNvSpPr txBox="1"/>
          <p:nvPr/>
        </p:nvSpPr>
        <p:spPr>
          <a:xfrm>
            <a:off x="8321040" y="4800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Recruiter mode</a:t>
            </a:r>
            <a:endParaRPr lang="en-US" sz="1800" dirty="0"/>
          </a:p>
        </p:txBody>
      </p:sp>
      <p:sp>
        <p:nvSpPr>
          <p:cNvPr id="32" name="Text 24"/>
          <p:cNvSpPr txBox="1"/>
          <p:nvPr/>
        </p:nvSpPr>
        <p:spPr>
          <a:xfrm>
            <a:off x="8321040" y="5212080"/>
            <a:ext cx="3017520" cy="594360"/>
          </a:xfrm>
          <a:prstGeom prst="rect">
            <a:avLst/>
          </a:prstGeom>
          <a:noFill/>
          <a:ln/>
        </p:spPr>
        <p:txBody>
          <a:bodyPr wrap="square" lIns="0" tIns="0" rIns="0" bIns="0" rtlCol="0" anchor="t"/>
          <a:lstStyle/>
          <a:p>
            <a:pPr indent="0" marL="0">
              <a:buNone/>
            </a:pPr>
            <a:r>
              <a:rPr lang="en-US" sz="1400" dirty="0">
                <a:solidFill>
                  <a:schemeClr val="tx2"/>
                </a:solidFill>
              </a:rPr>
              <a:t>Rank many resumes against one job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Thank you — questions?</a:t>
            </a:r>
            <a:endParaRPr lang="en-US" sz="3600" dirty="0"/>
          </a:p>
        </p:txBody>
      </p:sp>
      <p:pic>
        <p:nvPicPr>
          <p:cNvPr id="3" name="Mahammad Hasan photo" descr="Mahammad Hasan">    </p:cNvPr>
          <p:cNvPicPr>
            <a:picLocks noChangeAspect="1"/>
          </p:cNvPicPr>
          <p:nvPr/>
        </p:nvPicPr>
        <p:blipFill>
          <a:blip r:embed="rId1"/>
          <a:stretch>
            <a:fillRect/>
          </a:stretch>
        </p:blipFill>
        <p:spPr>
          <a:xfrm>
            <a:off x="1152144" y="1463040"/>
            <a:ext cx="1371600" cy="1371600"/>
          </a:xfrm>
          <a:prstGeom prst="ellipse">
            <a:avLst/>
          </a:prstGeom>
        </p:spPr>
      </p:pic>
      <p:sp>
        <p:nvSpPr>
          <p:cNvPr id="4" name="Text 1"/>
          <p:cNvSpPr txBox="1"/>
          <p:nvPr/>
        </p:nvSpPr>
        <p:spPr>
          <a:xfrm>
            <a:off x="548640" y="3017520"/>
            <a:ext cx="2587752" cy="365760"/>
          </a:xfrm>
          <a:prstGeom prst="rect">
            <a:avLst/>
          </a:prstGeom>
          <a:noFill/>
          <a:ln/>
        </p:spPr>
        <p:txBody>
          <a:bodyPr wrap="square" lIns="0" tIns="0" rIns="0" bIns="0" rtlCol="0" anchor="t"/>
          <a:lstStyle/>
          <a:p>
            <a:pPr algn="ctr" indent="0" marL="0">
              <a:buNone/>
            </a:pPr>
            <a:r>
              <a:rPr lang="en-US" sz="1700" b="1" dirty="0">
                <a:solidFill>
                  <a:schemeClr val="bg1"/>
                </a:solidFill>
              </a:rPr>
              <a:t>Mahammad Hasan</a:t>
            </a:r>
            <a:endParaRPr lang="en-US" sz="1700" dirty="0"/>
          </a:p>
        </p:txBody>
      </p:sp>
      <p:sp>
        <p:nvSpPr>
          <p:cNvPr id="5" name="Text 2"/>
          <p:cNvSpPr txBox="1"/>
          <p:nvPr/>
        </p:nvSpPr>
        <p:spPr>
          <a:xfrm>
            <a:off x="548640" y="3383280"/>
            <a:ext cx="2587752" cy="274320"/>
          </a:xfrm>
          <a:prstGeom prst="rect">
            <a:avLst/>
          </a:prstGeom>
          <a:noFill/>
          <a:ln/>
        </p:spPr>
        <p:txBody>
          <a:bodyPr wrap="square" lIns="0" tIns="0" rIns="0" bIns="0" rtlCol="0" anchor="t"/>
          <a:lstStyle/>
          <a:p>
            <a:pPr algn="ctr" indent="0" marL="0">
              <a:buNone/>
            </a:pPr>
            <a:r>
              <a:rPr lang="en-US" sz="1200" dirty="0">
                <a:solidFill>
                  <a:schemeClr val="accent3"/>
                </a:solidFill>
              </a:rPr>
              <a:t>11220320828</a:t>
            </a:r>
            <a:endParaRPr lang="en-US" sz="1200" dirty="0"/>
          </a:p>
        </p:txBody>
      </p:sp>
      <p:sp>
        <p:nvSpPr>
          <p:cNvPr id="6" name="Text 3"/>
          <p:cNvSpPr txBox="1"/>
          <p:nvPr/>
        </p:nvSpPr>
        <p:spPr>
          <a:xfrm>
            <a:off x="548640" y="3657600"/>
            <a:ext cx="2587752" cy="548640"/>
          </a:xfrm>
          <a:prstGeom prst="rect">
            <a:avLst/>
          </a:prstGeom>
          <a:noFill/>
          <a:ln/>
        </p:spPr>
        <p:txBody>
          <a:bodyPr wrap="square" lIns="0" tIns="0" rIns="0" bIns="0" rtlCol="0" anchor="t"/>
          <a:lstStyle/>
          <a:p>
            <a:pPr algn="ctr" indent="0" marL="0">
              <a:buNone/>
            </a:pPr>
            <a:r>
              <a:rPr lang="en-US" sz="1300" dirty="0">
                <a:solidFill>
                  <a:schemeClr val="bg1"/>
                </a:solidFill>
              </a:rPr>
              <a:t>Team Leader · Frontend + UI/UX</a:t>
            </a:r>
            <a:endParaRPr lang="en-US" sz="1300" dirty="0"/>
          </a:p>
        </p:txBody>
      </p:sp>
      <p:pic>
        <p:nvPicPr>
          <p:cNvPr id="7" name="Shanawaz Sakib photo" descr="Shanawaz Sakib">    </p:cNvPr>
          <p:cNvPicPr>
            <a:picLocks noChangeAspect="1"/>
          </p:cNvPicPr>
          <p:nvPr/>
        </p:nvPicPr>
        <p:blipFill>
          <a:blip r:embed="rId2"/>
          <a:stretch>
            <a:fillRect/>
          </a:stretch>
        </p:blipFill>
        <p:spPr>
          <a:xfrm>
            <a:off x="3968496" y="1463040"/>
            <a:ext cx="1371600" cy="1371600"/>
          </a:xfrm>
          <a:prstGeom prst="ellipse">
            <a:avLst/>
          </a:prstGeom>
        </p:spPr>
      </p:pic>
      <p:sp>
        <p:nvSpPr>
          <p:cNvPr id="8" name="Text 4"/>
          <p:cNvSpPr txBox="1"/>
          <p:nvPr/>
        </p:nvSpPr>
        <p:spPr>
          <a:xfrm>
            <a:off x="3364992" y="3017520"/>
            <a:ext cx="2587752" cy="365760"/>
          </a:xfrm>
          <a:prstGeom prst="rect">
            <a:avLst/>
          </a:prstGeom>
          <a:noFill/>
          <a:ln/>
        </p:spPr>
        <p:txBody>
          <a:bodyPr wrap="square" lIns="0" tIns="0" rIns="0" bIns="0" rtlCol="0" anchor="t"/>
          <a:lstStyle/>
          <a:p>
            <a:pPr algn="ctr" indent="0" marL="0">
              <a:buNone/>
            </a:pPr>
            <a:r>
              <a:rPr lang="en-US" sz="1700" b="1" dirty="0">
                <a:solidFill>
                  <a:schemeClr val="bg1"/>
                </a:solidFill>
              </a:rPr>
              <a:t>Shanawaz Sakib</a:t>
            </a:r>
            <a:endParaRPr lang="en-US" sz="1700" dirty="0"/>
          </a:p>
        </p:txBody>
      </p:sp>
      <p:sp>
        <p:nvSpPr>
          <p:cNvPr id="9" name="Text 5"/>
          <p:cNvSpPr txBox="1"/>
          <p:nvPr/>
        </p:nvSpPr>
        <p:spPr>
          <a:xfrm>
            <a:off x="3364992" y="3383280"/>
            <a:ext cx="2587752" cy="274320"/>
          </a:xfrm>
          <a:prstGeom prst="rect">
            <a:avLst/>
          </a:prstGeom>
          <a:noFill/>
          <a:ln/>
        </p:spPr>
        <p:txBody>
          <a:bodyPr wrap="square" lIns="0" tIns="0" rIns="0" bIns="0" rtlCol="0" anchor="t"/>
          <a:lstStyle/>
          <a:p>
            <a:pPr algn="ctr" indent="0" marL="0">
              <a:buNone/>
            </a:pPr>
            <a:r>
              <a:rPr lang="en-US" sz="1200" dirty="0">
                <a:solidFill>
                  <a:schemeClr val="accent3"/>
                </a:solidFill>
              </a:rPr>
              <a:t>11220320916</a:t>
            </a:r>
            <a:endParaRPr lang="en-US" sz="1200" dirty="0"/>
          </a:p>
        </p:txBody>
      </p:sp>
      <p:sp>
        <p:nvSpPr>
          <p:cNvPr id="10" name="Text 6"/>
          <p:cNvSpPr txBox="1"/>
          <p:nvPr/>
        </p:nvSpPr>
        <p:spPr>
          <a:xfrm>
            <a:off x="3364992" y="3657600"/>
            <a:ext cx="2587752" cy="548640"/>
          </a:xfrm>
          <a:prstGeom prst="rect">
            <a:avLst/>
          </a:prstGeom>
          <a:noFill/>
          <a:ln/>
        </p:spPr>
        <p:txBody>
          <a:bodyPr wrap="square" lIns="0" tIns="0" rIns="0" bIns="0" rtlCol="0" anchor="t"/>
          <a:lstStyle/>
          <a:p>
            <a:pPr algn="ctr" indent="0" marL="0">
              <a:buNone/>
            </a:pPr>
            <a:r>
              <a:rPr lang="en-US" sz="1300" dirty="0">
                <a:solidFill>
                  <a:schemeClr val="bg1"/>
                </a:solidFill>
              </a:rPr>
              <a:t>Core System Integration</a:t>
            </a:r>
            <a:endParaRPr lang="en-US" sz="1300" dirty="0"/>
          </a:p>
        </p:txBody>
      </p:sp>
      <p:pic>
        <p:nvPicPr>
          <p:cNvPr id="11" name="Ashikur Rahman Himel photo" descr="Ashikur Rahman Himel">    </p:cNvPr>
          <p:cNvPicPr>
            <a:picLocks noChangeAspect="1"/>
          </p:cNvPicPr>
          <p:nvPr/>
        </p:nvPicPr>
        <p:blipFill>
          <a:blip r:embed="rId3"/>
          <a:stretch>
            <a:fillRect/>
          </a:stretch>
        </p:blipFill>
        <p:spPr>
          <a:xfrm>
            <a:off x="6784848" y="1463040"/>
            <a:ext cx="1371600" cy="1371600"/>
          </a:xfrm>
          <a:prstGeom prst="ellipse">
            <a:avLst/>
          </a:prstGeom>
        </p:spPr>
      </p:pic>
      <p:sp>
        <p:nvSpPr>
          <p:cNvPr id="12" name="Text 7"/>
          <p:cNvSpPr txBox="1"/>
          <p:nvPr/>
        </p:nvSpPr>
        <p:spPr>
          <a:xfrm>
            <a:off x="6181344" y="3017520"/>
            <a:ext cx="2587752" cy="365760"/>
          </a:xfrm>
          <a:prstGeom prst="rect">
            <a:avLst/>
          </a:prstGeom>
          <a:noFill/>
          <a:ln/>
        </p:spPr>
        <p:txBody>
          <a:bodyPr wrap="square" lIns="0" tIns="0" rIns="0" bIns="0" rtlCol="0" anchor="t"/>
          <a:lstStyle/>
          <a:p>
            <a:pPr algn="ctr" indent="0" marL="0">
              <a:buNone/>
            </a:pPr>
            <a:r>
              <a:rPr lang="en-US" sz="1700" b="1" dirty="0">
                <a:solidFill>
                  <a:schemeClr val="bg1"/>
                </a:solidFill>
              </a:rPr>
              <a:t>Ashikur Rahman Himel</a:t>
            </a:r>
            <a:endParaRPr lang="en-US" sz="1700" dirty="0"/>
          </a:p>
        </p:txBody>
      </p:sp>
      <p:sp>
        <p:nvSpPr>
          <p:cNvPr id="13" name="Text 8"/>
          <p:cNvSpPr txBox="1"/>
          <p:nvPr/>
        </p:nvSpPr>
        <p:spPr>
          <a:xfrm>
            <a:off x="6181344" y="3383280"/>
            <a:ext cx="2587752" cy="274320"/>
          </a:xfrm>
          <a:prstGeom prst="rect">
            <a:avLst/>
          </a:prstGeom>
          <a:noFill/>
          <a:ln/>
        </p:spPr>
        <p:txBody>
          <a:bodyPr wrap="square" lIns="0" tIns="0" rIns="0" bIns="0" rtlCol="0" anchor="t"/>
          <a:lstStyle/>
          <a:p>
            <a:pPr algn="ctr" indent="0" marL="0">
              <a:buNone/>
            </a:pPr>
            <a:r>
              <a:rPr lang="en-US" sz="1200" dirty="0">
                <a:solidFill>
                  <a:schemeClr val="accent3"/>
                </a:solidFill>
              </a:rPr>
              <a:t>11220320833</a:t>
            </a:r>
            <a:endParaRPr lang="en-US" sz="1200" dirty="0"/>
          </a:p>
        </p:txBody>
      </p:sp>
      <p:sp>
        <p:nvSpPr>
          <p:cNvPr id="14" name="Text 9"/>
          <p:cNvSpPr txBox="1"/>
          <p:nvPr/>
        </p:nvSpPr>
        <p:spPr>
          <a:xfrm>
            <a:off x="6181344" y="3657600"/>
            <a:ext cx="2587752" cy="548640"/>
          </a:xfrm>
          <a:prstGeom prst="rect">
            <a:avLst/>
          </a:prstGeom>
          <a:noFill/>
          <a:ln/>
        </p:spPr>
        <p:txBody>
          <a:bodyPr wrap="square" lIns="0" tIns="0" rIns="0" bIns="0" rtlCol="0" anchor="t"/>
          <a:lstStyle/>
          <a:p>
            <a:pPr algn="ctr" indent="0" marL="0">
              <a:buNone/>
            </a:pPr>
            <a:r>
              <a:rPr lang="en-US" sz="1300" dirty="0">
                <a:solidFill>
                  <a:schemeClr val="bg1"/>
                </a:solidFill>
              </a:rPr>
              <a:t>Database &amp; Quality</a:t>
            </a:r>
            <a:endParaRPr lang="en-US" sz="1300" dirty="0"/>
          </a:p>
        </p:txBody>
      </p:sp>
      <p:pic>
        <p:nvPicPr>
          <p:cNvPr id="15" name="Rasel Ratul photo" descr="Rasel Ratul">    </p:cNvPr>
          <p:cNvPicPr>
            <a:picLocks noChangeAspect="1"/>
          </p:cNvPicPr>
          <p:nvPr/>
        </p:nvPicPr>
        <p:blipFill>
          <a:blip r:embed="rId4"/>
          <a:stretch>
            <a:fillRect/>
          </a:stretch>
        </p:blipFill>
        <p:spPr>
          <a:xfrm>
            <a:off x="9601200" y="1463040"/>
            <a:ext cx="1371600" cy="1371600"/>
          </a:xfrm>
          <a:prstGeom prst="ellipse">
            <a:avLst/>
          </a:prstGeom>
        </p:spPr>
      </p:pic>
      <p:sp>
        <p:nvSpPr>
          <p:cNvPr id="16" name="Text 10"/>
          <p:cNvSpPr txBox="1"/>
          <p:nvPr/>
        </p:nvSpPr>
        <p:spPr>
          <a:xfrm>
            <a:off x="8997696" y="3017520"/>
            <a:ext cx="2587752" cy="365760"/>
          </a:xfrm>
          <a:prstGeom prst="rect">
            <a:avLst/>
          </a:prstGeom>
          <a:noFill/>
          <a:ln/>
        </p:spPr>
        <p:txBody>
          <a:bodyPr wrap="square" lIns="0" tIns="0" rIns="0" bIns="0" rtlCol="0" anchor="t"/>
          <a:lstStyle/>
          <a:p>
            <a:pPr algn="ctr" indent="0" marL="0">
              <a:buNone/>
            </a:pPr>
            <a:r>
              <a:rPr lang="en-US" sz="1700" b="1" dirty="0">
                <a:solidFill>
                  <a:schemeClr val="bg1"/>
                </a:solidFill>
              </a:rPr>
              <a:t>Rasel Ratul</a:t>
            </a:r>
            <a:endParaRPr lang="en-US" sz="1700" dirty="0"/>
          </a:p>
        </p:txBody>
      </p:sp>
      <p:sp>
        <p:nvSpPr>
          <p:cNvPr id="17" name="Text 11"/>
          <p:cNvSpPr txBox="1"/>
          <p:nvPr/>
        </p:nvSpPr>
        <p:spPr>
          <a:xfrm>
            <a:off x="8997696" y="3383280"/>
            <a:ext cx="2587752" cy="274320"/>
          </a:xfrm>
          <a:prstGeom prst="rect">
            <a:avLst/>
          </a:prstGeom>
          <a:noFill/>
          <a:ln/>
        </p:spPr>
        <p:txBody>
          <a:bodyPr wrap="square" lIns="0" tIns="0" rIns="0" bIns="0" rtlCol="0" anchor="t"/>
          <a:lstStyle/>
          <a:p>
            <a:pPr algn="ctr" indent="0" marL="0">
              <a:buNone/>
            </a:pPr>
            <a:r>
              <a:rPr lang="en-US" sz="1200" dirty="0">
                <a:solidFill>
                  <a:schemeClr val="accent3"/>
                </a:solidFill>
              </a:rPr>
              <a:t>11220320827</a:t>
            </a:r>
            <a:endParaRPr lang="en-US" sz="1200" dirty="0"/>
          </a:p>
        </p:txBody>
      </p:sp>
      <p:sp>
        <p:nvSpPr>
          <p:cNvPr id="18" name="Text 12"/>
          <p:cNvSpPr txBox="1"/>
          <p:nvPr/>
        </p:nvSpPr>
        <p:spPr>
          <a:xfrm>
            <a:off x="8997696" y="3657600"/>
            <a:ext cx="2587752" cy="548640"/>
          </a:xfrm>
          <a:prstGeom prst="rect">
            <a:avLst/>
          </a:prstGeom>
          <a:noFill/>
          <a:ln/>
        </p:spPr>
        <p:txBody>
          <a:bodyPr wrap="square" lIns="0" tIns="0" rIns="0" bIns="0" rtlCol="0" anchor="t"/>
          <a:lstStyle/>
          <a:p>
            <a:pPr algn="ctr" indent="0" marL="0">
              <a:buNone/>
            </a:pPr>
            <a:r>
              <a:rPr lang="en-US" sz="1300" dirty="0">
                <a:solidFill>
                  <a:schemeClr val="bg1"/>
                </a:solidFill>
              </a:rPr>
              <a:t>Backend Developer</a:t>
            </a:r>
            <a:endParaRPr lang="en-US" sz="1300" dirty="0"/>
          </a:p>
        </p:txBody>
      </p:sp>
      <p:sp>
        <p:nvSpPr>
          <p:cNvPr id="19" name="Text 13"/>
          <p:cNvSpPr txBox="1"/>
          <p:nvPr/>
        </p:nvSpPr>
        <p:spPr>
          <a:xfrm>
            <a:off x="548640" y="4937760"/>
            <a:ext cx="8229600" cy="822960"/>
          </a:xfrm>
          <a:prstGeom prst="rect">
            <a:avLst/>
          </a:prstGeom>
          <a:noFill/>
          <a:ln/>
        </p:spPr>
        <p:txBody>
          <a:bodyPr wrap="square" lIns="0" tIns="0" rIns="0" bIns="0" rtlCol="0" anchor="t"/>
          <a:lstStyle/>
          <a:p>
            <a:pPr indent="0" marL="0">
              <a:buNone/>
            </a:pPr>
            <a:r>
              <a:rPr lang="en-US" sz="1500" b="1" dirty="0">
                <a:solidFill>
                  <a:schemeClr val="accent2"/>
                </a:solidFill>
              </a:rPr>
              <a:t>Live: </a:t>
            </a:r>
            <a:pPr indent="0" marL="0">
              <a:buNone/>
            </a:pPr>
            <a:r>
              <a:rPr lang="en-US" sz="1500" dirty="0">
                <a:solidFill>
                  <a:schemeClr val="bg1"/>
                </a:solidFill>
              </a:rPr>
              <a:t>https://ai-resume-analyzer-psi-lime.vercel.app</a:t>
            </a:r>
            <a:endParaRPr lang="en-US" sz="1500" dirty="0"/>
          </a:p>
          <a:p>
            <a:pPr indent="0" marL="0">
              <a:buNone/>
            </a:pPr>
            <a:r>
              <a:rPr lang="en-US" sz="1500" b="1" dirty="0">
                <a:solidFill>
                  <a:schemeClr val="accent2"/>
                </a:solidFill>
              </a:rPr>
              <a:t>Code: </a:t>
            </a:r>
            <a:pPr indent="0" marL="0">
              <a:buNone/>
            </a:pPr>
            <a:r>
              <a:rPr lang="en-US" sz="1500" dirty="0">
                <a:solidFill>
                  <a:schemeClr val="bg1"/>
                </a:solidFill>
              </a:rPr>
              <a:t>github.com/mahamud894/AI_Resume_Analyzer</a:t>
            </a:r>
            <a:endParaRPr lang="en-US" sz="1500" dirty="0"/>
          </a:p>
        </p:txBody>
      </p:sp>
      <p:sp>
        <p:nvSpPr>
          <p:cNvPr id="20" name="Text 14"/>
          <p:cNvSpPr txBox="1"/>
          <p:nvPr/>
        </p:nvSpPr>
        <p:spPr>
          <a:xfrm>
            <a:off x="548640" y="5943600"/>
            <a:ext cx="8229600" cy="365760"/>
          </a:xfrm>
          <a:prstGeom prst="rect">
            <a:avLst/>
          </a:prstGeom>
          <a:noFill/>
          <a:ln/>
        </p:spPr>
        <p:txBody>
          <a:bodyPr wrap="square" lIns="0" tIns="0" rIns="0" bIns="0" rtlCol="0" anchor="t"/>
          <a:lstStyle/>
          <a:p>
            <a:pPr indent="0" marL="0">
              <a:buNone/>
            </a:pPr>
            <a:r>
              <a:rPr lang="en-US" sz="1200" dirty="0">
                <a:solidFill>
                  <a:schemeClr val="accent3"/>
                </a:solidFill>
              </a:rPr>
              <a:t>Supervisor: Md. Riaz Mahmud, Assistant Professor, Dept. of CSE, NUBTK</a:t>
            </a:r>
            <a:endParaRPr lang="en-US" sz="1200" dirty="0"/>
          </a:p>
        </p:txBody>
      </p:sp>
      <p:pic>
        <p:nvPicPr>
          <p:cNvPr id="21" name="closing QR" descr="QR code to the live app">    </p:cNvPr>
          <p:cNvPicPr>
            <a:picLocks noChangeAspect="1"/>
          </p:cNvPicPr>
          <p:nvPr/>
        </p:nvPicPr>
        <p:blipFill>
          <a:blip r:embed="rId5"/>
          <a:stretch>
            <a:fillRect/>
          </a:stretch>
        </p:blipFill>
        <p:spPr>
          <a:xfrm>
            <a:off x="9692640" y="4526280"/>
            <a:ext cx="1828800" cy="18288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Resumind">
  <a:themeElements>
    <a:clrScheme name="Resumind">
      <a:dk1>
        <a:srgbClr val="14123A"/>
      </a:dk1>
      <a:lt1>
        <a:srgbClr val="FFFFFF"/>
      </a:lt1>
      <a:dk2>
        <a:srgbClr val="475467"/>
      </a:dk2>
      <a:lt2>
        <a:srgbClr val="F3F4FF"/>
      </a:lt2>
      <a:accent1>
        <a:srgbClr val="606BEB"/>
      </a:accent1>
      <a:accent2>
        <a:srgbClr val="FF97AD"/>
      </a:accent2>
      <a:accent3>
        <a:srgbClr val="8E98FF"/>
      </a:accent3>
      <a:accent4>
        <a:srgbClr val="12B76A"/>
      </a:accent4>
      <a:accent5>
        <a:srgbClr val="F79009"/>
      </a:accent5>
      <a:accent6>
        <a:srgbClr val="D0D5DD"/>
      </a:accent6>
      <a:hlink>
        <a:srgbClr val="606BEB"/>
      </a:hlink>
      <a:folHlink>
        <a:srgbClr val="4957EB"/>
      </a:folHlink>
    </a:clrScheme>
    <a:fontScheme name="Resumin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Northern University of Business and Technology Khulna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CSE4204-8A-T05 Presentation — RESUMIND</dc:title>
  <dc:subject>PptxGenJS Presentation</dc:subject>
  <dc:creator>CSE4204-8A-T05</dc:creator>
  <cp:lastModifiedBy>CSE4204-8A-T05</cp:lastModifiedBy>
  <cp:revision>1</cp:revision>
  <dcterms:created xsi:type="dcterms:W3CDTF">2026-10-22T16:48:09Z</dcterms:created>
  <dcterms:modified xsi:type="dcterms:W3CDTF">2026-10-22T16:48:09Z</dcterms:modified>
</cp:coreProperties>
</file>