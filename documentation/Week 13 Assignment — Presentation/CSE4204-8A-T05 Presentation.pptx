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375783e-7194-fe69-c474-9905f6870506}">
          <p14:sldIdLst>
            <p14:sldId id="256"/>
            <p14:sldId id="257"/>
            <p14:sldId id="258"/>
            <p14:sldId id="259"/>
            <p14:sldId id="260"/>
          </p14:sldIdLst>
        </p14:section>
        <p14:section name="System" id="{27fc097d-7b25-2015-3dca-e82ca71d0b64}">
          <p14:sldIdLst>
            <p14:sldId id="261"/>
            <p14:sldId id="262"/>
            <p14:sldId id="263"/>
            <p14:sldId id="264"/>
          </p14:sldIdLst>
        </p14:section>
        <p14:section name="AI" id="{93c42949-dca8-9a5a-c0cc-cfb0077f6d0c}">
          <p14:sldIdLst>
            <p14:sldId id="265"/>
            <p14:sldId id="266"/>
          </p14:sldIdLst>
        </p14:section>
        <p14:section name="Quality" id="{f92755c6-399d-ca80-fc69-0edc9c963da4}">
          <p14:sldIdLst>
            <p14:sldId id="267"/>
            <p14:sldId id="268"/>
            <p14:sldId id="269"/>
          </p14:sldIdLst>
        </p14:section>
        <p14:section name="Demonstration" id="{afcc8290-a842-f0d8-c6b2-d4004fcd2522}">
          <p14:sldIdLst>
            <p14:sldId id="270"/>
            <p14:sldId id="271"/>
          </p14:sldIdLst>
        </p14:section>
        <p14:section name="Conclusion" id="{cad931af-3786-9a02-ce26-880001776b73}">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57"/>
                </a:solidFill>
                <a:latin typeface="+mn-lt"/>
              </a:defRPr>
            </a:pPr>
            <a:r>
              <a:rPr sz="1400" b="0" i="0" u="none" strike="noStrike">
                <a:solidFill>
                  <a:srgbClr val="1B2A57"/>
                </a:solidFill>
                <a:latin typeface="+mn-lt"/>
              </a:rPr>
              <a:t>Tests per suite</a:t>
            </a:r>
          </a:p>
        </c:rich>
      </c:tx>
      <c:layout/>
      <c:overlay val="0"/>
    </c:title>
    <c:autoTitleDeleted val="0"/>
    <c:plotArea>
      <c:layout/>
      <c:barChart>
        <c:barDir val="bar"/>
        <c:grouping val="clustered"/>
        <c:varyColors val="0"/>
        <c:ser>
          <c:idx val="0"/>
          <c:order val="0"/>
          <c:tx>
            <c:strRef>
              <c:f>Sheet1!$B$1</c:f>
              <c:strCache>
                <c:ptCount val="1"/>
                <c:pt idx="0">
                  <c:v>Tests</c:v>
                </c:pt>
              </c:strCache>
            </c:strRef>
          </c:tx>
          <c:spPr>
            <a:solidFill>
              <a:srgbClr val="2F4FA8"/>
            </a:solidFill>
            <a:effectLst/>
          </c:spPr>
          <c:invertIfNegative val="0"/>
          <c:dLbls>
            <c:numFmt formatCode="#,##0" sourceLinked="0"/>
            <c:txPr>
              <a:bodyPr/>
              <a:lstStyle/>
              <a:p>
                <a:pPr>
                  <a:defRPr b="0" i="0" strike="noStrike" sz="1200" u="none">
                    <a:solidFill>
                      <a:srgbClr val="1B2A57"/>
                    </a:solidFill>
                    <a:latin typeface="+mn-lt"/>
                  </a:defRPr>
                </a:pPr>
              </a:p>
            </c:txPr>
            <c:showLegendKey val="0"/>
            <c:showVal val="1"/>
            <c:showCatName val="0"/>
            <c:showSerName val="0"/>
            <c:showPercent val="0"/>
            <c:showBubbleSize val="0"/>
            <c:showLeaderLines val="0"/>
          </c:dLbls>
          <c:cat>
            <c:multiLvlStrRef>
              <c:f>Sheet1!$A$2:$A$6</c:f>
              <c:multiLvlStrCache>
                <c:ptCount val="5"/>
                <c:lvl>
                  <c:pt idx="0">
                    <c:v>Auth</c:v>
                  </c:pt>
                  <c:pt idx="1">
                    <c:v>Google Sign-In</c:v>
                  </c:pt>
                  <c:pt idx="2">
                    <c:v>Resumes</c:v>
                  </c:pt>
                  <c:pt idx="3">
                    <c:v>Analysis</c:v>
                  </c:pt>
                  <c:pt idx="4">
                    <c:v>Europass / score / letter</c:v>
                  </c:pt>
                </c:lvl>
              </c:multiLvlStrCache>
            </c:multiLvlStrRef>
          </c:cat>
          <c:val>
            <c:numRef>
              <c:f>Sheet1!$B$2:$B$6</c:f>
              <c:numCache>
                <c:formatCode>General</c:formatCode>
                <c:ptCount val="5"/>
                <c:pt idx="0">
                  <c:v>10</c:v>
                </c:pt>
                <c:pt idx="1">
                  <c:v>9</c:v>
                </c:pt>
                <c:pt idx="2">
                  <c:v>12</c:v>
                </c:pt>
                <c:pt idx="3">
                  <c:v>4</c:v>
                </c:pt>
                <c:pt idx="4">
                  <c:v>13</c:v>
                </c:pt>
              </c:numCache>
            </c:numRef>
          </c:val>
        </c:ser>
        <c:dLbls>
          <c:numFmt formatCode="#,##0" sourceLinked="0"/>
          <c:txPr>
            <a:bodyPr/>
            <a:lstStyle/>
            <a:p>
              <a:pPr>
                <a:defRPr b="0" i="0" strike="noStrike" sz="1200" u="none">
                  <a:solidFill>
                    <a:srgbClr val="1B2A57"/>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Assalamu alaikum. We are team CSE4204-8A-T05. Our project is RESUMIND, an AI-powered resume analyzer and career copilot, supervised by Md. Riaz Mahmud sir.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outline of our presentation. We start with the problem, then the system design, AI workflow, testing and deployment, and finish with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 helps a job seeker in four steps: analyse, improve, measure and apply. It is a full-stack app with React, Express, MongoDB and Google Gemini.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companies use ATS software. A capable graduate can be rejected only because a keyword is missing, and never learns why. Existing tools are paid or only solve one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set eight objectives in our proposal, and all eight are achieved in the final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user moves through five steps: upload, analyse, improve to Europass, measure the new score and generate the letter. Everything is saved in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three-tier architecture. The React app talks only to our Express API over HTTPS with a JWT. Only the API reaches MongoDB and Gemini, so secrets never leave the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technologies we used and why we chose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collections follow the ERD. Every document stores its owner, unique indexes enforce one improved CV per analysis, and deleting cascades. Files are stored in GridFS.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AI feature uses the same path: extract text, build the prompt, call Gemini in JSON mode, retry if busy, validate, and save. The improvement branch adds a code post-check.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language model can still invent facts. Our code checks the CV after Gemini answers: new numbers become placeholders, dates become MM/YYYY, and private data is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Login returns a JWT that the browser sends with every request. The middleware checks it and every query is filtered by the owner. The API has 21 endpoints in four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48 automated tests that send real HTTP requests to a temporary in-memory database with Gemini mocked. GitHub Actions runs them on every push before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frontend is on Vercel, the backend on Render, and data in MongoDB Atlas. Every push to main runs CI and redeploys. The free Render plan sleeps, so the first request can take about 50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show the system live. Each member demonstrates the part they built. If the network fails, the next slide has backup screenshots.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screenshots of the main screens in case the live demo cannot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biggest challenge was making the AI reliable and truthful; schemas and post-checks solved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 would add OCR, job-link import, interview practice, Bangla, a native mobile app and a recruiter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RESUMIND meets all the objectives and is live on the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Each of us can explain our own part.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Shape 0"/>
          <p:cNvSpPr/>
          <p:nvPr/>
        </p:nvSpPr>
        <p:spPr>
          <a:xfrm>
            <a:off x="548640" y="1097280"/>
            <a:ext cx="11091672" cy="0"/>
          </a:xfrm>
          <a:prstGeom prst="line">
            <a:avLst/>
          </a:prstGeom>
          <a:noFill/>
          <a:ln w="12700">
            <a:solidFill>
              <a:srgbClr val="D9DEE8"/>
            </a:solidFill>
            <a:prstDash val="solid"/>
          </a:ln>
        </p:spPr>
      </p:sp>
      <p:sp>
        <p:nvSpPr>
          <p:cNvPr id="4" name="Shape 1"/>
          <p:cNvSpPr/>
          <p:nvPr/>
        </p:nvSpPr>
        <p:spPr>
          <a:xfrm>
            <a:off x="548640" y="6355080"/>
            <a:ext cx="11091672" cy="0"/>
          </a:xfrm>
          <a:prstGeom prst="line">
            <a:avLst/>
          </a:prstGeom>
          <a:noFill/>
          <a:ln w="9525">
            <a:solidFill>
              <a:srgbClr val="D9DEE8"/>
            </a:solidFill>
            <a:prstDash val="solid"/>
          </a:ln>
        </p:spPr>
      </p:sp>
      <p:sp>
        <p:nvSpPr>
          <p:cNvPr id="5" name="Text 2"/>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tx2"/>
                </a:solidFill>
              </a:rPr>
              <a:t>Northern University of Business and Technology Khulna  ·  CSE4204 Mobile Computing Lab</a:t>
            </a:r>
            <a:endParaRPr lang="en-US" sz="1000" dirty="0"/>
          </a:p>
        </p:txBody>
      </p:sp>
      <p:sp>
        <p:nvSpPr>
          <p:cNvPr id="6" name="Text 3"/>
          <p:cNvSpPr/>
          <p:nvPr/>
        </p:nvSpPr>
        <p:spPr>
          <a:xfrm>
            <a:off x="8138160" y="6419088"/>
            <a:ext cx="2926080" cy="274320"/>
          </a:xfrm>
          <a:prstGeom prst="rect">
            <a:avLst/>
          </a:prstGeom>
          <a:noFill/>
          <a:ln/>
        </p:spPr>
        <p:txBody>
          <a:bodyPr wrap="square" lIns="0" tIns="0" rIns="0" bIns="0" rtlCol="0" anchor="ctr"/>
          <a:lstStyle/>
          <a:p>
            <a:pPr algn="r" indent="0" marL="0">
              <a:buNone/>
            </a:pPr>
            <a:r>
              <a:rPr lang="en-US" sz="1000" dirty="0">
                <a:solidFill>
                  <a:schemeClr val="tx2"/>
                </a:solidFill>
              </a:rPr>
              <a:t>Team CSE4204-8A-T05</a:t>
            </a:r>
            <a:endParaRPr lang="en-US" sz="1000" dirty="0"/>
          </a:p>
        </p:txBody>
      </p:sp>
      <p:sp>
        <p:nvSpPr>
          <p:cNvPr id="25" name="Slide Number Placeholder 0"/>
          <p:cNvSpPr>
            <a:spLocks noGrp="1"/>
          </p:cNvSpPr>
          <p:nvPr>
            <p:ph type="sldNum" sz="quarter" idx="4294967295"/>
          </p:nvPr>
        </p:nvSpPr>
        <p:spPr>
          <a:xfrm>
            <a:off x="11201400" y="6419088"/>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19088"/>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3-1.png"/><Relationship Id="rId3"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image" Target="../media/image-13-4.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3.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3.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image" Target="../media/image-20-3.jpg"/><Relationship Id="rId4" Type="http://schemas.openxmlformats.org/officeDocument/2006/relationships/image" Target="../media/image-20-4.jp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411480"/>
            <a:ext cx="11091672" cy="457200"/>
          </a:xfrm>
          <a:prstGeom prst="rect">
            <a:avLst/>
          </a:prstGeom>
          <a:noFill/>
          <a:ln/>
        </p:spPr>
        <p:txBody>
          <a:bodyPr wrap="square" lIns="0" tIns="0" rIns="0" bIns="0" rtlCol="0" anchor="t"/>
          <a:lstStyle/>
          <a:p>
            <a:pPr algn="ctr" indent="0" marL="0">
              <a:buNone/>
            </a:pPr>
            <a:r>
              <a:rPr lang="en-US" sz="2600" b="1" dirty="0">
                <a:solidFill>
                  <a:schemeClr val="tx1"/>
                </a:solidFill>
              </a:rPr>
              <a:t>Northern University of Business and Technology Khulna</a:t>
            </a:r>
            <a:endParaRPr lang="en-US" sz="2600" dirty="0"/>
          </a:p>
        </p:txBody>
      </p:sp>
      <p:sp>
        <p:nvSpPr>
          <p:cNvPr id="3" name="Text 1"/>
          <p:cNvSpPr txBox="1"/>
          <p:nvPr/>
        </p:nvSpPr>
        <p:spPr>
          <a:xfrm>
            <a:off x="548640" y="868680"/>
            <a:ext cx="11091672" cy="365760"/>
          </a:xfrm>
          <a:prstGeom prst="rect">
            <a:avLst/>
          </a:prstGeom>
          <a:noFill/>
          <a:ln/>
        </p:spPr>
        <p:txBody>
          <a:bodyPr wrap="square" lIns="0" tIns="0" rIns="0" bIns="0" rtlCol="0" anchor="t"/>
          <a:lstStyle/>
          <a:p>
            <a:pPr algn="ctr" indent="0" marL="0">
              <a:buNone/>
            </a:pPr>
            <a:r>
              <a:rPr lang="en-US" sz="1800" dirty="0">
                <a:solidFill>
                  <a:schemeClr val="tx2"/>
                </a:solidFill>
              </a:rPr>
              <a:t>Department of Computer Science and Engineering</a:t>
            </a:r>
            <a:endParaRPr lang="en-US" sz="1800" dirty="0"/>
          </a:p>
        </p:txBody>
      </p:sp>
      <p:sp>
        <p:nvSpPr>
          <p:cNvPr id="4" name="Text 2"/>
          <p:cNvSpPr txBox="1"/>
          <p:nvPr/>
        </p:nvSpPr>
        <p:spPr>
          <a:xfrm>
            <a:off x="548640" y="1280160"/>
            <a:ext cx="11091672" cy="320040"/>
          </a:xfrm>
          <a:prstGeom prst="rect">
            <a:avLst/>
          </a:prstGeom>
          <a:noFill/>
          <a:ln/>
        </p:spPr>
        <p:txBody>
          <a:bodyPr wrap="square" lIns="0" tIns="0" rIns="0" bIns="0" rtlCol="0" anchor="t"/>
          <a:lstStyle/>
          <a:p>
            <a:pPr algn="ctr" indent="0" marL="0">
              <a:buNone/>
            </a:pPr>
            <a:r>
              <a:rPr lang="en-US" sz="1500" dirty="0">
                <a:solidFill>
                  <a:schemeClr val="accent1"/>
                </a:solidFill>
              </a:rPr>
              <a:t>CSE4204 — Mobile Computing Lab  ·  Final Project Presentation</a:t>
            </a:r>
            <a:endParaRPr lang="en-US" sz="1500" dirty="0"/>
          </a:p>
        </p:txBody>
      </p:sp>
      <p:sp>
        <p:nvSpPr>
          <p:cNvPr id="5" name="Text 3"/>
          <p:cNvSpPr txBox="1"/>
          <p:nvPr/>
        </p:nvSpPr>
        <p:spPr>
          <a:xfrm>
            <a:off x="548640" y="1783080"/>
            <a:ext cx="11091672" cy="640080"/>
          </a:xfrm>
          <a:prstGeom prst="rect">
            <a:avLst/>
          </a:prstGeom>
          <a:noFill/>
          <a:ln/>
        </p:spPr>
        <p:txBody>
          <a:bodyPr wrap="square" lIns="0" tIns="0" rIns="0" bIns="0" rtlCol="0" anchor="t"/>
          <a:lstStyle/>
          <a:p>
            <a:pPr algn="ctr" indent="0" marL="0">
              <a:buNone/>
            </a:pPr>
            <a:r>
              <a:rPr lang="en-US" sz="4000" b="1" dirty="0">
                <a:solidFill>
                  <a:schemeClr val="tx1"/>
                </a:solidFill>
              </a:rPr>
              <a:t>RESUMIND</a:t>
            </a:r>
            <a:endParaRPr lang="en-US" sz="4000" dirty="0"/>
          </a:p>
        </p:txBody>
      </p:sp>
      <p:sp>
        <p:nvSpPr>
          <p:cNvPr id="6" name="Text 4"/>
          <p:cNvSpPr txBox="1"/>
          <p:nvPr/>
        </p:nvSpPr>
        <p:spPr>
          <a:xfrm>
            <a:off x="548640" y="2423160"/>
            <a:ext cx="11091672" cy="457200"/>
          </a:xfrm>
          <a:prstGeom prst="rect">
            <a:avLst/>
          </a:prstGeom>
          <a:noFill/>
          <a:ln/>
        </p:spPr>
        <p:txBody>
          <a:bodyPr wrap="square" lIns="0" tIns="0" rIns="0" bIns="0" rtlCol="0" anchor="t"/>
          <a:lstStyle/>
          <a:p>
            <a:pPr algn="ctr" indent="0" marL="0">
              <a:buNone/>
            </a:pPr>
            <a:r>
              <a:rPr lang="en-US" sz="2400" dirty="0">
                <a:solidFill>
                  <a:schemeClr val="tx1"/>
                </a:solidFill>
              </a:rPr>
              <a:t>AI-Powered Resume Analyzer and Career Copilot</a:t>
            </a:r>
            <a:endParaRPr lang="en-US" sz="2400" dirty="0"/>
          </a:p>
        </p:txBody>
      </p:sp>
      <p:sp>
        <p:nvSpPr>
          <p:cNvPr id="7" name="presented by box"/>
          <p:cNvSpPr/>
          <p:nvPr/>
        </p:nvSpPr>
        <p:spPr>
          <a:xfrm>
            <a:off x="822960" y="3108960"/>
            <a:ext cx="6675120" cy="3474720"/>
          </a:xfrm>
          <a:prstGeom prst="rect">
            <a:avLst/>
          </a:prstGeom>
          <a:solidFill>
            <a:schemeClr val="bg2"/>
          </a:solidFill>
          <a:ln w="9525">
            <a:solidFill>
              <a:srgbClr val="D9DEE8"/>
            </a:solidFill>
            <a:prstDash val="solid"/>
          </a:ln>
        </p:spPr>
      </p:sp>
      <p:sp>
        <p:nvSpPr>
          <p:cNvPr id="8" name="Text 6"/>
          <p:cNvSpPr txBox="1"/>
          <p:nvPr/>
        </p:nvSpPr>
        <p:spPr>
          <a:xfrm>
            <a:off x="1005840" y="3218688"/>
            <a:ext cx="6400800" cy="292608"/>
          </a:xfrm>
          <a:prstGeom prst="rect">
            <a:avLst/>
          </a:prstGeom>
          <a:noFill/>
          <a:ln/>
        </p:spPr>
        <p:txBody>
          <a:bodyPr wrap="square" lIns="0" tIns="0" rIns="0" bIns="0" rtlCol="0" anchor="t"/>
          <a:lstStyle/>
          <a:p>
            <a:pPr indent="0" marL="0">
              <a:buNone/>
            </a:pPr>
            <a:r>
              <a:rPr lang="en-US" sz="1400" b="1" dirty="0">
                <a:solidFill>
                  <a:schemeClr val="tx1"/>
                </a:solidFill>
              </a:rPr>
              <a:t>Presented by — Team CSE4204-8A-T05 (Section 8A)</a:t>
            </a:r>
            <a:endParaRPr lang="en-US" sz="1400" dirty="0"/>
          </a:p>
        </p:txBody>
      </p:sp>
      <p:graphicFrame>
        <p:nvGraphicFramePr>
          <p:cNvPr id="2" name="team table"/>
          <p:cNvGraphicFramePr>
            <a:graphicFrameLocks noGrp="1"/>
          </p:cNvGraphicFramePr>
          <p:nvPr>
            <p:extLst>
              <p:ext uri="{D42A27DB-BD31-4B8C-83A1-F6EECF244321}">
                <p14:modId xmlns:p14="http://schemas.microsoft.com/office/powerpoint/2010/main" val="1579011935"/>
              </p:ext>
            </p:extLst>
          </p:nvPr>
        </p:nvGraphicFramePr>
        <p:xfrm>
          <a:off x="1005840" y="3566160"/>
          <a:ext cx="6309360" cy="914400"/>
        </p:xfrm>
        <a:graphic>
          <a:graphicData uri="http://schemas.openxmlformats.org/drawingml/2006/table">
            <a:tbl>
              <a:tblPr/>
              <a:tblGrid>
                <a:gridCol w="2194560"/>
                <a:gridCol w="1463040"/>
                <a:gridCol w="2651760"/>
              </a:tblGrid>
              <a:tr h="292608">
                <a:tc>
                  <a:txBody>
                    <a:bodyPr/>
                    <a:lstStyle/>
                    <a:p>
                      <a:pPr indent="0" marL="0">
                        <a:buNone/>
                      </a:pPr>
                      <a:r>
                        <a:rPr lang="en-US" sz="1300" dirty="0">
                          <a:solidFill>
                            <a:schemeClr val="tx1"/>
                          </a:solidFill>
                        </a:rPr>
                        <a:t>Mahammad Hasan</a:t>
                      </a:r>
                      <a:endParaRPr lang="en-US" sz="1300" dirty="0"/>
                    </a:p>
                  </a:txBody>
                  <a:tcPr marL="27432" marR="27432" marT="27432" marB="27432">
                    <a:lnL w="0" cap="flat" cmpd="sng" algn="ctr">
                      <a:noFill/>
                    </a:lnL>
                    <a:lnR w="0" cap="flat" cmpd="sng" algn="ctr">
                      <a:noFill/>
                    </a:lnR>
                    <a:lnT w="0" cap="flat" cmpd="sng" algn="ctr">
                      <a:noFill/>
                    </a:lnT>
                    <a:lnB w="0" cap="flat" cmpd="sng" algn="ctr">
                      <a:noFill/>
                    </a:lnB>
                  </a:tcPr>
                </a:tc>
                <a:tc>
                  <a:txBody>
                    <a:bodyPr/>
                    <a:lstStyle/>
                    <a:p>
                      <a:pPr indent="0" marL="0">
                        <a:buNone/>
                      </a:pPr>
                      <a:r>
                        <a:rPr lang="en-US" sz="1300" dirty="0">
                          <a:solidFill>
                            <a:schemeClr val="tx1"/>
                          </a:solidFill>
                        </a:rPr>
                        <a:t>11220320828</a:t>
                      </a:r>
                      <a:endParaRPr lang="en-US" sz="1300" dirty="0"/>
                    </a:p>
                  </a:txBody>
                  <a:tcPr marL="27432" marR="27432" marT="27432" marB="27432">
                    <a:lnL w="0" cap="flat" cmpd="sng" algn="ctr">
                      <a:noFill/>
                    </a:lnL>
                    <a:lnR w="0" cap="flat" cmpd="sng" algn="ctr">
                      <a:noFill/>
                    </a:lnR>
                    <a:lnT w="0" cap="flat" cmpd="sng" algn="ctr">
                      <a:noFill/>
                    </a:lnT>
                    <a:lnB w="0" cap="flat" cmpd="sng" algn="ctr">
                      <a:noFill/>
                    </a:lnB>
                  </a:tcPr>
                </a:tc>
                <a:tc>
                  <a:txBody>
                    <a:bodyPr/>
                    <a:lstStyle/>
                    <a:p>
                      <a:pPr indent="0" marL="0">
                        <a:buNone/>
                      </a:pPr>
                      <a:r>
                        <a:rPr lang="en-US" sz="1300" dirty="0">
                          <a:solidFill>
                            <a:schemeClr val="tx1"/>
                          </a:solidFill>
                        </a:rPr>
                        <a:t>Team Leader</a:t>
                      </a:r>
                      <a:endParaRPr lang="en-US" sz="1300" dirty="0"/>
                    </a:p>
                  </a:txBody>
                  <a:tcPr marL="27432" marR="27432" marT="27432" marB="27432">
                    <a:lnL w="0" cap="flat" cmpd="sng" algn="ctr">
                      <a:noFill/>
                    </a:lnL>
                    <a:lnR w="0" cap="flat" cmpd="sng" algn="ctr">
                      <a:noFill/>
                    </a:lnR>
                    <a:lnT w="0" cap="flat" cmpd="sng" algn="ctr">
                      <a:noFill/>
                    </a:lnT>
                    <a:lnB w="0" cap="flat" cmpd="sng" algn="ctr">
                      <a:noFill/>
                    </a:lnB>
                  </a:tcPr>
                </a:tc>
              </a:tr>
              <a:tr h="292608">
                <a:tc>
                  <a:txBody>
                    <a:bodyPr/>
                    <a:lstStyle/>
                    <a:p>
                      <a:pPr indent="0" marL="0">
                        <a:buNone/>
                      </a:pPr>
                      <a:r>
                        <a:rPr lang="en-US" sz="1300" dirty="0">
                          <a:solidFill>
                            <a:schemeClr val="tx1"/>
                          </a:solidFill>
                        </a:rPr>
                        <a:t>Shanawaz Sakib</a:t>
                      </a:r>
                      <a:endParaRPr lang="en-US" sz="1300" dirty="0"/>
                    </a:p>
                  </a:txBody>
                  <a:tcPr marL="27432" marR="27432" marT="27432" marB="27432">
                    <a:lnL w="0" cap="flat" cmpd="sng" algn="ctr">
                      <a:noFill/>
                    </a:lnL>
                    <a:lnR w="0" cap="flat" cmpd="sng" algn="ctr">
                      <a:noFill/>
                    </a:lnR>
                    <a:lnT w="0" cap="flat" cmpd="sng" algn="ctr">
                      <a:noFill/>
                    </a:lnT>
                    <a:lnB w="0" cap="flat" cmpd="sng" algn="ctr">
                      <a:noFill/>
                    </a:lnB>
                  </a:tcPr>
                </a:tc>
                <a:tc>
                  <a:txBody>
                    <a:bodyPr/>
                    <a:lstStyle/>
                    <a:p>
                      <a:pPr indent="0" marL="0">
                        <a:buNone/>
                      </a:pPr>
                      <a:r>
                        <a:rPr lang="en-US" sz="1300" dirty="0">
                          <a:solidFill>
                            <a:schemeClr val="tx1"/>
                          </a:solidFill>
                        </a:rPr>
                        <a:t>11220320916</a:t>
                      </a:r>
                      <a:endParaRPr lang="en-US" sz="1300" dirty="0"/>
                    </a:p>
                  </a:txBody>
                  <a:tcPr marL="27432" marR="27432" marT="27432" marB="27432">
                    <a:lnL w="0" cap="flat" cmpd="sng" algn="ctr">
                      <a:noFill/>
                    </a:lnL>
                    <a:lnR w="0" cap="flat" cmpd="sng" algn="ctr">
                      <a:noFill/>
                    </a:lnR>
                    <a:lnT w="0" cap="flat" cmpd="sng" algn="ctr">
                      <a:noFill/>
                    </a:lnT>
                    <a:lnB w="0" cap="flat" cmpd="sng" algn="ctr">
                      <a:noFill/>
                    </a:lnB>
                  </a:tcPr>
                </a:tc>
                <a:tc>
                  <a:txBody>
                    <a:bodyPr/>
                    <a:lstStyle/>
                    <a:p>
                      <a:pPr indent="0" marL="0">
                        <a:buNone/>
                      </a:pPr>
                      <a:r>
                        <a:rPr lang="en-US" sz="1300" dirty="0">
                          <a:solidFill>
                            <a:schemeClr val="tx1"/>
                          </a:solidFill>
                        </a:rPr>
                        <a:t>Core System Integration</a:t>
                      </a:r>
                      <a:endParaRPr lang="en-US" sz="1300" dirty="0"/>
                    </a:p>
                  </a:txBody>
                  <a:tcPr marL="27432" marR="27432" marT="27432" marB="27432">
                    <a:lnL w="0" cap="flat" cmpd="sng" algn="ctr">
                      <a:noFill/>
                    </a:lnL>
                    <a:lnR w="0" cap="flat" cmpd="sng" algn="ctr">
                      <a:noFill/>
                    </a:lnR>
                    <a:lnT w="0" cap="flat" cmpd="sng" algn="ctr">
                      <a:noFill/>
                    </a:lnT>
                    <a:lnB w="0" cap="flat" cmpd="sng" algn="ctr">
                      <a:noFill/>
                    </a:lnB>
                  </a:tcPr>
                </a:tc>
              </a:tr>
              <a:tr h="292608">
                <a:tc>
                  <a:txBody>
                    <a:bodyPr/>
                    <a:lstStyle/>
                    <a:p>
                      <a:pPr indent="0" marL="0">
                        <a:buNone/>
                      </a:pPr>
                      <a:r>
                        <a:rPr lang="en-US" sz="1300" dirty="0">
                          <a:solidFill>
                            <a:schemeClr val="tx1"/>
                          </a:solidFill>
                        </a:rPr>
                        <a:t>Ashikur Rahman Himel</a:t>
                      </a:r>
                      <a:endParaRPr lang="en-US" sz="1300" dirty="0"/>
                    </a:p>
                  </a:txBody>
                  <a:tcPr marL="27432" marR="27432" marT="27432" marB="27432">
                    <a:lnL w="0" cap="flat" cmpd="sng" algn="ctr">
                      <a:noFill/>
                    </a:lnL>
                    <a:lnR w="0" cap="flat" cmpd="sng" algn="ctr">
                      <a:noFill/>
                    </a:lnR>
                    <a:lnT w="0" cap="flat" cmpd="sng" algn="ctr">
                      <a:noFill/>
                    </a:lnT>
                    <a:lnB w="0" cap="flat" cmpd="sng" algn="ctr">
                      <a:noFill/>
                    </a:lnB>
                  </a:tcPr>
                </a:tc>
                <a:tc>
                  <a:txBody>
                    <a:bodyPr/>
                    <a:lstStyle/>
                    <a:p>
                      <a:pPr indent="0" marL="0">
                        <a:buNone/>
                      </a:pPr>
                      <a:r>
                        <a:rPr lang="en-US" sz="1300" dirty="0">
                          <a:solidFill>
                            <a:schemeClr val="tx1"/>
                          </a:solidFill>
                        </a:rPr>
                        <a:t>11220320833</a:t>
                      </a:r>
                      <a:endParaRPr lang="en-US" sz="1300" dirty="0"/>
                    </a:p>
                  </a:txBody>
                  <a:tcPr marL="27432" marR="27432" marT="27432" marB="27432">
                    <a:lnL w="0" cap="flat" cmpd="sng" algn="ctr">
                      <a:noFill/>
                    </a:lnL>
                    <a:lnR w="0" cap="flat" cmpd="sng" algn="ctr">
                      <a:noFill/>
                    </a:lnR>
                    <a:lnT w="0" cap="flat" cmpd="sng" algn="ctr">
                      <a:noFill/>
                    </a:lnT>
                    <a:lnB w="0" cap="flat" cmpd="sng" algn="ctr">
                      <a:noFill/>
                    </a:lnB>
                  </a:tcPr>
                </a:tc>
                <a:tc>
                  <a:txBody>
                    <a:bodyPr/>
                    <a:lstStyle/>
                    <a:p>
                      <a:pPr indent="0" marL="0">
                        <a:buNone/>
                      </a:pPr>
                      <a:r>
                        <a:rPr lang="en-US" sz="1300" dirty="0">
                          <a:solidFill>
                            <a:schemeClr val="tx1"/>
                          </a:solidFill>
                        </a:rPr>
                        <a:t>Database &amp; Quality</a:t>
                      </a:r>
                      <a:endParaRPr lang="en-US" sz="1300" dirty="0"/>
                    </a:p>
                  </a:txBody>
                  <a:tcPr marL="27432" marR="27432" marT="27432" marB="27432">
                    <a:lnL w="0" cap="flat" cmpd="sng" algn="ctr">
                      <a:noFill/>
                    </a:lnL>
                    <a:lnR w="0" cap="flat" cmpd="sng" algn="ctr">
                      <a:noFill/>
                    </a:lnR>
                    <a:lnT w="0" cap="flat" cmpd="sng" algn="ctr">
                      <a:noFill/>
                    </a:lnT>
                    <a:lnB w="0" cap="flat" cmpd="sng" algn="ctr">
                      <a:noFill/>
                    </a:lnB>
                  </a:tcPr>
                </a:tc>
              </a:tr>
              <a:tr h="292608">
                <a:tc>
                  <a:txBody>
                    <a:bodyPr/>
                    <a:lstStyle/>
                    <a:p>
                      <a:pPr indent="0" marL="0">
                        <a:buNone/>
                      </a:pPr>
                      <a:r>
                        <a:rPr lang="en-US" sz="1300" dirty="0">
                          <a:solidFill>
                            <a:schemeClr val="tx1"/>
                          </a:solidFill>
                        </a:rPr>
                        <a:t>Rasel Ratul</a:t>
                      </a:r>
                      <a:endParaRPr lang="en-US" sz="1300" dirty="0"/>
                    </a:p>
                  </a:txBody>
                  <a:tcPr marL="27432" marR="27432" marT="27432" marB="27432">
                    <a:lnL w="0" cap="flat" cmpd="sng" algn="ctr">
                      <a:noFill/>
                    </a:lnL>
                    <a:lnR w="0" cap="flat" cmpd="sng" algn="ctr">
                      <a:noFill/>
                    </a:lnR>
                    <a:lnT w="0" cap="flat" cmpd="sng" algn="ctr">
                      <a:noFill/>
                    </a:lnT>
                    <a:lnB w="0" cap="flat" cmpd="sng" algn="ctr">
                      <a:noFill/>
                    </a:lnB>
                  </a:tcPr>
                </a:tc>
                <a:tc>
                  <a:txBody>
                    <a:bodyPr/>
                    <a:lstStyle/>
                    <a:p>
                      <a:pPr indent="0" marL="0">
                        <a:buNone/>
                      </a:pPr>
                      <a:r>
                        <a:rPr lang="en-US" sz="1300" dirty="0">
                          <a:solidFill>
                            <a:schemeClr val="tx1"/>
                          </a:solidFill>
                        </a:rPr>
                        <a:t>11220320827</a:t>
                      </a:r>
                      <a:endParaRPr lang="en-US" sz="1300" dirty="0"/>
                    </a:p>
                  </a:txBody>
                  <a:tcPr marL="27432" marR="27432" marT="27432" marB="27432">
                    <a:lnL w="0" cap="flat" cmpd="sng" algn="ctr">
                      <a:noFill/>
                    </a:lnL>
                    <a:lnR w="0" cap="flat" cmpd="sng" algn="ctr">
                      <a:noFill/>
                    </a:lnR>
                    <a:lnT w="0" cap="flat" cmpd="sng" algn="ctr">
                      <a:noFill/>
                    </a:lnT>
                    <a:lnB w="0" cap="flat" cmpd="sng" algn="ctr">
                      <a:noFill/>
                    </a:lnB>
                  </a:tcPr>
                </a:tc>
                <a:tc>
                  <a:txBody>
                    <a:bodyPr/>
                    <a:lstStyle/>
                    <a:p>
                      <a:pPr indent="0" marL="0">
                        <a:buNone/>
                      </a:pPr>
                      <a:r>
                        <a:rPr lang="en-US" sz="1300" dirty="0">
                          <a:solidFill>
                            <a:schemeClr val="tx1"/>
                          </a:solidFill>
                        </a:rPr>
                        <a:t>Backend Developer</a:t>
                      </a:r>
                      <a:endParaRPr lang="en-US" sz="1300" dirty="0"/>
                    </a:p>
                  </a:txBody>
                  <a:tcPr marL="27432" marR="27432" marT="27432" marB="27432">
                    <a:lnL w="0" cap="flat" cmpd="sng" algn="ctr">
                      <a:noFill/>
                    </a:lnL>
                    <a:lnR w="0" cap="flat" cmpd="sng" algn="ctr">
                      <a:noFill/>
                    </a:lnR>
                    <a:lnT w="0" cap="flat" cmpd="sng" algn="ctr">
                      <a:noFill/>
                    </a:lnT>
                    <a:lnB w="0" cap="flat" cmpd="sng" algn="ctr">
                      <a:noFill/>
                    </a:lnB>
                  </a:tcPr>
                </a:tc>
              </a:tr>
            </a:tbl>
          </a:graphicData>
        </a:graphic>
      </p:graphicFrame>
      <p:sp>
        <p:nvSpPr>
          <p:cNvPr id="10" name="supervisor box"/>
          <p:cNvSpPr/>
          <p:nvPr/>
        </p:nvSpPr>
        <p:spPr>
          <a:xfrm>
            <a:off x="7772400" y="3108960"/>
            <a:ext cx="3593592" cy="3474720"/>
          </a:xfrm>
          <a:prstGeom prst="rect">
            <a:avLst/>
          </a:prstGeom>
          <a:solidFill>
            <a:schemeClr val="bg2"/>
          </a:solidFill>
          <a:ln w="9525">
            <a:solidFill>
              <a:srgbClr val="D9DEE8"/>
            </a:solidFill>
            <a:prstDash val="solid"/>
          </a:ln>
        </p:spPr>
      </p:sp>
      <p:sp>
        <p:nvSpPr>
          <p:cNvPr id="11" name="Text 8"/>
          <p:cNvSpPr txBox="1"/>
          <p:nvPr/>
        </p:nvSpPr>
        <p:spPr>
          <a:xfrm>
            <a:off x="7955280" y="3218688"/>
            <a:ext cx="3291840" cy="3291840"/>
          </a:xfrm>
          <a:prstGeom prst="rect">
            <a:avLst/>
          </a:prstGeom>
          <a:noFill/>
          <a:ln/>
        </p:spPr>
        <p:txBody>
          <a:bodyPr wrap="square" lIns="0" tIns="0" rIns="0" bIns="0" rtlCol="0" anchor="t"/>
          <a:lstStyle/>
          <a:p>
            <a:pPr indent="0" marL="0">
              <a:spcAft>
                <a:spcPts val="200"/>
              </a:spcAft>
              <a:buNone/>
            </a:pPr>
            <a:r>
              <a:rPr lang="en-US" sz="1300" b="1" dirty="0">
                <a:solidFill>
                  <a:schemeClr val="tx2"/>
                </a:solidFill>
              </a:rPr>
              <a:t>Supervised by</a:t>
            </a:r>
            <a:endParaRPr lang="en-US" sz="1300" dirty="0"/>
          </a:p>
          <a:p>
            <a:pPr indent="0" marL="0">
              <a:spcAft>
                <a:spcPts val="200"/>
              </a:spcAft>
              <a:buNone/>
            </a:pPr>
            <a:r>
              <a:rPr lang="en-US" sz="1700" b="1" dirty="0">
                <a:solidFill>
                  <a:schemeClr val="tx1"/>
                </a:solidFill>
              </a:rPr>
              <a:t>Md. Riaz Mahmud</a:t>
            </a:r>
            <a:endParaRPr lang="en-US" sz="1300" dirty="0"/>
          </a:p>
          <a:p>
            <a:pPr indent="0" marL="0">
              <a:spcAft>
                <a:spcPts val="200"/>
              </a:spcAft>
              <a:buNone/>
            </a:pPr>
            <a:r>
              <a:rPr lang="en-US" sz="1300" dirty="0">
                <a:solidFill>
                  <a:schemeClr val="tx1"/>
                </a:solidFill>
              </a:rPr>
              <a:t>Assistant Professor, Dept. of CSE</a:t>
            </a:r>
            <a:endParaRPr lang="en-US" sz="1300" dirty="0"/>
          </a:p>
          <a:p>
            <a:pPr indent="0" marL="0">
              <a:spcAft>
                <a:spcPts val="200"/>
              </a:spcAft>
              <a:buNone/>
            </a:pPr>
            <a:r>
              <a:rPr lang="en-US" sz="1300" dirty="0">
                <a:solidFill>
                  <a:schemeClr val="tx1"/>
                </a:solidFill>
              </a:rPr>
              <a:t>NUBT Khulna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777240"/>
          </a:xfrm>
          <a:prstGeom prst="rect">
            <a:avLst/>
          </a:prstGeom>
          <a:noFill/>
          <a:ln/>
        </p:spPr>
        <p:txBody>
          <a:bodyPr wrap="square" lIns="0" tIns="0" rIns="0" bIns="0" rtlCol="0" anchor="ctr"/>
          <a:lstStyle/>
          <a:p>
            <a:pPr algn="l" indent="0" marL="0">
              <a:buNone/>
            </a:pPr>
            <a:r>
              <a:rPr lang="en-US" sz="3200" b="1" dirty="0">
                <a:solidFill>
                  <a:schemeClr val="tx1"/>
                </a:solidFill>
              </a:rPr>
              <a:t>Outline</a:t>
            </a:r>
            <a:endParaRPr lang="en-US" sz="3200" dirty="0"/>
          </a:p>
        </p:txBody>
      </p:sp>
      <p:sp>
        <p:nvSpPr>
          <p:cNvPr id="3" name="outline number 1"/>
          <p:cNvSpPr/>
          <p:nvPr/>
        </p:nvSpPr>
        <p:spPr>
          <a:xfrm>
            <a:off x="822960" y="1417320"/>
            <a:ext cx="502920" cy="502920"/>
          </a:xfrm>
          <a:prstGeom prst="ellipse">
            <a:avLst/>
          </a:prstGeom>
          <a:solidFill>
            <a:schemeClr val="tx1"/>
          </a:solidFill>
          <a:ln/>
        </p:spPr>
      </p:sp>
      <p:sp>
        <p:nvSpPr>
          <p:cNvPr id="4" name="Text 2"/>
          <p:cNvSpPr txBox="1"/>
          <p:nvPr/>
        </p:nvSpPr>
        <p:spPr>
          <a:xfrm>
            <a:off x="822960" y="141732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01</a:t>
            </a:r>
            <a:endParaRPr lang="en-US" sz="1400" dirty="0"/>
          </a:p>
        </p:txBody>
      </p:sp>
      <p:sp>
        <p:nvSpPr>
          <p:cNvPr id="5" name="Text 3"/>
          <p:cNvSpPr txBox="1"/>
          <p:nvPr/>
        </p:nvSpPr>
        <p:spPr>
          <a:xfrm>
            <a:off x="1554480" y="1417320"/>
            <a:ext cx="4480560" cy="502920"/>
          </a:xfrm>
          <a:prstGeom prst="rect">
            <a:avLst/>
          </a:prstGeom>
          <a:noFill/>
          <a:ln/>
        </p:spPr>
        <p:txBody>
          <a:bodyPr wrap="square" lIns="0" tIns="0" rIns="0" bIns="0" rtlCol="0" anchor="ctr"/>
          <a:lstStyle/>
          <a:p>
            <a:pPr indent="0" marL="0">
              <a:buNone/>
            </a:pPr>
            <a:r>
              <a:rPr lang="en-US" sz="2000" dirty="0">
                <a:solidFill>
                  <a:schemeClr val="tx1"/>
                </a:solidFill>
              </a:rPr>
              <a:t>Project introduction</a:t>
            </a:r>
            <a:endParaRPr lang="en-US" sz="2000" dirty="0"/>
          </a:p>
        </p:txBody>
      </p:sp>
      <p:sp>
        <p:nvSpPr>
          <p:cNvPr id="6" name="outline number 2"/>
          <p:cNvSpPr/>
          <p:nvPr/>
        </p:nvSpPr>
        <p:spPr>
          <a:xfrm>
            <a:off x="822960" y="2194560"/>
            <a:ext cx="502920" cy="502920"/>
          </a:xfrm>
          <a:prstGeom prst="ellipse">
            <a:avLst/>
          </a:prstGeom>
          <a:solidFill>
            <a:schemeClr val="tx1"/>
          </a:solidFill>
          <a:ln/>
        </p:spPr>
      </p:sp>
      <p:sp>
        <p:nvSpPr>
          <p:cNvPr id="7" name="Text 5"/>
          <p:cNvSpPr txBox="1"/>
          <p:nvPr/>
        </p:nvSpPr>
        <p:spPr>
          <a:xfrm>
            <a:off x="822960" y="219456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02</a:t>
            </a:r>
            <a:endParaRPr lang="en-US" sz="1400" dirty="0"/>
          </a:p>
        </p:txBody>
      </p:sp>
      <p:sp>
        <p:nvSpPr>
          <p:cNvPr id="8" name="Text 6"/>
          <p:cNvSpPr txBox="1"/>
          <p:nvPr/>
        </p:nvSpPr>
        <p:spPr>
          <a:xfrm>
            <a:off x="1554480" y="2194560"/>
            <a:ext cx="4480560" cy="502920"/>
          </a:xfrm>
          <a:prstGeom prst="rect">
            <a:avLst/>
          </a:prstGeom>
          <a:noFill/>
          <a:ln/>
        </p:spPr>
        <p:txBody>
          <a:bodyPr wrap="square" lIns="0" tIns="0" rIns="0" bIns="0" rtlCol="0" anchor="ctr"/>
          <a:lstStyle/>
          <a:p>
            <a:pPr indent="0" marL="0">
              <a:buNone/>
            </a:pPr>
            <a:r>
              <a:rPr lang="en-US" sz="2000" dirty="0">
                <a:solidFill>
                  <a:schemeClr val="tx1"/>
                </a:solidFill>
              </a:rPr>
              <a:t>Problem statement</a:t>
            </a:r>
            <a:endParaRPr lang="en-US" sz="2000" dirty="0"/>
          </a:p>
        </p:txBody>
      </p:sp>
      <p:sp>
        <p:nvSpPr>
          <p:cNvPr id="9" name="outline number 3"/>
          <p:cNvSpPr/>
          <p:nvPr/>
        </p:nvSpPr>
        <p:spPr>
          <a:xfrm>
            <a:off x="822960" y="2971800"/>
            <a:ext cx="502920" cy="502920"/>
          </a:xfrm>
          <a:prstGeom prst="ellipse">
            <a:avLst/>
          </a:prstGeom>
          <a:solidFill>
            <a:schemeClr val="tx1"/>
          </a:solidFill>
          <a:ln/>
        </p:spPr>
      </p:sp>
      <p:sp>
        <p:nvSpPr>
          <p:cNvPr id="10" name="Text 8"/>
          <p:cNvSpPr txBox="1"/>
          <p:nvPr/>
        </p:nvSpPr>
        <p:spPr>
          <a:xfrm>
            <a:off x="822960" y="297180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03</a:t>
            </a:r>
            <a:endParaRPr lang="en-US" sz="1400" dirty="0"/>
          </a:p>
        </p:txBody>
      </p:sp>
      <p:sp>
        <p:nvSpPr>
          <p:cNvPr id="11" name="Text 9"/>
          <p:cNvSpPr txBox="1"/>
          <p:nvPr/>
        </p:nvSpPr>
        <p:spPr>
          <a:xfrm>
            <a:off x="1554480" y="2971800"/>
            <a:ext cx="4480560" cy="502920"/>
          </a:xfrm>
          <a:prstGeom prst="rect">
            <a:avLst/>
          </a:prstGeom>
          <a:noFill/>
          <a:ln/>
        </p:spPr>
        <p:txBody>
          <a:bodyPr wrap="square" lIns="0" tIns="0" rIns="0" bIns="0" rtlCol="0" anchor="ctr"/>
          <a:lstStyle/>
          <a:p>
            <a:pPr indent="0" marL="0">
              <a:buNone/>
            </a:pPr>
            <a:r>
              <a:rPr lang="en-US" sz="2000" dirty="0">
                <a:solidFill>
                  <a:schemeClr val="tx1"/>
                </a:solidFill>
              </a:rPr>
              <a:t>Objectives</a:t>
            </a:r>
            <a:endParaRPr lang="en-US" sz="2000" dirty="0"/>
          </a:p>
        </p:txBody>
      </p:sp>
      <p:sp>
        <p:nvSpPr>
          <p:cNvPr id="12" name="outline number 4"/>
          <p:cNvSpPr/>
          <p:nvPr/>
        </p:nvSpPr>
        <p:spPr>
          <a:xfrm>
            <a:off x="822960" y="3749040"/>
            <a:ext cx="502920" cy="502920"/>
          </a:xfrm>
          <a:prstGeom prst="ellipse">
            <a:avLst/>
          </a:prstGeom>
          <a:solidFill>
            <a:schemeClr val="tx1"/>
          </a:solidFill>
          <a:ln/>
        </p:spPr>
      </p:sp>
      <p:sp>
        <p:nvSpPr>
          <p:cNvPr id="13" name="Text 11"/>
          <p:cNvSpPr txBox="1"/>
          <p:nvPr/>
        </p:nvSpPr>
        <p:spPr>
          <a:xfrm>
            <a:off x="822960" y="37490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04</a:t>
            </a:r>
            <a:endParaRPr lang="en-US" sz="1400" dirty="0"/>
          </a:p>
        </p:txBody>
      </p:sp>
      <p:sp>
        <p:nvSpPr>
          <p:cNvPr id="14" name="Text 12"/>
          <p:cNvSpPr txBox="1"/>
          <p:nvPr/>
        </p:nvSpPr>
        <p:spPr>
          <a:xfrm>
            <a:off x="1554480" y="3749040"/>
            <a:ext cx="4480560" cy="502920"/>
          </a:xfrm>
          <a:prstGeom prst="rect">
            <a:avLst/>
          </a:prstGeom>
          <a:noFill/>
          <a:ln/>
        </p:spPr>
        <p:txBody>
          <a:bodyPr wrap="square" lIns="0" tIns="0" rIns="0" bIns="0" rtlCol="0" anchor="ctr"/>
          <a:lstStyle/>
          <a:p>
            <a:pPr indent="0" marL="0">
              <a:buNone/>
            </a:pPr>
            <a:r>
              <a:rPr lang="en-US" sz="2000" dirty="0">
                <a:solidFill>
                  <a:schemeClr val="tx1"/>
                </a:solidFill>
              </a:rPr>
              <a:t>Key features</a:t>
            </a:r>
            <a:endParaRPr lang="en-US" sz="2000" dirty="0"/>
          </a:p>
        </p:txBody>
      </p:sp>
      <p:sp>
        <p:nvSpPr>
          <p:cNvPr id="15" name="outline number 5"/>
          <p:cNvSpPr/>
          <p:nvPr/>
        </p:nvSpPr>
        <p:spPr>
          <a:xfrm>
            <a:off x="822960" y="4526280"/>
            <a:ext cx="502920" cy="502920"/>
          </a:xfrm>
          <a:prstGeom prst="ellipse">
            <a:avLst/>
          </a:prstGeom>
          <a:solidFill>
            <a:schemeClr val="tx1"/>
          </a:solidFill>
          <a:ln/>
        </p:spPr>
      </p:sp>
      <p:sp>
        <p:nvSpPr>
          <p:cNvPr id="16" name="Text 14"/>
          <p:cNvSpPr txBox="1"/>
          <p:nvPr/>
        </p:nvSpPr>
        <p:spPr>
          <a:xfrm>
            <a:off x="822960" y="45262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05</a:t>
            </a:r>
            <a:endParaRPr lang="en-US" sz="1400" dirty="0"/>
          </a:p>
        </p:txBody>
      </p:sp>
      <p:sp>
        <p:nvSpPr>
          <p:cNvPr id="17" name="Text 15"/>
          <p:cNvSpPr txBox="1"/>
          <p:nvPr/>
        </p:nvSpPr>
        <p:spPr>
          <a:xfrm>
            <a:off x="1554480" y="4526280"/>
            <a:ext cx="4480560" cy="502920"/>
          </a:xfrm>
          <a:prstGeom prst="rect">
            <a:avLst/>
          </a:prstGeom>
          <a:noFill/>
          <a:ln/>
        </p:spPr>
        <p:txBody>
          <a:bodyPr wrap="square" lIns="0" tIns="0" rIns="0" bIns="0" rtlCol="0" anchor="ctr"/>
          <a:lstStyle/>
          <a:p>
            <a:pPr indent="0" marL="0">
              <a:buNone/>
            </a:pPr>
            <a:r>
              <a:rPr lang="en-US" sz="2000" dirty="0">
                <a:solidFill>
                  <a:schemeClr val="tx1"/>
                </a:solidFill>
              </a:rPr>
              <a:t>System architecture &amp; technology</a:t>
            </a:r>
            <a:endParaRPr lang="en-US" sz="2000" dirty="0"/>
          </a:p>
        </p:txBody>
      </p:sp>
      <p:sp>
        <p:nvSpPr>
          <p:cNvPr id="18" name="outline number 6"/>
          <p:cNvSpPr/>
          <p:nvPr/>
        </p:nvSpPr>
        <p:spPr>
          <a:xfrm>
            <a:off x="822960" y="5303520"/>
            <a:ext cx="502920" cy="502920"/>
          </a:xfrm>
          <a:prstGeom prst="ellipse">
            <a:avLst/>
          </a:prstGeom>
          <a:solidFill>
            <a:schemeClr val="tx1"/>
          </a:solidFill>
          <a:ln/>
        </p:spPr>
      </p:sp>
      <p:sp>
        <p:nvSpPr>
          <p:cNvPr id="19" name="Text 17"/>
          <p:cNvSpPr txBox="1"/>
          <p:nvPr/>
        </p:nvSpPr>
        <p:spPr>
          <a:xfrm>
            <a:off x="822960" y="530352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06</a:t>
            </a:r>
            <a:endParaRPr lang="en-US" sz="1400" dirty="0"/>
          </a:p>
        </p:txBody>
      </p:sp>
      <p:sp>
        <p:nvSpPr>
          <p:cNvPr id="20" name="Text 18"/>
          <p:cNvSpPr txBox="1"/>
          <p:nvPr/>
        </p:nvSpPr>
        <p:spPr>
          <a:xfrm>
            <a:off x="1554480" y="5303520"/>
            <a:ext cx="4480560" cy="502920"/>
          </a:xfrm>
          <a:prstGeom prst="rect">
            <a:avLst/>
          </a:prstGeom>
          <a:noFill/>
          <a:ln/>
        </p:spPr>
        <p:txBody>
          <a:bodyPr wrap="square" lIns="0" tIns="0" rIns="0" bIns="0" rtlCol="0" anchor="ctr"/>
          <a:lstStyle/>
          <a:p>
            <a:pPr indent="0" marL="0">
              <a:buNone/>
            </a:pPr>
            <a:r>
              <a:rPr lang="en-US" sz="2000" dirty="0">
                <a:solidFill>
                  <a:schemeClr val="tx1"/>
                </a:solidFill>
              </a:rPr>
              <a:t>Database design</a:t>
            </a:r>
            <a:endParaRPr lang="en-US" sz="2000" dirty="0"/>
          </a:p>
        </p:txBody>
      </p:sp>
      <p:sp>
        <p:nvSpPr>
          <p:cNvPr id="21" name="outline number 7"/>
          <p:cNvSpPr/>
          <p:nvPr/>
        </p:nvSpPr>
        <p:spPr>
          <a:xfrm>
            <a:off x="6400800" y="1417320"/>
            <a:ext cx="502920" cy="502920"/>
          </a:xfrm>
          <a:prstGeom prst="ellipse">
            <a:avLst/>
          </a:prstGeom>
          <a:solidFill>
            <a:schemeClr val="tx1"/>
          </a:solidFill>
          <a:ln/>
        </p:spPr>
      </p:sp>
      <p:sp>
        <p:nvSpPr>
          <p:cNvPr id="22" name="Text 20"/>
          <p:cNvSpPr txBox="1"/>
          <p:nvPr/>
        </p:nvSpPr>
        <p:spPr>
          <a:xfrm>
            <a:off x="6400800" y="141732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07</a:t>
            </a:r>
            <a:endParaRPr lang="en-US" sz="1400" dirty="0"/>
          </a:p>
        </p:txBody>
      </p:sp>
      <p:sp>
        <p:nvSpPr>
          <p:cNvPr id="23" name="Text 21"/>
          <p:cNvSpPr txBox="1"/>
          <p:nvPr/>
        </p:nvSpPr>
        <p:spPr>
          <a:xfrm>
            <a:off x="7132320" y="1417320"/>
            <a:ext cx="4480560" cy="502920"/>
          </a:xfrm>
          <a:prstGeom prst="rect">
            <a:avLst/>
          </a:prstGeom>
          <a:noFill/>
          <a:ln/>
        </p:spPr>
        <p:txBody>
          <a:bodyPr wrap="square" lIns="0" tIns="0" rIns="0" bIns="0" rtlCol="0" anchor="ctr"/>
          <a:lstStyle/>
          <a:p>
            <a:pPr indent="0" marL="0">
              <a:buNone/>
            </a:pPr>
            <a:r>
              <a:rPr lang="en-US" sz="2000" dirty="0">
                <a:solidFill>
                  <a:schemeClr val="tx1"/>
                </a:solidFill>
              </a:rPr>
              <a:t>AI workflow</a:t>
            </a:r>
            <a:endParaRPr lang="en-US" sz="2000" dirty="0"/>
          </a:p>
        </p:txBody>
      </p:sp>
      <p:sp>
        <p:nvSpPr>
          <p:cNvPr id="24" name="outline number 8"/>
          <p:cNvSpPr/>
          <p:nvPr/>
        </p:nvSpPr>
        <p:spPr>
          <a:xfrm>
            <a:off x="6400800" y="2194560"/>
            <a:ext cx="502920" cy="502920"/>
          </a:xfrm>
          <a:prstGeom prst="ellipse">
            <a:avLst/>
          </a:prstGeom>
          <a:solidFill>
            <a:schemeClr val="tx1"/>
          </a:solidFill>
          <a:ln/>
        </p:spPr>
      </p:sp>
      <p:sp>
        <p:nvSpPr>
          <p:cNvPr id="25" name="Text 23"/>
          <p:cNvSpPr txBox="1"/>
          <p:nvPr/>
        </p:nvSpPr>
        <p:spPr>
          <a:xfrm>
            <a:off x="6400800" y="219456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08</a:t>
            </a:r>
            <a:endParaRPr lang="en-US" sz="1400" dirty="0"/>
          </a:p>
        </p:txBody>
      </p:sp>
      <p:sp>
        <p:nvSpPr>
          <p:cNvPr id="26" name="Text 24"/>
          <p:cNvSpPr txBox="1"/>
          <p:nvPr/>
        </p:nvSpPr>
        <p:spPr>
          <a:xfrm>
            <a:off x="7132320" y="2194560"/>
            <a:ext cx="4480560" cy="502920"/>
          </a:xfrm>
          <a:prstGeom prst="rect">
            <a:avLst/>
          </a:prstGeom>
          <a:noFill/>
          <a:ln/>
        </p:spPr>
        <p:txBody>
          <a:bodyPr wrap="square" lIns="0" tIns="0" rIns="0" bIns="0" rtlCol="0" anchor="ctr"/>
          <a:lstStyle/>
          <a:p>
            <a:pPr indent="0" marL="0">
              <a:buNone/>
            </a:pPr>
            <a:r>
              <a:rPr lang="en-US" sz="2000" dirty="0">
                <a:solidFill>
                  <a:schemeClr val="tx1"/>
                </a:solidFill>
              </a:rPr>
              <a:t>Security &amp; API</a:t>
            </a:r>
            <a:endParaRPr lang="en-US" sz="2000" dirty="0"/>
          </a:p>
        </p:txBody>
      </p:sp>
      <p:sp>
        <p:nvSpPr>
          <p:cNvPr id="27" name="outline number 9"/>
          <p:cNvSpPr/>
          <p:nvPr/>
        </p:nvSpPr>
        <p:spPr>
          <a:xfrm>
            <a:off x="6400800" y="2971800"/>
            <a:ext cx="502920" cy="502920"/>
          </a:xfrm>
          <a:prstGeom prst="ellipse">
            <a:avLst/>
          </a:prstGeom>
          <a:solidFill>
            <a:schemeClr val="tx1"/>
          </a:solidFill>
          <a:ln/>
        </p:spPr>
      </p:sp>
      <p:sp>
        <p:nvSpPr>
          <p:cNvPr id="28" name="Text 26"/>
          <p:cNvSpPr txBox="1"/>
          <p:nvPr/>
        </p:nvSpPr>
        <p:spPr>
          <a:xfrm>
            <a:off x="6400800" y="297180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09</a:t>
            </a:r>
            <a:endParaRPr lang="en-US" sz="1400" dirty="0"/>
          </a:p>
        </p:txBody>
      </p:sp>
      <p:sp>
        <p:nvSpPr>
          <p:cNvPr id="29" name="Text 27"/>
          <p:cNvSpPr txBox="1"/>
          <p:nvPr/>
        </p:nvSpPr>
        <p:spPr>
          <a:xfrm>
            <a:off x="7132320" y="2971800"/>
            <a:ext cx="4480560" cy="502920"/>
          </a:xfrm>
          <a:prstGeom prst="rect">
            <a:avLst/>
          </a:prstGeom>
          <a:noFill/>
          <a:ln/>
        </p:spPr>
        <p:txBody>
          <a:bodyPr wrap="square" lIns="0" tIns="0" rIns="0" bIns="0" rtlCol="0" anchor="ctr"/>
          <a:lstStyle/>
          <a:p>
            <a:pPr indent="0" marL="0">
              <a:buNone/>
            </a:pPr>
            <a:r>
              <a:rPr lang="en-US" sz="2000" dirty="0">
                <a:solidFill>
                  <a:schemeClr val="tx1"/>
                </a:solidFill>
              </a:rPr>
              <a:t>Testing &amp; deployment</a:t>
            </a:r>
            <a:endParaRPr lang="en-US" sz="2000" dirty="0"/>
          </a:p>
        </p:txBody>
      </p:sp>
      <p:sp>
        <p:nvSpPr>
          <p:cNvPr id="30" name="outline number 10"/>
          <p:cNvSpPr/>
          <p:nvPr/>
        </p:nvSpPr>
        <p:spPr>
          <a:xfrm>
            <a:off x="6400800" y="3749040"/>
            <a:ext cx="502920" cy="502920"/>
          </a:xfrm>
          <a:prstGeom prst="ellipse">
            <a:avLst/>
          </a:prstGeom>
          <a:solidFill>
            <a:schemeClr val="tx1"/>
          </a:solidFill>
          <a:ln/>
        </p:spPr>
      </p:sp>
      <p:sp>
        <p:nvSpPr>
          <p:cNvPr id="31" name="Text 29"/>
          <p:cNvSpPr txBox="1"/>
          <p:nvPr/>
        </p:nvSpPr>
        <p:spPr>
          <a:xfrm>
            <a:off x="6400800" y="37490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32" name="Text 30"/>
          <p:cNvSpPr txBox="1"/>
          <p:nvPr/>
        </p:nvSpPr>
        <p:spPr>
          <a:xfrm>
            <a:off x="7132320" y="3749040"/>
            <a:ext cx="4480560" cy="502920"/>
          </a:xfrm>
          <a:prstGeom prst="rect">
            <a:avLst/>
          </a:prstGeom>
          <a:noFill/>
          <a:ln/>
        </p:spPr>
        <p:txBody>
          <a:bodyPr wrap="square" lIns="0" tIns="0" rIns="0" bIns="0" rtlCol="0" anchor="ctr"/>
          <a:lstStyle/>
          <a:p>
            <a:pPr indent="0" marL="0">
              <a:buNone/>
            </a:pPr>
            <a:r>
              <a:rPr lang="en-US" sz="2000" dirty="0">
                <a:solidFill>
                  <a:schemeClr val="tx1"/>
                </a:solidFill>
              </a:rPr>
              <a:t>Live demonstration</a:t>
            </a:r>
            <a:endParaRPr lang="en-US" sz="2000" dirty="0"/>
          </a:p>
        </p:txBody>
      </p:sp>
      <p:sp>
        <p:nvSpPr>
          <p:cNvPr id="33" name="outline number 11"/>
          <p:cNvSpPr/>
          <p:nvPr/>
        </p:nvSpPr>
        <p:spPr>
          <a:xfrm>
            <a:off x="6400800" y="4526280"/>
            <a:ext cx="502920" cy="502920"/>
          </a:xfrm>
          <a:prstGeom prst="ellipse">
            <a:avLst/>
          </a:prstGeom>
          <a:solidFill>
            <a:schemeClr val="tx1"/>
          </a:solidFill>
          <a:ln/>
        </p:spPr>
      </p:sp>
      <p:sp>
        <p:nvSpPr>
          <p:cNvPr id="34" name="Text 32"/>
          <p:cNvSpPr txBox="1"/>
          <p:nvPr/>
        </p:nvSpPr>
        <p:spPr>
          <a:xfrm>
            <a:off x="6400800" y="45262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35" name="Text 33"/>
          <p:cNvSpPr txBox="1"/>
          <p:nvPr/>
        </p:nvSpPr>
        <p:spPr>
          <a:xfrm>
            <a:off x="7132320" y="4526280"/>
            <a:ext cx="4480560" cy="502920"/>
          </a:xfrm>
          <a:prstGeom prst="rect">
            <a:avLst/>
          </a:prstGeom>
          <a:noFill/>
          <a:ln/>
        </p:spPr>
        <p:txBody>
          <a:bodyPr wrap="square" lIns="0" tIns="0" rIns="0" bIns="0" rtlCol="0" anchor="ctr"/>
          <a:lstStyle/>
          <a:p>
            <a:pPr indent="0" marL="0">
              <a:buNone/>
            </a:pPr>
            <a:r>
              <a:rPr lang="en-US" sz="2000" dirty="0">
                <a:solidFill>
                  <a:schemeClr val="tx1"/>
                </a:solidFill>
              </a:rPr>
              <a:t>Challenges</a:t>
            </a:r>
            <a:endParaRPr lang="en-US" sz="2000" dirty="0"/>
          </a:p>
        </p:txBody>
      </p:sp>
      <p:sp>
        <p:nvSpPr>
          <p:cNvPr id="36" name="outline number 12"/>
          <p:cNvSpPr/>
          <p:nvPr/>
        </p:nvSpPr>
        <p:spPr>
          <a:xfrm>
            <a:off x="6400800" y="5303520"/>
            <a:ext cx="502920" cy="502920"/>
          </a:xfrm>
          <a:prstGeom prst="ellipse">
            <a:avLst/>
          </a:prstGeom>
          <a:solidFill>
            <a:schemeClr val="tx1"/>
          </a:solidFill>
          <a:ln/>
        </p:spPr>
      </p:sp>
      <p:sp>
        <p:nvSpPr>
          <p:cNvPr id="37" name="Text 35"/>
          <p:cNvSpPr txBox="1"/>
          <p:nvPr/>
        </p:nvSpPr>
        <p:spPr>
          <a:xfrm>
            <a:off x="6400800" y="530352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38" name="Text 36"/>
          <p:cNvSpPr txBox="1"/>
          <p:nvPr/>
        </p:nvSpPr>
        <p:spPr>
          <a:xfrm>
            <a:off x="7132320" y="5303520"/>
            <a:ext cx="4480560" cy="502920"/>
          </a:xfrm>
          <a:prstGeom prst="rect">
            <a:avLst/>
          </a:prstGeom>
          <a:noFill/>
          <a:ln/>
        </p:spPr>
        <p:txBody>
          <a:bodyPr wrap="square" lIns="0" tIns="0" rIns="0" bIns="0" rtlCol="0" anchor="ctr"/>
          <a:lstStyle/>
          <a:p>
            <a:pPr indent="0" marL="0">
              <a:buNone/>
            </a:pPr>
            <a:r>
              <a:rPr lang="en-US" sz="2000" dirty="0">
                <a:solidFill>
                  <a:schemeClr val="tx1"/>
                </a:solidFill>
              </a:rPr>
              <a:t>Future improvements &amp; conclusion</a:t>
            </a:r>
            <a:endParaRPr lang="en-US" sz="2000" dirty="0"/>
          </a:p>
        </p:txBody>
      </p:sp>
      <p:sp>
        <p:nvSpPr>
          <p:cNvPr id="25" name="Slide Number Placeholder 0"/>
          <p:cNvSpPr>
            <a:spLocks noGrp="1"/>
          </p:cNvSpPr>
          <p:nvPr>
            <p:ph type="sldNum" sz="quarter" idx="4294967295"/>
          </p:nvPr>
        </p:nvSpPr>
        <p:spPr>
          <a:xfrm>
            <a:off x="11201400" y="6419088"/>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777240"/>
          </a:xfrm>
          <a:prstGeom prst="rect">
            <a:avLst/>
          </a:prstGeom>
          <a:noFill/>
          <a:ln/>
        </p:spPr>
        <p:txBody>
          <a:bodyPr wrap="square" lIns="0" tIns="0" rIns="0" bIns="0" rtlCol="0" anchor="ctr"/>
          <a:lstStyle/>
          <a:p>
            <a:pPr algn="l" indent="0" marL="0">
              <a:buNone/>
            </a:pPr>
            <a:r>
              <a:rPr lang="en-US" sz="3200" b="1" dirty="0">
                <a:solidFill>
                  <a:schemeClr val="tx1"/>
                </a:solidFill>
              </a:rPr>
              <a:t>Project Introduction</a:t>
            </a:r>
            <a:endParaRPr lang="en-US" sz="3200" dirty="0"/>
          </a:p>
        </p:txBody>
      </p:sp>
      <p:sp>
        <p:nvSpPr>
          <p:cNvPr id="3" name="Text 1"/>
          <p:cNvSpPr txBox="1"/>
          <p:nvPr/>
        </p:nvSpPr>
        <p:spPr>
          <a:xfrm>
            <a:off x="548640" y="1371600"/>
            <a:ext cx="5394960" cy="4754880"/>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RESUMIND is a responsive web application that checks a resume against a real job and helps the candidate improve it.</a:t>
            </a:r>
            <a:endParaRPr lang="en-US" sz="1800" dirty="0"/>
          </a:p>
          <a:p>
            <a:pPr indent="0" marL="0">
              <a:spcAft>
                <a:spcPts val="800"/>
              </a:spcAft>
              <a:buNone/>
            </a:pPr>
            <a:r>
              <a:rPr lang="en-US" sz="800" dirty="0">
                <a:solidFill>
                  <a:schemeClr val="tx1"/>
                </a:solidFill>
              </a:rPr>
              <a:t> </a:t>
            </a:r>
            <a:endParaRPr lang="en-US" sz="1800" dirty="0"/>
          </a:p>
          <a:p>
            <a:pPr marL="228600" indent="-228600">
              <a:spcAft>
                <a:spcPts val="800"/>
              </a:spcAft>
              <a:buSzPct val="100000"/>
              <a:buChar char="•"/>
            </a:pPr>
            <a:r>
              <a:rPr lang="en-US" sz="1800" dirty="0">
                <a:solidFill>
                  <a:schemeClr val="tx1"/>
                </a:solidFill>
              </a:rPr>
              <a:t>Upload a PDF resume and paste the job description</a:t>
            </a:r>
            <a:endParaRPr lang="en-US" sz="1800" dirty="0"/>
          </a:p>
          <a:p>
            <a:pPr marL="228600" indent="-228600">
              <a:spcAft>
                <a:spcPts val="800"/>
              </a:spcAft>
              <a:buSzPct val="100000"/>
              <a:buChar char="•"/>
            </a:pPr>
            <a:r>
              <a:rPr lang="en-US" sz="1800" dirty="0">
                <a:solidFill>
                  <a:schemeClr val="tx1"/>
                </a:solidFill>
              </a:rPr>
              <a:t>Get an AI score: overall + ATS, tone, content, structure, skills</a:t>
            </a:r>
            <a:endParaRPr lang="en-US" sz="1800" dirty="0"/>
          </a:p>
          <a:p>
            <a:pPr marL="228600" indent="-228600">
              <a:spcAft>
                <a:spcPts val="800"/>
              </a:spcAft>
              <a:buSzPct val="100000"/>
              <a:buChar char="•"/>
            </a:pPr>
            <a:r>
              <a:rPr lang="en-US" sz="1800" dirty="0">
                <a:solidFill>
                  <a:schemeClr val="tx1"/>
                </a:solidFill>
              </a:rPr>
              <a:t>Rewrite the resume as a European-standard (Europass) CV</a:t>
            </a:r>
            <a:endParaRPr lang="en-US" sz="1800" dirty="0"/>
          </a:p>
          <a:p>
            <a:pPr marL="228600" indent="-228600">
              <a:spcAft>
                <a:spcPts val="800"/>
              </a:spcAft>
              <a:buSzPct val="100000"/>
              <a:buChar char="•"/>
            </a:pPr>
            <a:r>
              <a:rPr lang="en-US" sz="1800" dirty="0">
                <a:solidFill>
                  <a:schemeClr val="tx1"/>
                </a:solidFill>
              </a:rPr>
              <a:t>Measure the improvement with a before / after score</a:t>
            </a:r>
            <a:endParaRPr lang="en-US" sz="1800" dirty="0"/>
          </a:p>
          <a:p>
            <a:pPr marL="228600" indent="-228600">
              <a:spcAft>
                <a:spcPts val="800"/>
              </a:spcAft>
              <a:buSzPct val="100000"/>
              <a:buChar char="•"/>
            </a:pPr>
            <a:r>
              <a:rPr lang="en-US" sz="1800" dirty="0">
                <a:solidFill>
                  <a:schemeClr val="tx1"/>
                </a:solidFill>
              </a:rPr>
              <a:t>Generate a one-page cover letter for the same job</a:t>
            </a:r>
            <a:endParaRPr lang="en-US" sz="1800" dirty="0"/>
          </a:p>
          <a:p>
            <a:pPr marL="228600" indent="-228600">
              <a:spcAft>
                <a:spcPts val="800"/>
              </a:spcAft>
              <a:buSzPct val="100000"/>
              <a:buChar char="•"/>
            </a:pPr>
            <a:r>
              <a:rPr lang="en-US" sz="1800" dirty="0">
                <a:solidFill>
                  <a:schemeClr val="tx1"/>
                </a:solidFill>
              </a:rPr>
              <a:t>Works on phone, tablet and desktop; live on the web</a:t>
            </a:r>
            <a:endParaRPr lang="en-US" sz="1800" dirty="0"/>
          </a:p>
        </p:txBody>
      </p:sp>
      <p:pic>
        <p:nvPicPr>
          <p:cNvPr id="4" name="landing page screenshot" descr="landing page screenshot">    </p:cNvPr>
          <p:cNvPicPr>
            <a:picLocks noChangeAspect="1"/>
          </p:cNvPicPr>
          <p:nvPr/>
        </p:nvPicPr>
        <p:blipFill>
          <a:blip r:embed="rId1"/>
          <a:stretch>
            <a:fillRect/>
          </a:stretch>
        </p:blipFill>
        <p:spPr>
          <a:xfrm>
            <a:off x="6309360" y="2083118"/>
            <a:ext cx="5330952" cy="3331845"/>
          </a:xfrm>
          <a:prstGeom prst="rect">
            <a:avLst/>
          </a:prstGeom>
        </p:spPr>
      </p:pic>
      <p:sp>
        <p:nvSpPr>
          <p:cNvPr id="5" name="landing page screenshot frame"/>
          <p:cNvSpPr/>
          <p:nvPr/>
        </p:nvSpPr>
        <p:spPr>
          <a:xfrm>
            <a:off x="6309360" y="2083118"/>
            <a:ext cx="5330952" cy="3331845"/>
          </a:xfrm>
          <a:prstGeom prst="rect">
            <a:avLst/>
          </a:prstGeom>
          <a:ln w="9525">
            <a:solidFill>
              <a:srgbClr val="D9DEE8"/>
            </a:solidFill>
            <a:prstDash val="solid"/>
          </a:ln>
        </p:spPr>
      </p:sp>
      <p:sp>
        <p:nvSpPr>
          <p:cNvPr id="25" name="Slide Number Placeholder 0"/>
          <p:cNvSpPr>
            <a:spLocks noGrp="1"/>
          </p:cNvSpPr>
          <p:nvPr>
            <p:ph type="sldNum" sz="quarter" idx="4294967295"/>
          </p:nvPr>
        </p:nvSpPr>
        <p:spPr>
          <a:xfrm>
            <a:off x="11201400" y="6419088"/>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777240"/>
          </a:xfrm>
          <a:prstGeom prst="rect">
            <a:avLst/>
          </a:prstGeom>
          <a:noFill/>
          <a:ln/>
        </p:spPr>
        <p:txBody>
          <a:bodyPr wrap="square" lIns="0" tIns="0" rIns="0" bIns="0" rtlCol="0" anchor="ctr"/>
          <a:lstStyle/>
          <a:p>
            <a:pPr algn="l" indent="0" marL="0">
              <a:buNone/>
            </a:pPr>
            <a:r>
              <a:rPr lang="en-US" sz="3200" b="1" dirty="0">
                <a:solidFill>
                  <a:schemeClr val="tx1"/>
                </a:solidFill>
              </a:rPr>
              <a:t>Problem Statement</a:t>
            </a:r>
            <a:endParaRPr lang="en-US" sz="3200" dirty="0"/>
          </a:p>
        </p:txBody>
      </p:sp>
      <p:sp>
        <p:nvSpPr>
          <p:cNvPr id="3" name="problem box 1"/>
          <p:cNvSpPr/>
          <p:nvPr/>
        </p:nvSpPr>
        <p:spPr>
          <a:xfrm>
            <a:off x="548640" y="1417320"/>
            <a:ext cx="2633472" cy="3017520"/>
          </a:xfrm>
          <a:prstGeom prst="rect">
            <a:avLst/>
          </a:prstGeom>
          <a:solidFill>
            <a:schemeClr val="bg2"/>
          </a:solidFill>
          <a:ln w="9525">
            <a:solidFill>
              <a:srgbClr val="D9DEE8"/>
            </a:solidFill>
            <a:prstDash val="solid"/>
          </a:ln>
        </p:spPr>
      </p:sp>
      <p:sp>
        <p:nvSpPr>
          <p:cNvPr id="4" name="problem icon 1 circle"/>
          <p:cNvSpPr/>
          <p:nvPr/>
        </p:nvSpPr>
        <p:spPr>
          <a:xfrm>
            <a:off x="777240" y="1645920"/>
            <a:ext cx="594360" cy="594360"/>
          </a:xfrm>
          <a:prstGeom prst="ellipse">
            <a:avLst/>
          </a:prstGeom>
          <a:solidFill>
            <a:schemeClr val="bg1"/>
          </a:solidFill>
          <a:ln w="9525">
            <a:solidFill>
              <a:srgbClr val="D9DEE8"/>
            </a:solidFill>
            <a:prstDash val="solid"/>
          </a:ln>
        </p:spPr>
      </p:sp>
      <p:pic>
        <p:nvPicPr>
          <p:cNvPr id="5" name="problem icon 1" descr="problem icon 1">    </p:cNvPr>
          <p:cNvPicPr>
            <a:picLocks noChangeAspect="1"/>
          </p:cNvPicPr>
          <p:nvPr/>
        </p:nvPicPr>
        <p:blipFill>
          <a:blip r:embed="rId1"/>
          <a:stretch>
            <a:fillRect/>
          </a:stretch>
        </p:blipFill>
        <p:spPr>
          <a:xfrm>
            <a:off x="925830" y="1794510"/>
            <a:ext cx="297180" cy="297180"/>
          </a:xfrm>
          <a:prstGeom prst="rect">
            <a:avLst/>
          </a:prstGeom>
        </p:spPr>
      </p:pic>
      <p:sp>
        <p:nvSpPr>
          <p:cNvPr id="6" name="Text 3"/>
          <p:cNvSpPr txBox="1"/>
          <p:nvPr/>
        </p:nvSpPr>
        <p:spPr>
          <a:xfrm>
            <a:off x="777240" y="2423160"/>
            <a:ext cx="2194560" cy="411480"/>
          </a:xfrm>
          <a:prstGeom prst="rect">
            <a:avLst/>
          </a:prstGeom>
          <a:noFill/>
          <a:ln/>
        </p:spPr>
        <p:txBody>
          <a:bodyPr wrap="square" lIns="0" tIns="0" rIns="0" bIns="0" rtlCol="0" anchor="t"/>
          <a:lstStyle/>
          <a:p>
            <a:pPr indent="0" marL="0">
              <a:buNone/>
            </a:pPr>
            <a:r>
              <a:rPr lang="en-US" sz="1800" b="1" dirty="0">
                <a:solidFill>
                  <a:schemeClr val="tx1"/>
                </a:solidFill>
              </a:rPr>
              <a:t>Filtered by ATS</a:t>
            </a:r>
            <a:endParaRPr lang="en-US" sz="1800" dirty="0"/>
          </a:p>
        </p:txBody>
      </p:sp>
      <p:sp>
        <p:nvSpPr>
          <p:cNvPr id="7" name="Text 4"/>
          <p:cNvSpPr txBox="1"/>
          <p:nvPr/>
        </p:nvSpPr>
        <p:spPr>
          <a:xfrm>
            <a:off x="777240" y="2834640"/>
            <a:ext cx="2194560" cy="1463040"/>
          </a:xfrm>
          <a:prstGeom prst="rect">
            <a:avLst/>
          </a:prstGeom>
          <a:noFill/>
          <a:ln/>
        </p:spPr>
        <p:txBody>
          <a:bodyPr wrap="square" lIns="0" tIns="0" rIns="0" bIns="0" rtlCol="0" anchor="t"/>
          <a:lstStyle/>
          <a:p>
            <a:pPr indent="0" marL="0">
              <a:buNone/>
            </a:pPr>
            <a:r>
              <a:rPr lang="en-US" sz="1500" dirty="0">
                <a:solidFill>
                  <a:schemeClr val="tx2"/>
                </a:solidFill>
              </a:rPr>
              <a:t>Applicant Tracking Systems reject resumes with missing keywords, weak verbs or unclear structure.</a:t>
            </a:r>
            <a:endParaRPr lang="en-US" sz="1500" dirty="0"/>
          </a:p>
        </p:txBody>
      </p:sp>
      <p:sp>
        <p:nvSpPr>
          <p:cNvPr id="8" name="problem box 2"/>
          <p:cNvSpPr/>
          <p:nvPr/>
        </p:nvSpPr>
        <p:spPr>
          <a:xfrm>
            <a:off x="3364992" y="1417320"/>
            <a:ext cx="2633472" cy="3017520"/>
          </a:xfrm>
          <a:prstGeom prst="rect">
            <a:avLst/>
          </a:prstGeom>
          <a:solidFill>
            <a:schemeClr val="bg2"/>
          </a:solidFill>
          <a:ln w="9525">
            <a:solidFill>
              <a:srgbClr val="D9DEE8"/>
            </a:solidFill>
            <a:prstDash val="solid"/>
          </a:ln>
        </p:spPr>
      </p:sp>
      <p:sp>
        <p:nvSpPr>
          <p:cNvPr id="9" name="problem icon 2 circle"/>
          <p:cNvSpPr/>
          <p:nvPr/>
        </p:nvSpPr>
        <p:spPr>
          <a:xfrm>
            <a:off x="3593592" y="1645920"/>
            <a:ext cx="594360" cy="594360"/>
          </a:xfrm>
          <a:prstGeom prst="ellipse">
            <a:avLst/>
          </a:prstGeom>
          <a:solidFill>
            <a:schemeClr val="bg1"/>
          </a:solidFill>
          <a:ln w="9525">
            <a:solidFill>
              <a:srgbClr val="D9DEE8"/>
            </a:solidFill>
            <a:prstDash val="solid"/>
          </a:ln>
        </p:spPr>
      </p:sp>
      <p:pic>
        <p:nvPicPr>
          <p:cNvPr id="10" name="problem icon 2" descr="problem icon 2">    </p:cNvPr>
          <p:cNvPicPr>
            <a:picLocks noChangeAspect="1"/>
          </p:cNvPicPr>
          <p:nvPr/>
        </p:nvPicPr>
        <p:blipFill>
          <a:blip r:embed="rId2"/>
          <a:stretch>
            <a:fillRect/>
          </a:stretch>
        </p:blipFill>
        <p:spPr>
          <a:xfrm>
            <a:off x="3742182" y="1794510"/>
            <a:ext cx="297180" cy="297180"/>
          </a:xfrm>
          <a:prstGeom prst="rect">
            <a:avLst/>
          </a:prstGeom>
        </p:spPr>
      </p:pic>
      <p:sp>
        <p:nvSpPr>
          <p:cNvPr id="11" name="Text 7"/>
          <p:cNvSpPr txBox="1"/>
          <p:nvPr/>
        </p:nvSpPr>
        <p:spPr>
          <a:xfrm>
            <a:off x="3593592" y="2423160"/>
            <a:ext cx="2194560" cy="411480"/>
          </a:xfrm>
          <a:prstGeom prst="rect">
            <a:avLst/>
          </a:prstGeom>
          <a:noFill/>
          <a:ln/>
        </p:spPr>
        <p:txBody>
          <a:bodyPr wrap="square" lIns="0" tIns="0" rIns="0" bIns="0" rtlCol="0" anchor="t"/>
          <a:lstStyle/>
          <a:p>
            <a:pPr indent="0" marL="0">
              <a:buNone/>
            </a:pPr>
            <a:r>
              <a:rPr lang="en-US" sz="1800" b="1" dirty="0">
                <a:solidFill>
                  <a:schemeClr val="tx1"/>
                </a:solidFill>
              </a:rPr>
              <a:t>No feedback</a:t>
            </a:r>
            <a:endParaRPr lang="en-US" sz="1800" dirty="0"/>
          </a:p>
        </p:txBody>
      </p:sp>
      <p:sp>
        <p:nvSpPr>
          <p:cNvPr id="12" name="Text 8"/>
          <p:cNvSpPr txBox="1"/>
          <p:nvPr/>
        </p:nvSpPr>
        <p:spPr>
          <a:xfrm>
            <a:off x="3593592" y="2834640"/>
            <a:ext cx="2194560" cy="1463040"/>
          </a:xfrm>
          <a:prstGeom prst="rect">
            <a:avLst/>
          </a:prstGeom>
          <a:noFill/>
          <a:ln/>
        </p:spPr>
        <p:txBody>
          <a:bodyPr wrap="square" lIns="0" tIns="0" rIns="0" bIns="0" rtlCol="0" anchor="t"/>
          <a:lstStyle/>
          <a:p>
            <a:pPr indent="0" marL="0">
              <a:buNone/>
            </a:pPr>
            <a:r>
              <a:rPr lang="en-US" sz="1500" dirty="0">
                <a:solidFill>
                  <a:schemeClr val="tx2"/>
                </a:solidFill>
              </a:rPr>
              <a:t>Applicants get repeated rejections without knowing what to fix.</a:t>
            </a:r>
            <a:endParaRPr lang="en-US" sz="1500" dirty="0"/>
          </a:p>
        </p:txBody>
      </p:sp>
      <p:sp>
        <p:nvSpPr>
          <p:cNvPr id="13" name="problem box 3"/>
          <p:cNvSpPr/>
          <p:nvPr/>
        </p:nvSpPr>
        <p:spPr>
          <a:xfrm>
            <a:off x="6181344" y="1417320"/>
            <a:ext cx="2633472" cy="3017520"/>
          </a:xfrm>
          <a:prstGeom prst="rect">
            <a:avLst/>
          </a:prstGeom>
          <a:solidFill>
            <a:schemeClr val="bg2"/>
          </a:solidFill>
          <a:ln w="9525">
            <a:solidFill>
              <a:srgbClr val="D9DEE8"/>
            </a:solidFill>
            <a:prstDash val="solid"/>
          </a:ln>
        </p:spPr>
      </p:sp>
      <p:sp>
        <p:nvSpPr>
          <p:cNvPr id="14" name="problem icon 3 circle"/>
          <p:cNvSpPr/>
          <p:nvPr/>
        </p:nvSpPr>
        <p:spPr>
          <a:xfrm>
            <a:off x="6409944" y="1645920"/>
            <a:ext cx="594360" cy="594360"/>
          </a:xfrm>
          <a:prstGeom prst="ellipse">
            <a:avLst/>
          </a:prstGeom>
          <a:solidFill>
            <a:schemeClr val="bg1"/>
          </a:solidFill>
          <a:ln w="9525">
            <a:solidFill>
              <a:srgbClr val="D9DEE8"/>
            </a:solidFill>
            <a:prstDash val="solid"/>
          </a:ln>
        </p:spPr>
      </p:sp>
      <p:pic>
        <p:nvPicPr>
          <p:cNvPr id="15" name="problem icon 3" descr="problem icon 3">    </p:cNvPr>
          <p:cNvPicPr>
            <a:picLocks noChangeAspect="1"/>
          </p:cNvPicPr>
          <p:nvPr/>
        </p:nvPicPr>
        <p:blipFill>
          <a:blip r:embed="rId3"/>
          <a:stretch>
            <a:fillRect/>
          </a:stretch>
        </p:blipFill>
        <p:spPr>
          <a:xfrm>
            <a:off x="6558534" y="1794510"/>
            <a:ext cx="297180" cy="297180"/>
          </a:xfrm>
          <a:prstGeom prst="rect">
            <a:avLst/>
          </a:prstGeom>
        </p:spPr>
      </p:pic>
      <p:sp>
        <p:nvSpPr>
          <p:cNvPr id="16" name="Text 11"/>
          <p:cNvSpPr txBox="1"/>
          <p:nvPr/>
        </p:nvSpPr>
        <p:spPr>
          <a:xfrm>
            <a:off x="6409944" y="2423160"/>
            <a:ext cx="2194560" cy="411480"/>
          </a:xfrm>
          <a:prstGeom prst="rect">
            <a:avLst/>
          </a:prstGeom>
          <a:noFill/>
          <a:ln/>
        </p:spPr>
        <p:txBody>
          <a:bodyPr wrap="square" lIns="0" tIns="0" rIns="0" bIns="0" rtlCol="0" anchor="t"/>
          <a:lstStyle/>
          <a:p>
            <a:pPr indent="0" marL="0">
              <a:buNone/>
            </a:pPr>
            <a:r>
              <a:rPr lang="en-US" sz="1800" b="1" dirty="0">
                <a:solidFill>
                  <a:schemeClr val="tx1"/>
                </a:solidFill>
              </a:rPr>
              <a:t>Unknown standard</a:t>
            </a:r>
            <a:endParaRPr lang="en-US" sz="1800" dirty="0"/>
          </a:p>
        </p:txBody>
      </p:sp>
      <p:sp>
        <p:nvSpPr>
          <p:cNvPr id="17" name="Text 12"/>
          <p:cNvSpPr txBox="1"/>
          <p:nvPr/>
        </p:nvSpPr>
        <p:spPr>
          <a:xfrm>
            <a:off x="6409944" y="2834640"/>
            <a:ext cx="2194560" cy="1463040"/>
          </a:xfrm>
          <a:prstGeom prst="rect">
            <a:avLst/>
          </a:prstGeom>
          <a:noFill/>
          <a:ln/>
        </p:spPr>
        <p:txBody>
          <a:bodyPr wrap="square" lIns="0" tIns="0" rIns="0" bIns="0" rtlCol="0" anchor="t"/>
          <a:lstStyle/>
          <a:p>
            <a:pPr indent="0" marL="0">
              <a:buNone/>
            </a:pPr>
            <a:r>
              <a:rPr lang="en-US" sz="1500" dirty="0">
                <a:solidFill>
                  <a:schemeClr val="tx2"/>
                </a:solidFill>
              </a:rPr>
              <a:t>International employers expect a Europass CV that most graduates were never taught.</a:t>
            </a:r>
            <a:endParaRPr lang="en-US" sz="1500" dirty="0"/>
          </a:p>
        </p:txBody>
      </p:sp>
      <p:sp>
        <p:nvSpPr>
          <p:cNvPr id="18" name="problem box 4"/>
          <p:cNvSpPr/>
          <p:nvPr/>
        </p:nvSpPr>
        <p:spPr>
          <a:xfrm>
            <a:off x="8997696" y="1417320"/>
            <a:ext cx="2633472" cy="3017520"/>
          </a:xfrm>
          <a:prstGeom prst="rect">
            <a:avLst/>
          </a:prstGeom>
          <a:solidFill>
            <a:schemeClr val="bg2"/>
          </a:solidFill>
          <a:ln w="9525">
            <a:solidFill>
              <a:srgbClr val="D9DEE8"/>
            </a:solidFill>
            <a:prstDash val="solid"/>
          </a:ln>
        </p:spPr>
      </p:sp>
      <p:sp>
        <p:nvSpPr>
          <p:cNvPr id="19" name="problem icon 4 circle"/>
          <p:cNvSpPr/>
          <p:nvPr/>
        </p:nvSpPr>
        <p:spPr>
          <a:xfrm>
            <a:off x="9226296" y="1645920"/>
            <a:ext cx="594360" cy="594360"/>
          </a:xfrm>
          <a:prstGeom prst="ellipse">
            <a:avLst/>
          </a:prstGeom>
          <a:solidFill>
            <a:schemeClr val="bg1"/>
          </a:solidFill>
          <a:ln w="9525">
            <a:solidFill>
              <a:srgbClr val="D9DEE8"/>
            </a:solidFill>
            <a:prstDash val="solid"/>
          </a:ln>
        </p:spPr>
      </p:sp>
      <p:pic>
        <p:nvPicPr>
          <p:cNvPr id="20" name="problem icon 4" descr="problem icon 4">    </p:cNvPr>
          <p:cNvPicPr>
            <a:picLocks noChangeAspect="1"/>
          </p:cNvPicPr>
          <p:nvPr/>
        </p:nvPicPr>
        <p:blipFill>
          <a:blip r:embed="rId4"/>
          <a:stretch>
            <a:fillRect/>
          </a:stretch>
        </p:blipFill>
        <p:spPr>
          <a:xfrm>
            <a:off x="9374886" y="1794510"/>
            <a:ext cx="297180" cy="297180"/>
          </a:xfrm>
          <a:prstGeom prst="rect">
            <a:avLst/>
          </a:prstGeom>
        </p:spPr>
      </p:pic>
      <p:sp>
        <p:nvSpPr>
          <p:cNvPr id="21" name="Text 15"/>
          <p:cNvSpPr txBox="1"/>
          <p:nvPr/>
        </p:nvSpPr>
        <p:spPr>
          <a:xfrm>
            <a:off x="9226296" y="2423160"/>
            <a:ext cx="2194560" cy="411480"/>
          </a:xfrm>
          <a:prstGeom prst="rect">
            <a:avLst/>
          </a:prstGeom>
          <a:noFill/>
          <a:ln/>
        </p:spPr>
        <p:txBody>
          <a:bodyPr wrap="square" lIns="0" tIns="0" rIns="0" bIns="0" rtlCol="0" anchor="t"/>
          <a:lstStyle/>
          <a:p>
            <a:pPr indent="0" marL="0">
              <a:buNone/>
            </a:pPr>
            <a:r>
              <a:rPr lang="en-US" sz="1800" b="1" dirty="0">
                <a:solidFill>
                  <a:schemeClr val="tx1"/>
                </a:solidFill>
              </a:rPr>
              <a:t>Time-consuming</a:t>
            </a:r>
            <a:endParaRPr lang="en-US" sz="1800" dirty="0"/>
          </a:p>
        </p:txBody>
      </p:sp>
      <p:sp>
        <p:nvSpPr>
          <p:cNvPr id="22" name="Text 16"/>
          <p:cNvSpPr txBox="1"/>
          <p:nvPr/>
        </p:nvSpPr>
        <p:spPr>
          <a:xfrm>
            <a:off x="9226296" y="2834640"/>
            <a:ext cx="2194560" cy="1463040"/>
          </a:xfrm>
          <a:prstGeom prst="rect">
            <a:avLst/>
          </a:prstGeom>
          <a:noFill/>
          <a:ln/>
        </p:spPr>
        <p:txBody>
          <a:bodyPr wrap="square" lIns="0" tIns="0" rIns="0" bIns="0" rtlCol="0" anchor="t"/>
          <a:lstStyle/>
          <a:p>
            <a:pPr indent="0" marL="0">
              <a:buNone/>
            </a:pPr>
            <a:r>
              <a:rPr lang="en-US" sz="1500" dirty="0">
                <a:solidFill>
                  <a:schemeClr val="tx2"/>
                </a:solidFill>
              </a:rPr>
              <a:t>Writing a personalised cover letter for every job takes hours.</a:t>
            </a:r>
            <a:endParaRPr lang="en-US" sz="1500" dirty="0"/>
          </a:p>
        </p:txBody>
      </p:sp>
      <p:sp>
        <p:nvSpPr>
          <p:cNvPr id="23" name="Text 17"/>
          <p:cNvSpPr txBox="1"/>
          <p:nvPr/>
        </p:nvSpPr>
        <p:spPr>
          <a:xfrm>
            <a:off x="548640" y="4754880"/>
            <a:ext cx="11091672" cy="1280160"/>
          </a:xfrm>
          <a:prstGeom prst="rect">
            <a:avLst/>
          </a:prstGeom>
          <a:noFill/>
          <a:ln/>
        </p:spPr>
        <p:txBody>
          <a:bodyPr wrap="square" lIns="0" tIns="0" rIns="0" bIns="0" rtlCol="0" anchor="t"/>
          <a:lstStyle/>
          <a:p>
            <a:pPr indent="0" marL="0">
              <a:buNone/>
            </a:pPr>
            <a:r>
              <a:rPr lang="en-US" sz="1600" b="1" dirty="0">
                <a:solidFill>
                  <a:schemeClr val="tx1"/>
                </a:solidFill>
              </a:rPr>
              <a:t>Existing tools are not enough: </a:t>
            </a:r>
            <a:pPr indent="0" marL="0">
              <a:buNone/>
            </a:pPr>
            <a:r>
              <a:rPr lang="en-US" sz="1600" dirty="0">
                <a:solidFill>
                  <a:schemeClr val="tx1"/>
                </a:solidFill>
              </a:rPr>
              <a:t>Jobscan and Resume Worded are paid and match keywords without context; Reactive Resume is only a builder. None combine analysis, a Europass rewrite and a cover letter for the same job.</a:t>
            </a:r>
            <a:endParaRPr lang="en-US" sz="1600" dirty="0"/>
          </a:p>
        </p:txBody>
      </p:sp>
      <p:sp>
        <p:nvSpPr>
          <p:cNvPr id="25" name="Slide Number Placeholder 0"/>
          <p:cNvSpPr>
            <a:spLocks noGrp="1"/>
          </p:cNvSpPr>
          <p:nvPr>
            <p:ph type="sldNum" sz="quarter" idx="4294967295"/>
          </p:nvPr>
        </p:nvSpPr>
        <p:spPr>
          <a:xfrm>
            <a:off x="11201400" y="6419088"/>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777240"/>
          </a:xfrm>
          <a:prstGeom prst="rect">
            <a:avLst/>
          </a:prstGeom>
          <a:noFill/>
          <a:ln/>
        </p:spPr>
        <p:txBody>
          <a:bodyPr wrap="square" lIns="0" tIns="0" rIns="0" bIns="0" rtlCol="0" anchor="ctr"/>
          <a:lstStyle/>
          <a:p>
            <a:pPr algn="l" indent="0" marL="0">
              <a:buNone/>
            </a:pPr>
            <a:r>
              <a:rPr lang="en-US" sz="3200" b="1" dirty="0">
                <a:solidFill>
                  <a:schemeClr val="tx1"/>
                </a:solidFill>
              </a:rPr>
              <a:t>Objectives</a:t>
            </a:r>
            <a:endParaRPr lang="en-US" sz="3200" dirty="0"/>
          </a:p>
        </p:txBody>
      </p:sp>
      <p:sp>
        <p:nvSpPr>
          <p:cNvPr id="3" name="objective 1"/>
          <p:cNvSpPr/>
          <p:nvPr/>
        </p:nvSpPr>
        <p:spPr>
          <a:xfrm>
            <a:off x="548640" y="1417320"/>
            <a:ext cx="5440680" cy="1005840"/>
          </a:xfrm>
          <a:prstGeom prst="rect">
            <a:avLst/>
          </a:prstGeom>
          <a:solidFill>
            <a:schemeClr val="bg2"/>
          </a:solidFill>
          <a:ln w="9525">
            <a:solidFill>
              <a:srgbClr val="D9DEE8"/>
            </a:solidFill>
            <a:prstDash val="solid"/>
          </a:ln>
        </p:spPr>
      </p:sp>
      <p:sp>
        <p:nvSpPr>
          <p:cNvPr id="4" name="Text 2"/>
          <p:cNvSpPr txBox="1"/>
          <p:nvPr/>
        </p:nvSpPr>
        <p:spPr>
          <a:xfrm>
            <a:off x="731520" y="1417320"/>
            <a:ext cx="640080" cy="1005840"/>
          </a:xfrm>
          <a:prstGeom prst="rect">
            <a:avLst/>
          </a:prstGeom>
          <a:noFill/>
          <a:ln/>
        </p:spPr>
        <p:txBody>
          <a:bodyPr wrap="square" lIns="0" tIns="0" rIns="0" bIns="0" rtlCol="0" anchor="ctr"/>
          <a:lstStyle/>
          <a:p>
            <a:pPr indent="0" marL="0">
              <a:buNone/>
            </a:pPr>
            <a:r>
              <a:rPr lang="en-US" sz="2200" b="1" dirty="0">
                <a:solidFill>
                  <a:schemeClr val="accent1"/>
                </a:solidFill>
              </a:rPr>
              <a:t>O1</a:t>
            </a:r>
            <a:endParaRPr lang="en-US" sz="2200" dirty="0"/>
          </a:p>
        </p:txBody>
      </p:sp>
      <p:sp>
        <p:nvSpPr>
          <p:cNvPr id="5" name="Text 3"/>
          <p:cNvSpPr txBox="1"/>
          <p:nvPr/>
        </p:nvSpPr>
        <p:spPr>
          <a:xfrm>
            <a:off x="1463040" y="1417320"/>
            <a:ext cx="4389120" cy="1005840"/>
          </a:xfrm>
          <a:prstGeom prst="rect">
            <a:avLst/>
          </a:prstGeom>
          <a:noFill/>
          <a:ln/>
        </p:spPr>
        <p:txBody>
          <a:bodyPr wrap="square" lIns="0" tIns="0" rIns="0" bIns="0" rtlCol="0" anchor="ctr"/>
          <a:lstStyle/>
          <a:p>
            <a:pPr indent="0" marL="0">
              <a:buNone/>
            </a:pPr>
            <a:r>
              <a:rPr lang="en-US" sz="1600" dirty="0">
                <a:solidFill>
                  <a:schemeClr val="tx1"/>
                </a:solidFill>
              </a:rPr>
              <a:t>Secure accounts with bcrypt, JWT and Google Sign-In</a:t>
            </a:r>
            <a:endParaRPr lang="en-US" sz="1600" dirty="0"/>
          </a:p>
        </p:txBody>
      </p:sp>
      <p:sp>
        <p:nvSpPr>
          <p:cNvPr id="6" name="objective 2"/>
          <p:cNvSpPr/>
          <p:nvPr/>
        </p:nvSpPr>
        <p:spPr>
          <a:xfrm>
            <a:off x="6153912" y="1417320"/>
            <a:ext cx="5440680" cy="1005840"/>
          </a:xfrm>
          <a:prstGeom prst="rect">
            <a:avLst/>
          </a:prstGeom>
          <a:solidFill>
            <a:schemeClr val="bg2"/>
          </a:solidFill>
          <a:ln w="9525">
            <a:solidFill>
              <a:srgbClr val="D9DEE8"/>
            </a:solidFill>
            <a:prstDash val="solid"/>
          </a:ln>
        </p:spPr>
      </p:sp>
      <p:sp>
        <p:nvSpPr>
          <p:cNvPr id="7" name="Text 5"/>
          <p:cNvSpPr txBox="1"/>
          <p:nvPr/>
        </p:nvSpPr>
        <p:spPr>
          <a:xfrm>
            <a:off x="6336792" y="1417320"/>
            <a:ext cx="640080" cy="1005840"/>
          </a:xfrm>
          <a:prstGeom prst="rect">
            <a:avLst/>
          </a:prstGeom>
          <a:noFill/>
          <a:ln/>
        </p:spPr>
        <p:txBody>
          <a:bodyPr wrap="square" lIns="0" tIns="0" rIns="0" bIns="0" rtlCol="0" anchor="ctr"/>
          <a:lstStyle/>
          <a:p>
            <a:pPr indent="0" marL="0">
              <a:buNone/>
            </a:pPr>
            <a:r>
              <a:rPr lang="en-US" sz="2200" b="1" dirty="0">
                <a:solidFill>
                  <a:schemeClr val="accent1"/>
                </a:solidFill>
              </a:rPr>
              <a:t>O2</a:t>
            </a:r>
            <a:endParaRPr lang="en-US" sz="2200" dirty="0"/>
          </a:p>
        </p:txBody>
      </p:sp>
      <p:sp>
        <p:nvSpPr>
          <p:cNvPr id="8" name="Text 6"/>
          <p:cNvSpPr txBox="1"/>
          <p:nvPr/>
        </p:nvSpPr>
        <p:spPr>
          <a:xfrm>
            <a:off x="7068312" y="1417320"/>
            <a:ext cx="4389120" cy="1005840"/>
          </a:xfrm>
          <a:prstGeom prst="rect">
            <a:avLst/>
          </a:prstGeom>
          <a:noFill/>
          <a:ln/>
        </p:spPr>
        <p:txBody>
          <a:bodyPr wrap="square" lIns="0" tIns="0" rIns="0" bIns="0" rtlCol="0" anchor="ctr"/>
          <a:lstStyle/>
          <a:p>
            <a:pPr indent="0" marL="0">
              <a:buNone/>
            </a:pPr>
            <a:r>
              <a:rPr lang="en-US" sz="1600" dirty="0">
                <a:solidFill>
                  <a:schemeClr val="tx1"/>
                </a:solidFill>
              </a:rPr>
              <a:t>Store resumes and analysis history in MongoDB</a:t>
            </a:r>
            <a:endParaRPr lang="en-US" sz="1600" dirty="0"/>
          </a:p>
        </p:txBody>
      </p:sp>
      <p:sp>
        <p:nvSpPr>
          <p:cNvPr id="9" name="objective 3"/>
          <p:cNvSpPr/>
          <p:nvPr/>
        </p:nvSpPr>
        <p:spPr>
          <a:xfrm>
            <a:off x="548640" y="2606040"/>
            <a:ext cx="5440680" cy="1005840"/>
          </a:xfrm>
          <a:prstGeom prst="rect">
            <a:avLst/>
          </a:prstGeom>
          <a:solidFill>
            <a:schemeClr val="bg2"/>
          </a:solidFill>
          <a:ln w="9525">
            <a:solidFill>
              <a:srgbClr val="D9DEE8"/>
            </a:solidFill>
            <a:prstDash val="solid"/>
          </a:ln>
        </p:spPr>
      </p:sp>
      <p:sp>
        <p:nvSpPr>
          <p:cNvPr id="10" name="Text 8"/>
          <p:cNvSpPr txBox="1"/>
          <p:nvPr/>
        </p:nvSpPr>
        <p:spPr>
          <a:xfrm>
            <a:off x="731520" y="2606040"/>
            <a:ext cx="640080" cy="1005840"/>
          </a:xfrm>
          <a:prstGeom prst="rect">
            <a:avLst/>
          </a:prstGeom>
          <a:noFill/>
          <a:ln/>
        </p:spPr>
        <p:txBody>
          <a:bodyPr wrap="square" lIns="0" tIns="0" rIns="0" bIns="0" rtlCol="0" anchor="ctr"/>
          <a:lstStyle/>
          <a:p>
            <a:pPr indent="0" marL="0">
              <a:buNone/>
            </a:pPr>
            <a:r>
              <a:rPr lang="en-US" sz="2200" b="1" dirty="0">
                <a:solidFill>
                  <a:schemeClr val="accent1"/>
                </a:solidFill>
              </a:rPr>
              <a:t>O3</a:t>
            </a:r>
            <a:endParaRPr lang="en-US" sz="2200" dirty="0"/>
          </a:p>
        </p:txBody>
      </p:sp>
      <p:sp>
        <p:nvSpPr>
          <p:cNvPr id="11" name="Text 9"/>
          <p:cNvSpPr txBox="1"/>
          <p:nvPr/>
        </p:nvSpPr>
        <p:spPr>
          <a:xfrm>
            <a:off x="1463040" y="2606040"/>
            <a:ext cx="4389120" cy="1005840"/>
          </a:xfrm>
          <a:prstGeom prst="rect">
            <a:avLst/>
          </a:prstGeom>
          <a:noFill/>
          <a:ln/>
        </p:spPr>
        <p:txBody>
          <a:bodyPr wrap="square" lIns="0" tIns="0" rIns="0" bIns="0" rtlCol="0" anchor="ctr"/>
          <a:lstStyle/>
          <a:p>
            <a:pPr indent="0" marL="0">
              <a:buNone/>
            </a:pPr>
            <a:r>
              <a:rPr lang="en-US" sz="1600" dirty="0">
                <a:solidFill>
                  <a:schemeClr val="tx1"/>
                </a:solidFill>
              </a:rPr>
              <a:t>AI ATS analysis: overall score + 5 categories with tips</a:t>
            </a:r>
            <a:endParaRPr lang="en-US" sz="1600" dirty="0"/>
          </a:p>
        </p:txBody>
      </p:sp>
      <p:sp>
        <p:nvSpPr>
          <p:cNvPr id="12" name="objective 4"/>
          <p:cNvSpPr/>
          <p:nvPr/>
        </p:nvSpPr>
        <p:spPr>
          <a:xfrm>
            <a:off x="6153912" y="2606040"/>
            <a:ext cx="5440680" cy="1005840"/>
          </a:xfrm>
          <a:prstGeom prst="rect">
            <a:avLst/>
          </a:prstGeom>
          <a:solidFill>
            <a:schemeClr val="bg2"/>
          </a:solidFill>
          <a:ln w="9525">
            <a:solidFill>
              <a:srgbClr val="D9DEE8"/>
            </a:solidFill>
            <a:prstDash val="solid"/>
          </a:ln>
        </p:spPr>
      </p:sp>
      <p:sp>
        <p:nvSpPr>
          <p:cNvPr id="13" name="Text 11"/>
          <p:cNvSpPr txBox="1"/>
          <p:nvPr/>
        </p:nvSpPr>
        <p:spPr>
          <a:xfrm>
            <a:off x="6336792" y="2606040"/>
            <a:ext cx="640080" cy="1005840"/>
          </a:xfrm>
          <a:prstGeom prst="rect">
            <a:avLst/>
          </a:prstGeom>
          <a:noFill/>
          <a:ln/>
        </p:spPr>
        <p:txBody>
          <a:bodyPr wrap="square" lIns="0" tIns="0" rIns="0" bIns="0" rtlCol="0" anchor="ctr"/>
          <a:lstStyle/>
          <a:p>
            <a:pPr indent="0" marL="0">
              <a:buNone/>
            </a:pPr>
            <a:r>
              <a:rPr lang="en-US" sz="2200" b="1" dirty="0">
                <a:solidFill>
                  <a:schemeClr val="accent1"/>
                </a:solidFill>
              </a:rPr>
              <a:t>O4</a:t>
            </a:r>
            <a:endParaRPr lang="en-US" sz="2200" dirty="0"/>
          </a:p>
        </p:txBody>
      </p:sp>
      <p:sp>
        <p:nvSpPr>
          <p:cNvPr id="14" name="Text 12"/>
          <p:cNvSpPr txBox="1"/>
          <p:nvPr/>
        </p:nvSpPr>
        <p:spPr>
          <a:xfrm>
            <a:off x="7068312" y="2606040"/>
            <a:ext cx="4389120" cy="1005840"/>
          </a:xfrm>
          <a:prstGeom prst="rect">
            <a:avLst/>
          </a:prstGeom>
          <a:noFill/>
          <a:ln/>
        </p:spPr>
        <p:txBody>
          <a:bodyPr wrap="square" lIns="0" tIns="0" rIns="0" bIns="0" rtlCol="0" anchor="ctr"/>
          <a:lstStyle/>
          <a:p>
            <a:pPr indent="0" marL="0">
              <a:buNone/>
            </a:pPr>
            <a:r>
              <a:rPr lang="en-US" sz="1600" dirty="0">
                <a:solidFill>
                  <a:schemeClr val="tx1"/>
                </a:solidFill>
              </a:rPr>
              <a:t>Europass rewrite that fixes every tip without inventing facts</a:t>
            </a:r>
            <a:endParaRPr lang="en-US" sz="1600" dirty="0"/>
          </a:p>
        </p:txBody>
      </p:sp>
      <p:sp>
        <p:nvSpPr>
          <p:cNvPr id="15" name="objective 5"/>
          <p:cNvSpPr/>
          <p:nvPr/>
        </p:nvSpPr>
        <p:spPr>
          <a:xfrm>
            <a:off x="548640" y="3794760"/>
            <a:ext cx="5440680" cy="1005840"/>
          </a:xfrm>
          <a:prstGeom prst="rect">
            <a:avLst/>
          </a:prstGeom>
          <a:solidFill>
            <a:schemeClr val="bg2"/>
          </a:solidFill>
          <a:ln w="9525">
            <a:solidFill>
              <a:srgbClr val="D9DEE8"/>
            </a:solidFill>
            <a:prstDash val="solid"/>
          </a:ln>
        </p:spPr>
      </p:sp>
      <p:sp>
        <p:nvSpPr>
          <p:cNvPr id="16" name="Text 14"/>
          <p:cNvSpPr txBox="1"/>
          <p:nvPr/>
        </p:nvSpPr>
        <p:spPr>
          <a:xfrm>
            <a:off x="731520" y="3794760"/>
            <a:ext cx="640080" cy="1005840"/>
          </a:xfrm>
          <a:prstGeom prst="rect">
            <a:avLst/>
          </a:prstGeom>
          <a:noFill/>
          <a:ln/>
        </p:spPr>
        <p:txBody>
          <a:bodyPr wrap="square" lIns="0" tIns="0" rIns="0" bIns="0" rtlCol="0" anchor="ctr"/>
          <a:lstStyle/>
          <a:p>
            <a:pPr indent="0" marL="0">
              <a:buNone/>
            </a:pPr>
            <a:r>
              <a:rPr lang="en-US" sz="2200" b="1" dirty="0">
                <a:solidFill>
                  <a:schemeClr val="accent1"/>
                </a:solidFill>
              </a:rPr>
              <a:t>O5</a:t>
            </a:r>
            <a:endParaRPr lang="en-US" sz="2200" dirty="0"/>
          </a:p>
        </p:txBody>
      </p:sp>
      <p:sp>
        <p:nvSpPr>
          <p:cNvPr id="17" name="Text 15"/>
          <p:cNvSpPr txBox="1"/>
          <p:nvPr/>
        </p:nvSpPr>
        <p:spPr>
          <a:xfrm>
            <a:off x="1463040" y="3794760"/>
            <a:ext cx="4389120" cy="1005840"/>
          </a:xfrm>
          <a:prstGeom prst="rect">
            <a:avLst/>
          </a:prstGeom>
          <a:noFill/>
          <a:ln/>
        </p:spPr>
        <p:txBody>
          <a:bodyPr wrap="square" lIns="0" tIns="0" rIns="0" bIns="0" rtlCol="0" anchor="ctr"/>
          <a:lstStyle/>
          <a:p>
            <a:pPr indent="0" marL="0">
              <a:buNone/>
            </a:pPr>
            <a:r>
              <a:rPr lang="en-US" sz="1600" dirty="0">
                <a:solidFill>
                  <a:schemeClr val="tx1"/>
                </a:solidFill>
              </a:rPr>
              <a:t>Measure the improvement with a before / after score</a:t>
            </a:r>
            <a:endParaRPr lang="en-US" sz="1600" dirty="0"/>
          </a:p>
        </p:txBody>
      </p:sp>
      <p:sp>
        <p:nvSpPr>
          <p:cNvPr id="18" name="objective 6"/>
          <p:cNvSpPr/>
          <p:nvPr/>
        </p:nvSpPr>
        <p:spPr>
          <a:xfrm>
            <a:off x="6153912" y="3794760"/>
            <a:ext cx="5440680" cy="1005840"/>
          </a:xfrm>
          <a:prstGeom prst="rect">
            <a:avLst/>
          </a:prstGeom>
          <a:solidFill>
            <a:schemeClr val="bg2"/>
          </a:solidFill>
          <a:ln w="9525">
            <a:solidFill>
              <a:srgbClr val="D9DEE8"/>
            </a:solidFill>
            <a:prstDash val="solid"/>
          </a:ln>
        </p:spPr>
      </p:sp>
      <p:sp>
        <p:nvSpPr>
          <p:cNvPr id="19" name="Text 17"/>
          <p:cNvSpPr txBox="1"/>
          <p:nvPr/>
        </p:nvSpPr>
        <p:spPr>
          <a:xfrm>
            <a:off x="6336792" y="3794760"/>
            <a:ext cx="640080" cy="1005840"/>
          </a:xfrm>
          <a:prstGeom prst="rect">
            <a:avLst/>
          </a:prstGeom>
          <a:noFill/>
          <a:ln/>
        </p:spPr>
        <p:txBody>
          <a:bodyPr wrap="square" lIns="0" tIns="0" rIns="0" bIns="0" rtlCol="0" anchor="ctr"/>
          <a:lstStyle/>
          <a:p>
            <a:pPr indent="0" marL="0">
              <a:buNone/>
            </a:pPr>
            <a:r>
              <a:rPr lang="en-US" sz="2200" b="1" dirty="0">
                <a:solidFill>
                  <a:schemeClr val="accent1"/>
                </a:solidFill>
              </a:rPr>
              <a:t>O6</a:t>
            </a:r>
            <a:endParaRPr lang="en-US" sz="2200" dirty="0"/>
          </a:p>
        </p:txBody>
      </p:sp>
      <p:sp>
        <p:nvSpPr>
          <p:cNvPr id="20" name="Text 18"/>
          <p:cNvSpPr txBox="1"/>
          <p:nvPr/>
        </p:nvSpPr>
        <p:spPr>
          <a:xfrm>
            <a:off x="7068312" y="3794760"/>
            <a:ext cx="4389120" cy="1005840"/>
          </a:xfrm>
          <a:prstGeom prst="rect">
            <a:avLst/>
          </a:prstGeom>
          <a:noFill/>
          <a:ln/>
        </p:spPr>
        <p:txBody>
          <a:bodyPr wrap="square" lIns="0" tIns="0" rIns="0" bIns="0" rtlCol="0" anchor="ctr"/>
          <a:lstStyle/>
          <a:p>
            <a:pPr indent="0" marL="0">
              <a:buNone/>
            </a:pPr>
            <a:r>
              <a:rPr lang="en-US" sz="1600" dirty="0">
                <a:solidFill>
                  <a:schemeClr val="tx1"/>
                </a:solidFill>
              </a:rPr>
              <a:t>One-page cover letter tied to the same job</a:t>
            </a:r>
            <a:endParaRPr lang="en-US" sz="1600" dirty="0"/>
          </a:p>
        </p:txBody>
      </p:sp>
      <p:sp>
        <p:nvSpPr>
          <p:cNvPr id="21" name="objective 7"/>
          <p:cNvSpPr/>
          <p:nvPr/>
        </p:nvSpPr>
        <p:spPr>
          <a:xfrm>
            <a:off x="548640" y="4983480"/>
            <a:ext cx="5440680" cy="1005840"/>
          </a:xfrm>
          <a:prstGeom prst="rect">
            <a:avLst/>
          </a:prstGeom>
          <a:solidFill>
            <a:schemeClr val="bg2"/>
          </a:solidFill>
          <a:ln w="9525">
            <a:solidFill>
              <a:srgbClr val="D9DEE8"/>
            </a:solidFill>
            <a:prstDash val="solid"/>
          </a:ln>
        </p:spPr>
      </p:sp>
      <p:sp>
        <p:nvSpPr>
          <p:cNvPr id="22" name="Text 20"/>
          <p:cNvSpPr txBox="1"/>
          <p:nvPr/>
        </p:nvSpPr>
        <p:spPr>
          <a:xfrm>
            <a:off x="731520" y="4983480"/>
            <a:ext cx="640080" cy="1005840"/>
          </a:xfrm>
          <a:prstGeom prst="rect">
            <a:avLst/>
          </a:prstGeom>
          <a:noFill/>
          <a:ln/>
        </p:spPr>
        <p:txBody>
          <a:bodyPr wrap="square" lIns="0" tIns="0" rIns="0" bIns="0" rtlCol="0" anchor="ctr"/>
          <a:lstStyle/>
          <a:p>
            <a:pPr indent="0" marL="0">
              <a:buNone/>
            </a:pPr>
            <a:r>
              <a:rPr lang="en-US" sz="2200" b="1" dirty="0">
                <a:solidFill>
                  <a:schemeClr val="accent1"/>
                </a:solidFill>
              </a:rPr>
              <a:t>O7</a:t>
            </a:r>
            <a:endParaRPr lang="en-US" sz="2200" dirty="0"/>
          </a:p>
        </p:txBody>
      </p:sp>
      <p:sp>
        <p:nvSpPr>
          <p:cNvPr id="23" name="Text 21"/>
          <p:cNvSpPr txBox="1"/>
          <p:nvPr/>
        </p:nvSpPr>
        <p:spPr>
          <a:xfrm>
            <a:off x="1463040" y="4983480"/>
            <a:ext cx="4389120" cy="1005840"/>
          </a:xfrm>
          <a:prstGeom prst="rect">
            <a:avLst/>
          </a:prstGeom>
          <a:noFill/>
          <a:ln/>
        </p:spPr>
        <p:txBody>
          <a:bodyPr wrap="square" lIns="0" tIns="0" rIns="0" bIns="0" rtlCol="0" anchor="ctr"/>
          <a:lstStyle/>
          <a:p>
            <a:pPr indent="0" marL="0">
              <a:buNone/>
            </a:pPr>
            <a:r>
              <a:rPr lang="en-US" sz="1600" dirty="0">
                <a:solidFill>
                  <a:schemeClr val="tx1"/>
                </a:solidFill>
              </a:rPr>
              <a:t>Responsive, mobile-first interface</a:t>
            </a:r>
            <a:endParaRPr lang="en-US" sz="1600" dirty="0"/>
          </a:p>
        </p:txBody>
      </p:sp>
      <p:sp>
        <p:nvSpPr>
          <p:cNvPr id="24" name="objective 8"/>
          <p:cNvSpPr/>
          <p:nvPr/>
        </p:nvSpPr>
        <p:spPr>
          <a:xfrm>
            <a:off x="6153912" y="4983480"/>
            <a:ext cx="5440680" cy="1005840"/>
          </a:xfrm>
          <a:prstGeom prst="rect">
            <a:avLst/>
          </a:prstGeom>
          <a:solidFill>
            <a:schemeClr val="bg2"/>
          </a:solidFill>
          <a:ln w="9525">
            <a:solidFill>
              <a:srgbClr val="D9DEE8"/>
            </a:solidFill>
            <a:prstDash val="solid"/>
          </a:ln>
        </p:spPr>
      </p:sp>
      <p:sp>
        <p:nvSpPr>
          <p:cNvPr id="25" name="Text 23"/>
          <p:cNvSpPr txBox="1"/>
          <p:nvPr/>
        </p:nvSpPr>
        <p:spPr>
          <a:xfrm>
            <a:off x="6336792" y="4983480"/>
            <a:ext cx="640080" cy="1005840"/>
          </a:xfrm>
          <a:prstGeom prst="rect">
            <a:avLst/>
          </a:prstGeom>
          <a:noFill/>
          <a:ln/>
        </p:spPr>
        <p:txBody>
          <a:bodyPr wrap="square" lIns="0" tIns="0" rIns="0" bIns="0" rtlCol="0" anchor="ctr"/>
          <a:lstStyle/>
          <a:p>
            <a:pPr indent="0" marL="0">
              <a:buNone/>
            </a:pPr>
            <a:r>
              <a:rPr lang="en-US" sz="2200" b="1" dirty="0">
                <a:solidFill>
                  <a:schemeClr val="accent1"/>
                </a:solidFill>
              </a:rPr>
              <a:t>O8</a:t>
            </a:r>
            <a:endParaRPr lang="en-US" sz="2200" dirty="0"/>
          </a:p>
        </p:txBody>
      </p:sp>
      <p:sp>
        <p:nvSpPr>
          <p:cNvPr id="26" name="Text 24"/>
          <p:cNvSpPr txBox="1"/>
          <p:nvPr/>
        </p:nvSpPr>
        <p:spPr>
          <a:xfrm>
            <a:off x="7068312" y="4983480"/>
            <a:ext cx="4389120" cy="1005840"/>
          </a:xfrm>
          <a:prstGeom prst="rect">
            <a:avLst/>
          </a:prstGeom>
          <a:noFill/>
          <a:ln/>
        </p:spPr>
        <p:txBody>
          <a:bodyPr wrap="square" lIns="0" tIns="0" rIns="0" bIns="0" rtlCol="0" anchor="ctr"/>
          <a:lstStyle/>
          <a:p>
            <a:pPr indent="0" marL="0">
              <a:buNone/>
            </a:pPr>
            <a:r>
              <a:rPr lang="en-US" sz="1600" dirty="0">
                <a:solidFill>
                  <a:schemeClr val="tx1"/>
                </a:solidFill>
              </a:rPr>
              <a:t>48 automated tests, CI and public deployment</a:t>
            </a:r>
            <a:endParaRPr lang="en-US" sz="1600" dirty="0"/>
          </a:p>
        </p:txBody>
      </p:sp>
      <p:sp>
        <p:nvSpPr>
          <p:cNvPr id="25" name="Slide Number Placeholder 0"/>
          <p:cNvSpPr>
            <a:spLocks noGrp="1"/>
          </p:cNvSpPr>
          <p:nvPr>
            <p:ph type="sldNum" sz="quarter" idx="4294967295"/>
          </p:nvPr>
        </p:nvSpPr>
        <p:spPr>
          <a:xfrm>
            <a:off x="11201400" y="6419088"/>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777240"/>
          </a:xfrm>
          <a:prstGeom prst="rect">
            <a:avLst/>
          </a:prstGeom>
          <a:noFill/>
          <a:ln/>
        </p:spPr>
        <p:txBody>
          <a:bodyPr wrap="square" lIns="0" tIns="0" rIns="0" bIns="0" rtlCol="0" anchor="ctr"/>
          <a:lstStyle/>
          <a:p>
            <a:pPr algn="l" indent="0" marL="0">
              <a:buNone/>
            </a:pPr>
            <a:r>
              <a:rPr lang="en-US" sz="3200" b="1" dirty="0">
                <a:solidFill>
                  <a:schemeClr val="tx1"/>
                </a:solidFill>
              </a:rPr>
              <a:t>Key Features</a:t>
            </a:r>
            <a:endParaRPr lang="en-US" sz="3200" dirty="0"/>
          </a:p>
        </p:txBody>
      </p:sp>
      <p:sp>
        <p:nvSpPr>
          <p:cNvPr id="3" name="feature box 1"/>
          <p:cNvSpPr/>
          <p:nvPr/>
        </p:nvSpPr>
        <p:spPr>
          <a:xfrm>
            <a:off x="548640" y="1371600"/>
            <a:ext cx="2011680" cy="2148840"/>
          </a:xfrm>
          <a:prstGeom prst="rect">
            <a:avLst/>
          </a:prstGeom>
          <a:solidFill>
            <a:schemeClr val="bg2"/>
          </a:solidFill>
          <a:ln w="9525">
            <a:solidFill>
              <a:srgbClr val="D9DEE8"/>
            </a:solidFill>
            <a:prstDash val="solid"/>
          </a:ln>
        </p:spPr>
      </p:sp>
      <p:sp>
        <p:nvSpPr>
          <p:cNvPr id="4" name="feature icon 1 circle"/>
          <p:cNvSpPr/>
          <p:nvPr/>
        </p:nvSpPr>
        <p:spPr>
          <a:xfrm>
            <a:off x="749808" y="1554480"/>
            <a:ext cx="548640" cy="548640"/>
          </a:xfrm>
          <a:prstGeom prst="ellipse">
            <a:avLst/>
          </a:prstGeom>
          <a:solidFill>
            <a:schemeClr val="bg1"/>
          </a:solidFill>
          <a:ln w="9525">
            <a:solidFill>
              <a:srgbClr val="D9DEE8"/>
            </a:solidFill>
            <a:prstDash val="solid"/>
          </a:ln>
        </p:spPr>
      </p:sp>
      <p:pic>
        <p:nvPicPr>
          <p:cNvPr id="5" name="feature icon 1" descr="feature icon 1">    </p:cNvPr>
          <p:cNvPicPr>
            <a:picLocks noChangeAspect="1"/>
          </p:cNvPicPr>
          <p:nvPr/>
        </p:nvPicPr>
        <p:blipFill>
          <a:blip r:embed="rId1"/>
          <a:stretch>
            <a:fillRect/>
          </a:stretch>
        </p:blipFill>
        <p:spPr>
          <a:xfrm>
            <a:off x="886968" y="1691640"/>
            <a:ext cx="274320" cy="274320"/>
          </a:xfrm>
          <a:prstGeom prst="rect">
            <a:avLst/>
          </a:prstGeom>
        </p:spPr>
      </p:pic>
      <p:sp>
        <p:nvSpPr>
          <p:cNvPr id="6" name="Text 3"/>
          <p:cNvSpPr txBox="1"/>
          <p:nvPr/>
        </p:nvSpPr>
        <p:spPr>
          <a:xfrm>
            <a:off x="749808" y="2212848"/>
            <a:ext cx="1691640" cy="365760"/>
          </a:xfrm>
          <a:prstGeom prst="rect">
            <a:avLst/>
          </a:prstGeom>
          <a:noFill/>
          <a:ln/>
        </p:spPr>
        <p:txBody>
          <a:bodyPr wrap="square" lIns="0" tIns="0" rIns="0" bIns="0" rtlCol="0" anchor="t"/>
          <a:lstStyle/>
          <a:p>
            <a:pPr indent="0" marL="0">
              <a:buNone/>
            </a:pPr>
            <a:r>
              <a:rPr lang="en-US" sz="1600" b="1" dirty="0">
                <a:solidFill>
                  <a:schemeClr val="tx1"/>
                </a:solidFill>
              </a:rPr>
              <a:t>1. Upload</a:t>
            </a:r>
            <a:endParaRPr lang="en-US" sz="1600" dirty="0"/>
          </a:p>
        </p:txBody>
      </p:sp>
      <p:sp>
        <p:nvSpPr>
          <p:cNvPr id="7" name="Text 4"/>
          <p:cNvSpPr txBox="1"/>
          <p:nvPr/>
        </p:nvSpPr>
        <p:spPr>
          <a:xfrm>
            <a:off x="749808" y="2578608"/>
            <a:ext cx="1691640" cy="914400"/>
          </a:xfrm>
          <a:prstGeom prst="rect">
            <a:avLst/>
          </a:prstGeom>
          <a:noFill/>
          <a:ln/>
        </p:spPr>
        <p:txBody>
          <a:bodyPr wrap="square" lIns="0" tIns="0" rIns="0" bIns="0" rtlCol="0" anchor="t"/>
          <a:lstStyle/>
          <a:p>
            <a:pPr indent="0" marL="0">
              <a:buNone/>
            </a:pPr>
            <a:r>
              <a:rPr lang="en-US" sz="1400" dirty="0">
                <a:solidFill>
                  <a:schemeClr val="tx2"/>
                </a:solidFill>
              </a:rPr>
              <a:t>PDF + job title and description</a:t>
            </a:r>
            <a:endParaRPr lang="en-US" sz="1400" dirty="0"/>
          </a:p>
        </p:txBody>
      </p:sp>
      <p:sp>
        <p:nvSpPr>
          <p:cNvPr id="8" name="flow arrow 1"/>
          <p:cNvSpPr/>
          <p:nvPr/>
        </p:nvSpPr>
        <p:spPr>
          <a:xfrm>
            <a:off x="2596896" y="2286000"/>
            <a:ext cx="164592" cy="292608"/>
          </a:xfrm>
          <a:prstGeom prst="chevron">
            <a:avLst/>
          </a:prstGeom>
          <a:solidFill>
            <a:schemeClr val="accent1"/>
          </a:solidFill>
          <a:ln/>
        </p:spPr>
      </p:sp>
      <p:sp>
        <p:nvSpPr>
          <p:cNvPr id="9" name="feature box 2"/>
          <p:cNvSpPr/>
          <p:nvPr/>
        </p:nvSpPr>
        <p:spPr>
          <a:xfrm>
            <a:off x="2807208" y="1371600"/>
            <a:ext cx="2011680" cy="2148840"/>
          </a:xfrm>
          <a:prstGeom prst="rect">
            <a:avLst/>
          </a:prstGeom>
          <a:solidFill>
            <a:schemeClr val="bg2"/>
          </a:solidFill>
          <a:ln w="9525">
            <a:solidFill>
              <a:srgbClr val="D9DEE8"/>
            </a:solidFill>
            <a:prstDash val="solid"/>
          </a:ln>
        </p:spPr>
      </p:sp>
      <p:sp>
        <p:nvSpPr>
          <p:cNvPr id="10" name="feature icon 2 circle"/>
          <p:cNvSpPr/>
          <p:nvPr/>
        </p:nvSpPr>
        <p:spPr>
          <a:xfrm>
            <a:off x="3008376" y="1554480"/>
            <a:ext cx="548640" cy="548640"/>
          </a:xfrm>
          <a:prstGeom prst="ellipse">
            <a:avLst/>
          </a:prstGeom>
          <a:solidFill>
            <a:schemeClr val="bg1"/>
          </a:solidFill>
          <a:ln w="9525">
            <a:solidFill>
              <a:srgbClr val="D9DEE8"/>
            </a:solidFill>
            <a:prstDash val="solid"/>
          </a:ln>
        </p:spPr>
      </p:sp>
      <p:pic>
        <p:nvPicPr>
          <p:cNvPr id="11" name="feature icon 2" descr="feature icon 2">    </p:cNvPr>
          <p:cNvPicPr>
            <a:picLocks noChangeAspect="1"/>
          </p:cNvPicPr>
          <p:nvPr/>
        </p:nvPicPr>
        <p:blipFill>
          <a:blip r:embed="rId2"/>
          <a:stretch>
            <a:fillRect/>
          </a:stretch>
        </p:blipFill>
        <p:spPr>
          <a:xfrm>
            <a:off x="3145536" y="1691640"/>
            <a:ext cx="274320" cy="274320"/>
          </a:xfrm>
          <a:prstGeom prst="rect">
            <a:avLst/>
          </a:prstGeom>
        </p:spPr>
      </p:pic>
      <p:sp>
        <p:nvSpPr>
          <p:cNvPr id="12" name="Text 8"/>
          <p:cNvSpPr txBox="1"/>
          <p:nvPr/>
        </p:nvSpPr>
        <p:spPr>
          <a:xfrm>
            <a:off x="3008376" y="2212848"/>
            <a:ext cx="1691640" cy="365760"/>
          </a:xfrm>
          <a:prstGeom prst="rect">
            <a:avLst/>
          </a:prstGeom>
          <a:noFill/>
          <a:ln/>
        </p:spPr>
        <p:txBody>
          <a:bodyPr wrap="square" lIns="0" tIns="0" rIns="0" bIns="0" rtlCol="0" anchor="t"/>
          <a:lstStyle/>
          <a:p>
            <a:pPr indent="0" marL="0">
              <a:buNone/>
            </a:pPr>
            <a:r>
              <a:rPr lang="en-US" sz="1600" b="1" dirty="0">
                <a:solidFill>
                  <a:schemeClr val="tx1"/>
                </a:solidFill>
              </a:rPr>
              <a:t>2. Analyse</a:t>
            </a:r>
            <a:endParaRPr lang="en-US" sz="1600" dirty="0"/>
          </a:p>
        </p:txBody>
      </p:sp>
      <p:sp>
        <p:nvSpPr>
          <p:cNvPr id="13" name="Text 9"/>
          <p:cNvSpPr txBox="1"/>
          <p:nvPr/>
        </p:nvSpPr>
        <p:spPr>
          <a:xfrm>
            <a:off x="3008376" y="2578608"/>
            <a:ext cx="1691640" cy="914400"/>
          </a:xfrm>
          <a:prstGeom prst="rect">
            <a:avLst/>
          </a:prstGeom>
          <a:noFill/>
          <a:ln/>
        </p:spPr>
        <p:txBody>
          <a:bodyPr wrap="square" lIns="0" tIns="0" rIns="0" bIns="0" rtlCol="0" anchor="t"/>
          <a:lstStyle/>
          <a:p>
            <a:pPr indent="0" marL="0">
              <a:buNone/>
            </a:pPr>
            <a:r>
              <a:rPr lang="en-US" sz="1400" dirty="0">
                <a:solidFill>
                  <a:schemeClr val="tx2"/>
                </a:solidFill>
              </a:rPr>
              <a:t>Overall, ATS, tone, content, structure, skills</a:t>
            </a:r>
            <a:endParaRPr lang="en-US" sz="1400" dirty="0"/>
          </a:p>
        </p:txBody>
      </p:sp>
      <p:sp>
        <p:nvSpPr>
          <p:cNvPr id="14" name="flow arrow 2"/>
          <p:cNvSpPr/>
          <p:nvPr/>
        </p:nvSpPr>
        <p:spPr>
          <a:xfrm>
            <a:off x="4855464" y="2286000"/>
            <a:ext cx="164592" cy="292608"/>
          </a:xfrm>
          <a:prstGeom prst="chevron">
            <a:avLst/>
          </a:prstGeom>
          <a:solidFill>
            <a:schemeClr val="accent1"/>
          </a:solidFill>
          <a:ln/>
        </p:spPr>
      </p:sp>
      <p:sp>
        <p:nvSpPr>
          <p:cNvPr id="15" name="feature box 3"/>
          <p:cNvSpPr/>
          <p:nvPr/>
        </p:nvSpPr>
        <p:spPr>
          <a:xfrm>
            <a:off x="5065776" y="1371600"/>
            <a:ext cx="2011680" cy="2148840"/>
          </a:xfrm>
          <a:prstGeom prst="rect">
            <a:avLst/>
          </a:prstGeom>
          <a:solidFill>
            <a:schemeClr val="bg2"/>
          </a:solidFill>
          <a:ln w="9525">
            <a:solidFill>
              <a:srgbClr val="D9DEE8"/>
            </a:solidFill>
            <a:prstDash val="solid"/>
          </a:ln>
        </p:spPr>
      </p:sp>
      <p:sp>
        <p:nvSpPr>
          <p:cNvPr id="16" name="feature icon 3 circle"/>
          <p:cNvSpPr/>
          <p:nvPr/>
        </p:nvSpPr>
        <p:spPr>
          <a:xfrm>
            <a:off x="5266944" y="1554480"/>
            <a:ext cx="548640" cy="548640"/>
          </a:xfrm>
          <a:prstGeom prst="ellipse">
            <a:avLst/>
          </a:prstGeom>
          <a:solidFill>
            <a:schemeClr val="bg1"/>
          </a:solidFill>
          <a:ln w="9525">
            <a:solidFill>
              <a:srgbClr val="D9DEE8"/>
            </a:solidFill>
            <a:prstDash val="solid"/>
          </a:ln>
        </p:spPr>
      </p:sp>
      <p:pic>
        <p:nvPicPr>
          <p:cNvPr id="17" name="feature icon 3" descr="feature icon 3">    </p:cNvPr>
          <p:cNvPicPr>
            <a:picLocks noChangeAspect="1"/>
          </p:cNvPicPr>
          <p:nvPr/>
        </p:nvPicPr>
        <p:blipFill>
          <a:blip r:embed="rId3"/>
          <a:stretch>
            <a:fillRect/>
          </a:stretch>
        </p:blipFill>
        <p:spPr>
          <a:xfrm>
            <a:off x="5404104" y="1691640"/>
            <a:ext cx="274320" cy="274320"/>
          </a:xfrm>
          <a:prstGeom prst="rect">
            <a:avLst/>
          </a:prstGeom>
        </p:spPr>
      </p:pic>
      <p:sp>
        <p:nvSpPr>
          <p:cNvPr id="18" name="Text 13"/>
          <p:cNvSpPr txBox="1"/>
          <p:nvPr/>
        </p:nvSpPr>
        <p:spPr>
          <a:xfrm>
            <a:off x="5266944" y="2212848"/>
            <a:ext cx="1691640" cy="365760"/>
          </a:xfrm>
          <a:prstGeom prst="rect">
            <a:avLst/>
          </a:prstGeom>
          <a:noFill/>
          <a:ln/>
        </p:spPr>
        <p:txBody>
          <a:bodyPr wrap="square" lIns="0" tIns="0" rIns="0" bIns="0" rtlCol="0" anchor="t"/>
          <a:lstStyle/>
          <a:p>
            <a:pPr indent="0" marL="0">
              <a:buNone/>
            </a:pPr>
            <a:r>
              <a:rPr lang="en-US" sz="1600" b="1" dirty="0">
                <a:solidFill>
                  <a:schemeClr val="tx1"/>
                </a:solidFill>
              </a:rPr>
              <a:t>3. Europass CV</a:t>
            </a:r>
            <a:endParaRPr lang="en-US" sz="1600" dirty="0"/>
          </a:p>
        </p:txBody>
      </p:sp>
      <p:sp>
        <p:nvSpPr>
          <p:cNvPr id="19" name="Text 14"/>
          <p:cNvSpPr txBox="1"/>
          <p:nvPr/>
        </p:nvSpPr>
        <p:spPr>
          <a:xfrm>
            <a:off x="5266944" y="2578608"/>
            <a:ext cx="1691640" cy="914400"/>
          </a:xfrm>
          <a:prstGeom prst="rect">
            <a:avLst/>
          </a:prstGeom>
          <a:noFill/>
          <a:ln/>
        </p:spPr>
        <p:txBody>
          <a:bodyPr wrap="square" lIns="0" tIns="0" rIns="0" bIns="0" rtlCol="0" anchor="t"/>
          <a:lstStyle/>
          <a:p>
            <a:pPr indent="0" marL="0">
              <a:buNone/>
            </a:pPr>
            <a:r>
              <a:rPr lang="en-US" sz="1400" dirty="0">
                <a:solidFill>
                  <a:schemeClr val="tx2"/>
                </a:solidFill>
              </a:rPr>
              <a:t>Rewrite, inline edit, change list, PDF</a:t>
            </a:r>
            <a:endParaRPr lang="en-US" sz="1400" dirty="0"/>
          </a:p>
        </p:txBody>
      </p:sp>
      <p:sp>
        <p:nvSpPr>
          <p:cNvPr id="20" name="flow arrow 3"/>
          <p:cNvSpPr/>
          <p:nvPr/>
        </p:nvSpPr>
        <p:spPr>
          <a:xfrm>
            <a:off x="7114032" y="2286000"/>
            <a:ext cx="164592" cy="292608"/>
          </a:xfrm>
          <a:prstGeom prst="chevron">
            <a:avLst/>
          </a:prstGeom>
          <a:solidFill>
            <a:schemeClr val="accent1"/>
          </a:solidFill>
          <a:ln/>
        </p:spPr>
      </p:sp>
      <p:sp>
        <p:nvSpPr>
          <p:cNvPr id="21" name="feature box 4"/>
          <p:cNvSpPr/>
          <p:nvPr/>
        </p:nvSpPr>
        <p:spPr>
          <a:xfrm>
            <a:off x="7324344" y="1371600"/>
            <a:ext cx="2011680" cy="2148840"/>
          </a:xfrm>
          <a:prstGeom prst="rect">
            <a:avLst/>
          </a:prstGeom>
          <a:solidFill>
            <a:schemeClr val="bg2"/>
          </a:solidFill>
          <a:ln w="9525">
            <a:solidFill>
              <a:srgbClr val="D9DEE8"/>
            </a:solidFill>
            <a:prstDash val="solid"/>
          </a:ln>
        </p:spPr>
      </p:sp>
      <p:sp>
        <p:nvSpPr>
          <p:cNvPr id="22" name="feature icon 4 circle"/>
          <p:cNvSpPr/>
          <p:nvPr/>
        </p:nvSpPr>
        <p:spPr>
          <a:xfrm>
            <a:off x="7525512" y="1554480"/>
            <a:ext cx="548640" cy="548640"/>
          </a:xfrm>
          <a:prstGeom prst="ellipse">
            <a:avLst/>
          </a:prstGeom>
          <a:solidFill>
            <a:schemeClr val="bg1"/>
          </a:solidFill>
          <a:ln w="9525">
            <a:solidFill>
              <a:srgbClr val="D9DEE8"/>
            </a:solidFill>
            <a:prstDash val="solid"/>
          </a:ln>
        </p:spPr>
      </p:sp>
      <p:pic>
        <p:nvPicPr>
          <p:cNvPr id="23" name="feature icon 4" descr="feature icon 4">    </p:cNvPr>
          <p:cNvPicPr>
            <a:picLocks noChangeAspect="1"/>
          </p:cNvPicPr>
          <p:nvPr/>
        </p:nvPicPr>
        <p:blipFill>
          <a:blip r:embed="rId4"/>
          <a:stretch>
            <a:fillRect/>
          </a:stretch>
        </p:blipFill>
        <p:spPr>
          <a:xfrm>
            <a:off x="7662672" y="1691640"/>
            <a:ext cx="274320" cy="274320"/>
          </a:xfrm>
          <a:prstGeom prst="rect">
            <a:avLst/>
          </a:prstGeom>
        </p:spPr>
      </p:pic>
      <p:sp>
        <p:nvSpPr>
          <p:cNvPr id="24" name="Text 18"/>
          <p:cNvSpPr txBox="1"/>
          <p:nvPr/>
        </p:nvSpPr>
        <p:spPr>
          <a:xfrm>
            <a:off x="7525512" y="2212848"/>
            <a:ext cx="1691640" cy="365760"/>
          </a:xfrm>
          <a:prstGeom prst="rect">
            <a:avLst/>
          </a:prstGeom>
          <a:noFill/>
          <a:ln/>
        </p:spPr>
        <p:txBody>
          <a:bodyPr wrap="square" lIns="0" tIns="0" rIns="0" bIns="0" rtlCol="0" anchor="t"/>
          <a:lstStyle/>
          <a:p>
            <a:pPr indent="0" marL="0">
              <a:buNone/>
            </a:pPr>
            <a:r>
              <a:rPr lang="en-US" sz="1600" b="1" dirty="0">
                <a:solidFill>
                  <a:schemeClr val="tx1"/>
                </a:solidFill>
              </a:rPr>
              <a:t>4. Before / after</a:t>
            </a:r>
            <a:endParaRPr lang="en-US" sz="1600" dirty="0"/>
          </a:p>
        </p:txBody>
      </p:sp>
      <p:sp>
        <p:nvSpPr>
          <p:cNvPr id="25" name="Text 19"/>
          <p:cNvSpPr txBox="1"/>
          <p:nvPr/>
        </p:nvSpPr>
        <p:spPr>
          <a:xfrm>
            <a:off x="7525512" y="2578608"/>
            <a:ext cx="1691640" cy="914400"/>
          </a:xfrm>
          <a:prstGeom prst="rect">
            <a:avLst/>
          </a:prstGeom>
          <a:noFill/>
          <a:ln/>
        </p:spPr>
        <p:txBody>
          <a:bodyPr wrap="square" lIns="0" tIns="0" rIns="0" bIns="0" rtlCol="0" anchor="t"/>
          <a:lstStyle/>
          <a:p>
            <a:pPr indent="0" marL="0">
              <a:buNone/>
            </a:pPr>
            <a:r>
              <a:rPr lang="en-US" sz="1400" dirty="0">
                <a:solidFill>
                  <a:schemeClr val="tx2"/>
                </a:solidFill>
              </a:rPr>
              <a:t>Same job, new score, history chart</a:t>
            </a:r>
            <a:endParaRPr lang="en-US" sz="1400" dirty="0"/>
          </a:p>
        </p:txBody>
      </p:sp>
      <p:sp>
        <p:nvSpPr>
          <p:cNvPr id="26" name="flow arrow 4"/>
          <p:cNvSpPr/>
          <p:nvPr/>
        </p:nvSpPr>
        <p:spPr>
          <a:xfrm>
            <a:off x="9372600" y="2286000"/>
            <a:ext cx="164592" cy="292608"/>
          </a:xfrm>
          <a:prstGeom prst="chevron">
            <a:avLst/>
          </a:prstGeom>
          <a:solidFill>
            <a:schemeClr val="accent1"/>
          </a:solidFill>
          <a:ln/>
        </p:spPr>
      </p:sp>
      <p:sp>
        <p:nvSpPr>
          <p:cNvPr id="27" name="feature box 5"/>
          <p:cNvSpPr/>
          <p:nvPr/>
        </p:nvSpPr>
        <p:spPr>
          <a:xfrm>
            <a:off x="9582912" y="1371600"/>
            <a:ext cx="2011680" cy="2148840"/>
          </a:xfrm>
          <a:prstGeom prst="rect">
            <a:avLst/>
          </a:prstGeom>
          <a:solidFill>
            <a:schemeClr val="bg2"/>
          </a:solidFill>
          <a:ln w="9525">
            <a:solidFill>
              <a:srgbClr val="D9DEE8"/>
            </a:solidFill>
            <a:prstDash val="solid"/>
          </a:ln>
        </p:spPr>
      </p:sp>
      <p:sp>
        <p:nvSpPr>
          <p:cNvPr id="28" name="feature icon 5 circle"/>
          <p:cNvSpPr/>
          <p:nvPr/>
        </p:nvSpPr>
        <p:spPr>
          <a:xfrm>
            <a:off x="9784080" y="1554480"/>
            <a:ext cx="548640" cy="548640"/>
          </a:xfrm>
          <a:prstGeom prst="ellipse">
            <a:avLst/>
          </a:prstGeom>
          <a:solidFill>
            <a:schemeClr val="bg1"/>
          </a:solidFill>
          <a:ln w="9525">
            <a:solidFill>
              <a:srgbClr val="D9DEE8"/>
            </a:solidFill>
            <a:prstDash val="solid"/>
          </a:ln>
        </p:spPr>
      </p:sp>
      <p:pic>
        <p:nvPicPr>
          <p:cNvPr id="29" name="feature icon 5" descr="feature icon 5">    </p:cNvPr>
          <p:cNvPicPr>
            <a:picLocks noChangeAspect="1"/>
          </p:cNvPicPr>
          <p:nvPr/>
        </p:nvPicPr>
        <p:blipFill>
          <a:blip r:embed="rId5"/>
          <a:stretch>
            <a:fillRect/>
          </a:stretch>
        </p:blipFill>
        <p:spPr>
          <a:xfrm>
            <a:off x="9921240" y="1691640"/>
            <a:ext cx="274320" cy="274320"/>
          </a:xfrm>
          <a:prstGeom prst="rect">
            <a:avLst/>
          </a:prstGeom>
        </p:spPr>
      </p:pic>
      <p:sp>
        <p:nvSpPr>
          <p:cNvPr id="30" name="Text 23"/>
          <p:cNvSpPr txBox="1"/>
          <p:nvPr/>
        </p:nvSpPr>
        <p:spPr>
          <a:xfrm>
            <a:off x="9784080" y="2212848"/>
            <a:ext cx="1691640" cy="365760"/>
          </a:xfrm>
          <a:prstGeom prst="rect">
            <a:avLst/>
          </a:prstGeom>
          <a:noFill/>
          <a:ln/>
        </p:spPr>
        <p:txBody>
          <a:bodyPr wrap="square" lIns="0" tIns="0" rIns="0" bIns="0" rtlCol="0" anchor="t"/>
          <a:lstStyle/>
          <a:p>
            <a:pPr indent="0" marL="0">
              <a:buNone/>
            </a:pPr>
            <a:r>
              <a:rPr lang="en-US" sz="1600" b="1" dirty="0">
                <a:solidFill>
                  <a:schemeClr val="tx1"/>
                </a:solidFill>
              </a:rPr>
              <a:t>5. Cover letter</a:t>
            </a:r>
            <a:endParaRPr lang="en-US" sz="1600" dirty="0"/>
          </a:p>
        </p:txBody>
      </p:sp>
      <p:sp>
        <p:nvSpPr>
          <p:cNvPr id="31" name="Text 24"/>
          <p:cNvSpPr txBox="1"/>
          <p:nvPr/>
        </p:nvSpPr>
        <p:spPr>
          <a:xfrm>
            <a:off x="9784080" y="2578608"/>
            <a:ext cx="1691640" cy="914400"/>
          </a:xfrm>
          <a:prstGeom prst="rect">
            <a:avLst/>
          </a:prstGeom>
          <a:noFill/>
          <a:ln/>
        </p:spPr>
        <p:txBody>
          <a:bodyPr wrap="square" lIns="0" tIns="0" rIns="0" bIns="0" rtlCol="0" anchor="t"/>
          <a:lstStyle/>
          <a:p>
            <a:pPr indent="0" marL="0">
              <a:buNone/>
            </a:pPr>
            <a:r>
              <a:rPr lang="en-US" sz="1400" dirty="0">
                <a:solidFill>
                  <a:schemeClr val="tx2"/>
                </a:solidFill>
              </a:rPr>
              <a:t>Formal or modern, editable, PDF</a:t>
            </a:r>
            <a:endParaRPr lang="en-US" sz="1400" dirty="0"/>
          </a:p>
        </p:txBody>
      </p:sp>
      <p:pic>
        <p:nvPicPr>
          <p:cNvPr id="32" name="result page screenshot" descr="result page screenshot">    </p:cNvPr>
          <p:cNvPicPr>
            <a:picLocks noChangeAspect="1"/>
          </p:cNvPicPr>
          <p:nvPr/>
        </p:nvPicPr>
        <p:blipFill>
          <a:blip r:embed="rId6"/>
          <a:stretch>
            <a:fillRect/>
          </a:stretch>
        </p:blipFill>
        <p:spPr>
          <a:xfrm>
            <a:off x="1536192" y="3749040"/>
            <a:ext cx="3877056" cy="2423160"/>
          </a:xfrm>
          <a:prstGeom prst="rect">
            <a:avLst/>
          </a:prstGeom>
        </p:spPr>
      </p:pic>
      <p:sp>
        <p:nvSpPr>
          <p:cNvPr id="33" name="result page screenshot frame"/>
          <p:cNvSpPr/>
          <p:nvPr/>
        </p:nvSpPr>
        <p:spPr>
          <a:xfrm>
            <a:off x="1536192" y="3749040"/>
            <a:ext cx="3877056" cy="2423160"/>
          </a:xfrm>
          <a:prstGeom prst="rect">
            <a:avLst/>
          </a:prstGeom>
          <a:ln w="9525">
            <a:solidFill>
              <a:srgbClr val="D9DEE8"/>
            </a:solidFill>
            <a:prstDash val="solid"/>
          </a:ln>
        </p:spPr>
      </p:sp>
      <p:sp>
        <p:nvSpPr>
          <p:cNvPr id="34" name="Text 26"/>
          <p:cNvSpPr txBox="1"/>
          <p:nvPr/>
        </p:nvSpPr>
        <p:spPr>
          <a:xfrm>
            <a:off x="6766560" y="3794760"/>
            <a:ext cx="4846320" cy="237744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Also included</a:t>
            </a:r>
            <a:endParaRPr lang="en-US" sz="1600" dirty="0"/>
          </a:p>
          <a:p>
            <a:pPr marL="228600" indent="-228600">
              <a:spcAft>
                <a:spcPts val="600"/>
              </a:spcAft>
              <a:buSzPct val="100000"/>
              <a:buChar char="•"/>
            </a:pPr>
            <a:r>
              <a:rPr lang="en-US" sz="1600" dirty="0">
                <a:solidFill>
                  <a:schemeClr val="tx1"/>
                </a:solidFill>
              </a:rPr>
              <a:t>History dashboard and printable report</a:t>
            </a:r>
            <a:endParaRPr lang="en-US" sz="1600" dirty="0"/>
          </a:p>
          <a:p>
            <a:pPr marL="228600" indent="-228600">
              <a:spcAft>
                <a:spcPts val="600"/>
              </a:spcAft>
              <a:buSzPct val="100000"/>
              <a:buChar char="•"/>
            </a:pPr>
            <a:r>
              <a:rPr lang="en-US" sz="1600" dirty="0">
                <a:solidFill>
                  <a:schemeClr val="tx1"/>
                </a:solidFill>
              </a:rPr>
              <a:t>Email/password and Google Sign-In</a:t>
            </a:r>
            <a:endParaRPr lang="en-US" sz="1600" dirty="0"/>
          </a:p>
          <a:p>
            <a:pPr marL="228600" indent="-228600">
              <a:spcAft>
                <a:spcPts val="600"/>
              </a:spcAft>
              <a:buSzPct val="100000"/>
              <a:buChar char="•"/>
            </a:pPr>
            <a:r>
              <a:rPr lang="en-US" sz="1600" dirty="0">
                <a:solidFill>
                  <a:schemeClr val="tx1"/>
                </a:solidFill>
              </a:rPr>
              <a:t>Change password, delete account</a:t>
            </a:r>
            <a:endParaRPr lang="en-US" sz="1600" dirty="0"/>
          </a:p>
          <a:p>
            <a:pPr marL="228600" indent="-228600">
              <a:spcAft>
                <a:spcPts val="600"/>
              </a:spcAft>
              <a:buSzPct val="100000"/>
              <a:buChar char="•"/>
            </a:pPr>
            <a:r>
              <a:rPr lang="en-US" sz="1600" dirty="0">
                <a:solidFill>
                  <a:schemeClr val="tx1"/>
                </a:solidFill>
              </a:rPr>
              <a:t>Phone, tablet and desktop layouts</a:t>
            </a:r>
            <a:endParaRPr lang="en-US" sz="1600" dirty="0"/>
          </a:p>
        </p:txBody>
      </p:sp>
      <p:sp>
        <p:nvSpPr>
          <p:cNvPr id="25" name="Slide Number Placeholder 0"/>
          <p:cNvSpPr>
            <a:spLocks noGrp="1"/>
          </p:cNvSpPr>
          <p:nvPr>
            <p:ph type="sldNum" sz="quarter" idx="4294967295"/>
          </p:nvPr>
        </p:nvSpPr>
        <p:spPr>
          <a:xfrm>
            <a:off x="11201400" y="6419088"/>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777240"/>
          </a:xfrm>
          <a:prstGeom prst="rect">
            <a:avLst/>
          </a:prstGeom>
          <a:noFill/>
          <a:ln/>
        </p:spPr>
        <p:txBody>
          <a:bodyPr wrap="square" lIns="0" tIns="0" rIns="0" bIns="0" rtlCol="0" anchor="ctr"/>
          <a:lstStyle/>
          <a:p>
            <a:pPr algn="l" indent="0" marL="0">
              <a:buNone/>
            </a:pPr>
            <a:r>
              <a:rPr lang="en-US" sz="3200" b="1" dirty="0">
                <a:solidFill>
                  <a:schemeClr val="tx1"/>
                </a:solidFill>
              </a:rPr>
              <a:t>System Architecture</a:t>
            </a:r>
            <a:endParaRPr lang="en-US" sz="3200" dirty="0"/>
          </a:p>
        </p:txBody>
      </p:sp>
      <p:pic>
        <p:nvPicPr>
          <p:cNvPr id="3" name="architecture diagram" descr="architecture diagram">    </p:cNvPr>
          <p:cNvPicPr>
            <a:picLocks noChangeAspect="1"/>
          </p:cNvPicPr>
          <p:nvPr/>
        </p:nvPicPr>
        <p:blipFill>
          <a:blip r:embed="rId1"/>
          <a:stretch>
            <a:fillRect/>
          </a:stretch>
        </p:blipFill>
        <p:spPr>
          <a:xfrm>
            <a:off x="457200" y="1450048"/>
            <a:ext cx="8229600" cy="4552265"/>
          </a:xfrm>
          <a:prstGeom prst="rect">
            <a:avLst/>
          </a:prstGeom>
        </p:spPr>
      </p:pic>
      <p:sp>
        <p:nvSpPr>
          <p:cNvPr id="4" name="tier box 1"/>
          <p:cNvSpPr/>
          <p:nvPr/>
        </p:nvSpPr>
        <p:spPr>
          <a:xfrm>
            <a:off x="8915400" y="1371600"/>
            <a:ext cx="2724912" cy="1417320"/>
          </a:xfrm>
          <a:prstGeom prst="rect">
            <a:avLst/>
          </a:prstGeom>
          <a:solidFill>
            <a:schemeClr val="bg2"/>
          </a:solidFill>
          <a:ln w="9525">
            <a:solidFill>
              <a:srgbClr val="D9DEE8"/>
            </a:solidFill>
            <a:prstDash val="solid"/>
          </a:ln>
        </p:spPr>
      </p:sp>
      <p:sp>
        <p:nvSpPr>
          <p:cNvPr id="5" name="Text 2"/>
          <p:cNvSpPr txBox="1"/>
          <p:nvPr/>
        </p:nvSpPr>
        <p:spPr>
          <a:xfrm>
            <a:off x="9098280" y="1508760"/>
            <a:ext cx="2377440" cy="1188720"/>
          </a:xfrm>
          <a:prstGeom prst="rect">
            <a:avLst/>
          </a:prstGeom>
          <a:noFill/>
          <a:ln/>
        </p:spPr>
        <p:txBody>
          <a:bodyPr wrap="square" lIns="0" tIns="0" rIns="0" bIns="0" rtlCol="0" anchor="t"/>
          <a:lstStyle/>
          <a:p>
            <a:pPr indent="0" marL="0">
              <a:buNone/>
            </a:pPr>
            <a:r>
              <a:rPr lang="en-US" sz="1400" b="1" dirty="0">
                <a:solidFill>
                  <a:schemeClr val="accent1"/>
                </a:solidFill>
              </a:rPr>
              <a:t>Presentation tier</a:t>
            </a:r>
            <a:endParaRPr lang="en-US" sz="1400" dirty="0"/>
          </a:p>
          <a:p>
            <a:pPr indent="0" marL="0">
              <a:buNone/>
            </a:pPr>
            <a:r>
              <a:rPr lang="en-US" sz="1400" dirty="0">
                <a:solidFill>
                  <a:schemeClr val="tx1"/>
                </a:solidFill>
              </a:rPr>
              <a:t>React SPA on Vercel</a:t>
            </a:r>
            <a:endParaRPr lang="en-US" sz="1400" dirty="0"/>
          </a:p>
        </p:txBody>
      </p:sp>
      <p:sp>
        <p:nvSpPr>
          <p:cNvPr id="6" name="tier box 2"/>
          <p:cNvSpPr/>
          <p:nvPr/>
        </p:nvSpPr>
        <p:spPr>
          <a:xfrm>
            <a:off x="8915400" y="2971800"/>
            <a:ext cx="2724912" cy="1417320"/>
          </a:xfrm>
          <a:prstGeom prst="rect">
            <a:avLst/>
          </a:prstGeom>
          <a:solidFill>
            <a:schemeClr val="bg2"/>
          </a:solidFill>
          <a:ln w="9525">
            <a:solidFill>
              <a:srgbClr val="D9DEE8"/>
            </a:solidFill>
            <a:prstDash val="solid"/>
          </a:ln>
        </p:spPr>
      </p:sp>
      <p:sp>
        <p:nvSpPr>
          <p:cNvPr id="7" name="Text 4"/>
          <p:cNvSpPr txBox="1"/>
          <p:nvPr/>
        </p:nvSpPr>
        <p:spPr>
          <a:xfrm>
            <a:off x="9098280" y="3108960"/>
            <a:ext cx="2377440" cy="1188720"/>
          </a:xfrm>
          <a:prstGeom prst="rect">
            <a:avLst/>
          </a:prstGeom>
          <a:noFill/>
          <a:ln/>
        </p:spPr>
        <p:txBody>
          <a:bodyPr wrap="square" lIns="0" tIns="0" rIns="0" bIns="0" rtlCol="0" anchor="t"/>
          <a:lstStyle/>
          <a:p>
            <a:pPr indent="0" marL="0">
              <a:buNone/>
            </a:pPr>
            <a:r>
              <a:rPr lang="en-US" sz="1400" b="1" dirty="0">
                <a:solidFill>
                  <a:schemeClr val="accent1"/>
                </a:solidFill>
              </a:rPr>
              <a:t>Application tier</a:t>
            </a:r>
            <a:endParaRPr lang="en-US" sz="1400" dirty="0"/>
          </a:p>
          <a:p>
            <a:pPr indent="0" marL="0">
              <a:buNone/>
            </a:pPr>
            <a:r>
              <a:rPr lang="en-US" sz="1400" dirty="0">
                <a:solidFill>
                  <a:schemeClr val="tx1"/>
                </a:solidFill>
              </a:rPr>
              <a:t>Express 5 REST API on Render</a:t>
            </a:r>
            <a:endParaRPr lang="en-US" sz="1400" dirty="0"/>
          </a:p>
        </p:txBody>
      </p:sp>
      <p:sp>
        <p:nvSpPr>
          <p:cNvPr id="8" name="tier box 3"/>
          <p:cNvSpPr/>
          <p:nvPr/>
        </p:nvSpPr>
        <p:spPr>
          <a:xfrm>
            <a:off x="8915400" y="4572000"/>
            <a:ext cx="2724912" cy="1417320"/>
          </a:xfrm>
          <a:prstGeom prst="rect">
            <a:avLst/>
          </a:prstGeom>
          <a:solidFill>
            <a:schemeClr val="bg2"/>
          </a:solidFill>
          <a:ln w="9525">
            <a:solidFill>
              <a:srgbClr val="D9DEE8"/>
            </a:solidFill>
            <a:prstDash val="solid"/>
          </a:ln>
        </p:spPr>
      </p:sp>
      <p:sp>
        <p:nvSpPr>
          <p:cNvPr id="9" name="Text 6"/>
          <p:cNvSpPr txBox="1"/>
          <p:nvPr/>
        </p:nvSpPr>
        <p:spPr>
          <a:xfrm>
            <a:off x="9098280" y="4709160"/>
            <a:ext cx="2377440" cy="1188720"/>
          </a:xfrm>
          <a:prstGeom prst="rect">
            <a:avLst/>
          </a:prstGeom>
          <a:noFill/>
          <a:ln/>
        </p:spPr>
        <p:txBody>
          <a:bodyPr wrap="square" lIns="0" tIns="0" rIns="0" bIns="0" rtlCol="0" anchor="t"/>
          <a:lstStyle/>
          <a:p>
            <a:pPr indent="0" marL="0">
              <a:buNone/>
            </a:pPr>
            <a:r>
              <a:rPr lang="en-US" sz="1400" b="1" dirty="0">
                <a:solidFill>
                  <a:schemeClr val="accent1"/>
                </a:solidFill>
              </a:rPr>
              <a:t>Data tier</a:t>
            </a:r>
            <a:endParaRPr lang="en-US" sz="1400" dirty="0"/>
          </a:p>
          <a:p>
            <a:pPr indent="0" marL="0">
              <a:buNone/>
            </a:pPr>
            <a:r>
              <a:rPr lang="en-US" sz="1400" dirty="0">
                <a:solidFill>
                  <a:schemeClr val="tx1"/>
                </a:solidFill>
              </a:rPr>
              <a:t>MongoDB Atlas + GridFS; Google Gemini and Google Identity</a:t>
            </a:r>
            <a:endParaRPr lang="en-US" sz="1400" dirty="0"/>
          </a:p>
        </p:txBody>
      </p:sp>
      <p:sp>
        <p:nvSpPr>
          <p:cNvPr id="25" name="Slide Number Placeholder 0"/>
          <p:cNvSpPr>
            <a:spLocks noGrp="1"/>
          </p:cNvSpPr>
          <p:nvPr>
            <p:ph type="sldNum" sz="quarter" idx="4294967295"/>
          </p:nvPr>
        </p:nvSpPr>
        <p:spPr>
          <a:xfrm>
            <a:off x="11201400" y="6419088"/>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777240"/>
          </a:xfrm>
          <a:prstGeom prst="rect">
            <a:avLst/>
          </a:prstGeom>
          <a:noFill/>
          <a:ln/>
        </p:spPr>
        <p:txBody>
          <a:bodyPr wrap="square" lIns="0" tIns="0" rIns="0" bIns="0" rtlCol="0" anchor="ctr"/>
          <a:lstStyle/>
          <a:p>
            <a:pPr algn="l" indent="0" marL="0">
              <a:buNone/>
            </a:pPr>
            <a:r>
              <a:rPr lang="en-US" sz="3200" b="1" dirty="0">
                <a:solidFill>
                  <a:schemeClr val="tx1"/>
                </a:solidFill>
              </a:rPr>
              <a:t>Technology Stack</a:t>
            </a:r>
            <a:endParaRPr lang="en-US" sz="3200" dirty="0"/>
          </a:p>
        </p:txBody>
      </p:sp>
      <p:graphicFrame>
        <p:nvGraphicFramePr>
          <p:cNvPr id="9" name="technology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1645920"/>
                <a:gridCol w="4846320"/>
                <a:gridCol w="4599432"/>
              </a:tblGrid>
              <a:tr h="566928">
                <a:tc>
                  <a:txBody>
                    <a:bodyPr/>
                    <a:lstStyle/>
                    <a:p>
                      <a:pPr indent="0" marL="0">
                        <a:buNone/>
                      </a:pPr>
                      <a:r>
                        <a:rPr lang="en-US" sz="1500" b="1" dirty="0">
                          <a:solidFill>
                            <a:schemeClr val="bg1"/>
                          </a:solidFill>
                        </a:rPr>
                        <a:t>Layer</a:t>
                      </a:r>
                      <a:endParaRPr lang="en-US" sz="1500" dirty="0"/>
                    </a:p>
                  </a:txBody>
                  <a:tcPr marL="73152" marR="73152" marT="73152" marB="73152"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Technology</a:t>
                      </a:r>
                      <a:endParaRPr lang="en-US" sz="1500" dirty="0"/>
                    </a:p>
                  </a:txBody>
                  <a:tcPr marL="73152" marR="73152" marT="73152" marB="73152"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Why we chose it</a:t>
                      </a:r>
                      <a:endParaRPr lang="en-US" sz="1500" dirty="0"/>
                    </a:p>
                  </a:txBody>
                  <a:tcPr marL="73152" marR="73152" marT="73152" marB="73152"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solidFill>
                      <a:schemeClr val="tx1"/>
                    </a:solidFill>
                  </a:tcPr>
                </a:tc>
              </a:tr>
              <a:tr h="566928">
                <a:tc>
                  <a:txBody>
                    <a:bodyPr/>
                    <a:lstStyle/>
                    <a:p>
                      <a:pPr indent="0" marL="0">
                        <a:buNone/>
                      </a:pPr>
                      <a:r>
                        <a:rPr lang="en-US" sz="1500" dirty="0">
                          <a:solidFill>
                            <a:schemeClr val="tx1"/>
                          </a:solidFill>
                        </a:rPr>
                        <a:t>Frontend</a:t>
                      </a:r>
                      <a:endParaRPr lang="en-US" sz="1500" dirty="0"/>
                    </a:p>
                  </a:txBody>
                  <a:tcPr marL="73152" marR="73152" marT="73152" marB="73152"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c>
                  <a:txBody>
                    <a:bodyPr/>
                    <a:lstStyle/>
                    <a:p>
                      <a:pPr indent="0" marL="0">
                        <a:buNone/>
                      </a:pPr>
                      <a:r>
                        <a:rPr lang="en-US" sz="1500" dirty="0">
                          <a:solidFill>
                            <a:schemeClr val="tx1"/>
                          </a:solidFill>
                        </a:rPr>
                        <a:t>React 19, React Router 8, TypeScript, Tailwind CSS 4, Zustand, pdf.js</a:t>
                      </a:r>
                      <a:endParaRPr lang="en-US" sz="1500" dirty="0"/>
                    </a:p>
                  </a:txBody>
                  <a:tcPr marL="73152" marR="73152" marT="73152" marB="73152"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c>
                  <a:txBody>
                    <a:bodyPr/>
                    <a:lstStyle/>
                    <a:p>
                      <a:pPr indent="0" marL="0">
                        <a:buNone/>
                      </a:pPr>
                      <a:r>
                        <a:rPr lang="en-US" sz="1500" dirty="0">
                          <a:solidFill>
                            <a:schemeClr val="tx1"/>
                          </a:solidFill>
                        </a:rPr>
                        <a:t>Component model, type safety, fast mobile-first styling</a:t>
                      </a:r>
                      <a:endParaRPr lang="en-US" sz="1500" dirty="0"/>
                    </a:p>
                  </a:txBody>
                  <a:tcPr marL="73152" marR="73152" marT="73152" marB="73152"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r>
              <a:tr h="566928">
                <a:tc>
                  <a:txBody>
                    <a:bodyPr/>
                    <a:lstStyle/>
                    <a:p>
                      <a:pPr indent="0" marL="0">
                        <a:buNone/>
                      </a:pPr>
                      <a:r>
                        <a:rPr lang="en-US" sz="1500" dirty="0">
                          <a:solidFill>
                            <a:schemeClr val="tx1"/>
                          </a:solidFill>
                        </a:rPr>
                        <a:t>Backend</a:t>
                      </a:r>
                      <a:endParaRPr lang="en-US" sz="1500" dirty="0"/>
                    </a:p>
                  </a:txBody>
                  <a:tcPr marL="73152" marR="73152" marT="73152" marB="73152"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c>
                  <a:txBody>
                    <a:bodyPr/>
                    <a:lstStyle/>
                    <a:p>
                      <a:pPr indent="0" marL="0">
                        <a:buNone/>
                      </a:pPr>
                      <a:r>
                        <a:rPr lang="en-US" sz="1500" dirty="0">
                          <a:solidFill>
                            <a:schemeClr val="tx1"/>
                          </a:solidFill>
                        </a:rPr>
                        <a:t>Node.js, Express 5, Multer, pdf-parse, express-validator, helmet</a:t>
                      </a:r>
                      <a:endParaRPr lang="en-US" sz="1500" dirty="0"/>
                    </a:p>
                  </a:txBody>
                  <a:tcPr marL="73152" marR="73152" marT="73152" marB="73152"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c>
                  <a:txBody>
                    <a:bodyPr/>
                    <a:lstStyle/>
                    <a:p>
                      <a:pPr indent="0" marL="0">
                        <a:buNone/>
                      </a:pPr>
                      <a:r>
                        <a:rPr lang="en-US" sz="1500" dirty="0">
                          <a:solidFill>
                            <a:schemeClr val="tx1"/>
                          </a:solidFill>
                        </a:rPr>
                        <a:t>Same language as frontend, mature security middleware</a:t>
                      </a:r>
                      <a:endParaRPr lang="en-US" sz="1500" dirty="0"/>
                    </a:p>
                  </a:txBody>
                  <a:tcPr marL="73152" marR="73152" marT="73152" marB="73152"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r>
              <a:tr h="566928">
                <a:tc>
                  <a:txBody>
                    <a:bodyPr/>
                    <a:lstStyle/>
                    <a:p>
                      <a:pPr indent="0" marL="0">
                        <a:buNone/>
                      </a:pPr>
                      <a:r>
                        <a:rPr lang="en-US" sz="1500" dirty="0">
                          <a:solidFill>
                            <a:schemeClr val="tx1"/>
                          </a:solidFill>
                        </a:rPr>
                        <a:t>Database</a:t>
                      </a:r>
                      <a:endParaRPr lang="en-US" sz="1500" dirty="0"/>
                    </a:p>
                  </a:txBody>
                  <a:tcPr marL="73152" marR="73152" marT="73152" marB="73152"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c>
                  <a:txBody>
                    <a:bodyPr/>
                    <a:lstStyle/>
                    <a:p>
                      <a:pPr indent="0" marL="0">
                        <a:buNone/>
                      </a:pPr>
                      <a:r>
                        <a:rPr lang="en-US" sz="1500" dirty="0">
                          <a:solidFill>
                            <a:schemeClr val="tx1"/>
                          </a:solidFill>
                        </a:rPr>
                        <a:t>MongoDB Atlas, Mongoose 9, GridFS</a:t>
                      </a:r>
                      <a:endParaRPr lang="en-US" sz="1500" dirty="0"/>
                    </a:p>
                  </a:txBody>
                  <a:tcPr marL="73152" marR="73152" marT="73152" marB="73152"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c>
                  <a:txBody>
                    <a:bodyPr/>
                    <a:lstStyle/>
                    <a:p>
                      <a:pPr indent="0" marL="0">
                        <a:buNone/>
                      </a:pPr>
                      <a:r>
                        <a:rPr lang="en-US" sz="1500" dirty="0">
                          <a:solidFill>
                            <a:schemeClr val="tx1"/>
                          </a:solidFill>
                        </a:rPr>
                        <a:t>Nested AI feedback and CVs fit documents; files stored with data</a:t>
                      </a:r>
                      <a:endParaRPr lang="en-US" sz="1500" dirty="0"/>
                    </a:p>
                  </a:txBody>
                  <a:tcPr marL="73152" marR="73152" marT="73152" marB="73152"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r>
              <a:tr h="566928">
                <a:tc>
                  <a:txBody>
                    <a:bodyPr/>
                    <a:lstStyle/>
                    <a:p>
                      <a:pPr indent="0" marL="0">
                        <a:buNone/>
                      </a:pPr>
                      <a:r>
                        <a:rPr lang="en-US" sz="1500" dirty="0">
                          <a:solidFill>
                            <a:schemeClr val="tx1"/>
                          </a:solidFill>
                        </a:rPr>
                        <a:t>AI</a:t>
                      </a:r>
                      <a:endParaRPr lang="en-US" sz="1500" dirty="0"/>
                    </a:p>
                  </a:txBody>
                  <a:tcPr marL="73152" marR="73152" marT="73152" marB="73152"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c>
                  <a:txBody>
                    <a:bodyPr/>
                    <a:lstStyle/>
                    <a:p>
                      <a:pPr indent="0" marL="0">
                        <a:buNone/>
                      </a:pPr>
                      <a:r>
                        <a:rPr lang="en-US" sz="1500" dirty="0">
                          <a:solidFill>
                            <a:schemeClr val="tx1"/>
                          </a:solidFill>
                        </a:rPr>
                        <a:t>Google Gemini (@google/genai, JSON mode)</a:t>
                      </a:r>
                      <a:endParaRPr lang="en-US" sz="1500" dirty="0"/>
                    </a:p>
                  </a:txBody>
                  <a:tcPr marL="73152" marR="73152" marT="73152" marB="73152"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c>
                  <a:txBody>
                    <a:bodyPr/>
                    <a:lstStyle/>
                    <a:p>
                      <a:pPr indent="0" marL="0">
                        <a:buNone/>
                      </a:pPr>
                      <a:r>
                        <a:rPr lang="en-US" sz="1500" dirty="0">
                          <a:solidFill>
                            <a:schemeClr val="tx1"/>
                          </a:solidFill>
                        </a:rPr>
                        <a:t>Structured output with a JSON schema; free tier</a:t>
                      </a:r>
                      <a:endParaRPr lang="en-US" sz="1500" dirty="0"/>
                    </a:p>
                  </a:txBody>
                  <a:tcPr marL="73152" marR="73152" marT="73152" marB="73152"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r>
              <a:tr h="566928">
                <a:tc>
                  <a:txBody>
                    <a:bodyPr/>
                    <a:lstStyle/>
                    <a:p>
                      <a:pPr indent="0" marL="0">
                        <a:buNone/>
                      </a:pPr>
                      <a:r>
                        <a:rPr lang="en-US" sz="1500" dirty="0">
                          <a:solidFill>
                            <a:schemeClr val="tx1"/>
                          </a:solidFill>
                        </a:rPr>
                        <a:t>Auth</a:t>
                      </a:r>
                      <a:endParaRPr lang="en-US" sz="1500" dirty="0"/>
                    </a:p>
                  </a:txBody>
                  <a:tcPr marL="73152" marR="73152" marT="73152" marB="73152"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c>
                  <a:txBody>
                    <a:bodyPr/>
                    <a:lstStyle/>
                    <a:p>
                      <a:pPr indent="0" marL="0">
                        <a:buNone/>
                      </a:pPr>
                      <a:r>
                        <a:rPr lang="en-US" sz="1500" dirty="0">
                          <a:solidFill>
                            <a:schemeClr val="tx1"/>
                          </a:solidFill>
                        </a:rPr>
                        <a:t>bcryptjs, jsonwebtoken, google-auth-library</a:t>
                      </a:r>
                      <a:endParaRPr lang="en-US" sz="1500" dirty="0"/>
                    </a:p>
                  </a:txBody>
                  <a:tcPr marL="73152" marR="73152" marT="73152" marB="73152"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c>
                  <a:txBody>
                    <a:bodyPr/>
                    <a:lstStyle/>
                    <a:p>
                      <a:pPr indent="0" marL="0">
                        <a:buNone/>
                      </a:pPr>
                      <a:r>
                        <a:rPr lang="en-US" sz="1500" dirty="0">
                          <a:solidFill>
                            <a:schemeClr val="tx1"/>
                          </a:solidFill>
                        </a:rPr>
                        <a:t>Standard password hashing, stateless tokens, verified Google login</a:t>
                      </a:r>
                      <a:endParaRPr lang="en-US" sz="1500" dirty="0"/>
                    </a:p>
                  </a:txBody>
                  <a:tcPr marL="73152" marR="73152" marT="73152" marB="73152"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r>
              <a:tr h="566928">
                <a:tc>
                  <a:txBody>
                    <a:bodyPr/>
                    <a:lstStyle/>
                    <a:p>
                      <a:pPr indent="0" marL="0">
                        <a:buNone/>
                      </a:pPr>
                      <a:r>
                        <a:rPr lang="en-US" sz="1500" dirty="0">
                          <a:solidFill>
                            <a:schemeClr val="tx1"/>
                          </a:solidFill>
                        </a:rPr>
                        <a:t>Testing / CI</a:t>
                      </a:r>
                      <a:endParaRPr lang="en-US" sz="1500" dirty="0"/>
                    </a:p>
                  </a:txBody>
                  <a:tcPr marL="73152" marR="73152" marT="73152" marB="73152"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c>
                  <a:txBody>
                    <a:bodyPr/>
                    <a:lstStyle/>
                    <a:p>
                      <a:pPr indent="0" marL="0">
                        <a:buNone/>
                      </a:pPr>
                      <a:r>
                        <a:rPr lang="en-US" sz="1500" dirty="0">
                          <a:solidFill>
                            <a:schemeClr val="tx1"/>
                          </a:solidFill>
                        </a:rPr>
                        <a:t>Vitest, Supertest, mongodb-memory-server, GitHub Actions</a:t>
                      </a:r>
                      <a:endParaRPr lang="en-US" sz="1500" dirty="0"/>
                    </a:p>
                  </a:txBody>
                  <a:tcPr marL="73152" marR="73152" marT="73152" marB="73152"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c>
                  <a:txBody>
                    <a:bodyPr/>
                    <a:lstStyle/>
                    <a:p>
                      <a:pPr indent="0" marL="0">
                        <a:buNone/>
                      </a:pPr>
                      <a:r>
                        <a:rPr lang="en-US" sz="1500" dirty="0">
                          <a:solidFill>
                            <a:schemeClr val="tx1"/>
                          </a:solidFill>
                        </a:rPr>
                        <a:t>Real HTTP tests on every push</a:t>
                      </a:r>
                      <a:endParaRPr lang="en-US" sz="1500" dirty="0"/>
                    </a:p>
                  </a:txBody>
                  <a:tcPr marL="73152" marR="73152" marT="73152" marB="73152"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r>
              <a:tr h="566928">
                <a:tc>
                  <a:txBody>
                    <a:bodyPr/>
                    <a:lstStyle/>
                    <a:p>
                      <a:pPr indent="0" marL="0">
                        <a:buNone/>
                      </a:pPr>
                      <a:r>
                        <a:rPr lang="en-US" sz="1500" dirty="0">
                          <a:solidFill>
                            <a:schemeClr val="tx1"/>
                          </a:solidFill>
                        </a:rPr>
                        <a:t>Hosting</a:t>
                      </a:r>
                      <a:endParaRPr lang="en-US" sz="1500" dirty="0"/>
                    </a:p>
                  </a:txBody>
                  <a:tcPr marL="73152" marR="73152" marT="73152" marB="73152"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c>
                  <a:txBody>
                    <a:bodyPr/>
                    <a:lstStyle/>
                    <a:p>
                      <a:pPr indent="0" marL="0">
                        <a:buNone/>
                      </a:pPr>
                      <a:r>
                        <a:rPr lang="en-US" sz="1500" dirty="0">
                          <a:solidFill>
                            <a:schemeClr val="tx1"/>
                          </a:solidFill>
                        </a:rPr>
                        <a:t>Vercel (frontend), Render (backend), Docker Compose (local)</a:t>
                      </a:r>
                      <a:endParaRPr lang="en-US" sz="1500" dirty="0"/>
                    </a:p>
                  </a:txBody>
                  <a:tcPr marL="73152" marR="73152" marT="73152" marB="73152"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c>
                  <a:txBody>
                    <a:bodyPr/>
                    <a:lstStyle/>
                    <a:p>
                      <a:pPr indent="0" marL="0">
                        <a:buNone/>
                      </a:pPr>
                      <a:r>
                        <a:rPr lang="en-US" sz="1500" dirty="0">
                          <a:solidFill>
                            <a:schemeClr val="tx1"/>
                          </a:solidFill>
                        </a:rPr>
                        <a:t>Free tiers with automatic deploys</a:t>
                      </a:r>
                      <a:endParaRPr lang="en-US" sz="1500" dirty="0"/>
                    </a:p>
                  </a:txBody>
                  <a:tcPr marL="73152" marR="73152" marT="73152" marB="73152"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01400" y="6419088"/>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777240"/>
          </a:xfrm>
          <a:prstGeom prst="rect">
            <a:avLst/>
          </a:prstGeom>
          <a:noFill/>
          <a:ln/>
        </p:spPr>
        <p:txBody>
          <a:bodyPr wrap="square" lIns="0" tIns="0" rIns="0" bIns="0" rtlCol="0" anchor="ctr"/>
          <a:lstStyle/>
          <a:p>
            <a:pPr algn="l" indent="0" marL="0">
              <a:buNone/>
            </a:pPr>
            <a:r>
              <a:rPr lang="en-US" sz="3200" b="1" dirty="0">
                <a:solidFill>
                  <a:schemeClr val="tx1"/>
                </a:solidFill>
              </a:rPr>
              <a:t>Database Design</a:t>
            </a:r>
            <a:endParaRPr lang="en-US" sz="3200" dirty="0"/>
          </a:p>
        </p:txBody>
      </p:sp>
      <p:pic>
        <p:nvPicPr>
          <p:cNvPr id="3" name="entity relationship diagram" descr="entity relationship diagram">    </p:cNvPr>
          <p:cNvPicPr>
            <a:picLocks noChangeAspect="1"/>
          </p:cNvPicPr>
          <p:nvPr/>
        </p:nvPicPr>
        <p:blipFill>
          <a:blip r:embed="rId1"/>
          <a:stretch>
            <a:fillRect/>
          </a:stretch>
        </p:blipFill>
        <p:spPr>
          <a:xfrm>
            <a:off x="457200" y="1560794"/>
            <a:ext cx="7863840" cy="4330772"/>
          </a:xfrm>
          <a:prstGeom prst="rect">
            <a:avLst/>
          </a:prstGeom>
        </p:spPr>
      </p:pic>
      <p:sp>
        <p:nvSpPr>
          <p:cNvPr id="4" name="Text 1"/>
          <p:cNvSpPr txBox="1"/>
          <p:nvPr/>
        </p:nvSpPr>
        <p:spPr>
          <a:xfrm>
            <a:off x="8549640" y="1371600"/>
            <a:ext cx="3090672" cy="4754880"/>
          </a:xfrm>
          <a:prstGeom prst="rect">
            <a:avLst/>
          </a:prstGeom>
          <a:noFill/>
          <a:ln/>
        </p:spPr>
        <p:txBody>
          <a:bodyPr wrap="square" lIns="0" tIns="0" rIns="0" bIns="0" rtlCol="0" anchor="t"/>
          <a:lstStyle/>
          <a:p>
            <a:pPr indent="0" marL="0">
              <a:spcAft>
                <a:spcPts val="800"/>
              </a:spcAft>
              <a:buNone/>
            </a:pPr>
            <a:r>
              <a:rPr lang="en-US" sz="1500" b="1" dirty="0">
                <a:solidFill>
                  <a:schemeClr val="accent1"/>
                </a:solidFill>
              </a:rPr>
              <a:t>users 1–N resumes 1–N analyses 1–0..1 improvedresumes 1–0..1 coverletters</a:t>
            </a:r>
            <a:endParaRPr lang="en-US" sz="1500" dirty="0"/>
          </a:p>
          <a:p>
            <a:pPr indent="0" marL="0">
              <a:spcAft>
                <a:spcPts val="800"/>
              </a:spcAft>
              <a:buNone/>
            </a:pPr>
            <a:r>
              <a:rPr lang="en-US" sz="600" dirty="0">
                <a:solidFill>
                  <a:schemeClr val="tx1"/>
                </a:solidFill>
              </a:rPr>
              <a:t> </a:t>
            </a:r>
            <a:endParaRPr lang="en-US" sz="1500" dirty="0"/>
          </a:p>
          <a:p>
            <a:pPr marL="228600" indent="-228600">
              <a:spcAft>
                <a:spcPts val="800"/>
              </a:spcAft>
              <a:buSzPct val="100000"/>
              <a:buChar char="•"/>
            </a:pPr>
            <a:r>
              <a:rPr lang="en-US" sz="1500" dirty="0">
                <a:solidFill>
                  <a:schemeClr val="tx1"/>
                </a:solidFill>
              </a:rPr>
              <a:t>userId on every document — always filtered by owner</a:t>
            </a:r>
            <a:endParaRPr lang="en-US" sz="1500" dirty="0"/>
          </a:p>
          <a:p>
            <a:pPr marL="228600" indent="-228600">
              <a:spcAft>
                <a:spcPts val="800"/>
              </a:spcAft>
              <a:buSzPct val="100000"/>
              <a:buChar char="•"/>
            </a:pPr>
            <a:r>
              <a:rPr lang="en-US" sz="1500" dirty="0">
                <a:solidFill>
                  <a:schemeClr val="tx1"/>
                </a:solidFill>
              </a:rPr>
              <a:t>Unique indexes: one CV per analysis, one letter per CV</a:t>
            </a:r>
            <a:endParaRPr lang="en-US" sz="1500" dirty="0"/>
          </a:p>
          <a:p>
            <a:pPr marL="228600" indent="-228600">
              <a:spcAft>
                <a:spcPts val="800"/>
              </a:spcAft>
              <a:buSzPct val="100000"/>
              <a:buChar char="•"/>
            </a:pPr>
            <a:r>
              <a:rPr lang="en-US" sz="1500" dirty="0">
                <a:solidFill>
                  <a:schemeClr val="tx1"/>
                </a:solidFill>
              </a:rPr>
              <a:t>Cascade delete for resume and account</a:t>
            </a:r>
            <a:endParaRPr lang="en-US" sz="1500" dirty="0"/>
          </a:p>
          <a:p>
            <a:pPr marL="228600" indent="-228600">
              <a:spcAft>
                <a:spcPts val="800"/>
              </a:spcAft>
              <a:buSzPct val="100000"/>
              <a:buChar char="•"/>
            </a:pPr>
            <a:r>
              <a:rPr lang="en-US" sz="1500" dirty="0">
                <a:solidFill>
                  <a:schemeClr val="tx1"/>
                </a:solidFill>
              </a:rPr>
              <a:t>AI version and user edits stored side by side</a:t>
            </a:r>
            <a:endParaRPr lang="en-US" sz="1500" dirty="0"/>
          </a:p>
          <a:p>
            <a:pPr marL="228600" indent="-228600">
              <a:spcAft>
                <a:spcPts val="800"/>
              </a:spcAft>
              <a:buSzPct val="100000"/>
              <a:buChar char="•"/>
            </a:pPr>
            <a:r>
              <a:rPr lang="en-US" sz="1500" dirty="0">
                <a:solidFill>
                  <a:schemeClr val="tx1"/>
                </a:solidFill>
              </a:rPr>
              <a:t>PDFs in GridFS — safe across redeploys</a:t>
            </a:r>
            <a:endParaRPr lang="en-US" sz="1500" dirty="0"/>
          </a:p>
        </p:txBody>
      </p:sp>
      <p:sp>
        <p:nvSpPr>
          <p:cNvPr id="25" name="Slide Number Placeholder 0"/>
          <p:cNvSpPr>
            <a:spLocks noGrp="1"/>
          </p:cNvSpPr>
          <p:nvPr>
            <p:ph type="sldNum" sz="quarter" idx="4294967295"/>
          </p:nvPr>
        </p:nvSpPr>
        <p:spPr>
          <a:xfrm>
            <a:off x="11201400" y="6419088"/>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777240"/>
          </a:xfrm>
          <a:prstGeom prst="rect">
            <a:avLst/>
          </a:prstGeom>
          <a:noFill/>
          <a:ln/>
        </p:spPr>
        <p:txBody>
          <a:bodyPr wrap="square" lIns="0" tIns="0" rIns="0" bIns="0" rtlCol="0" anchor="ctr"/>
          <a:lstStyle/>
          <a:p>
            <a:pPr algn="l" indent="0" marL="0">
              <a:buNone/>
            </a:pPr>
            <a:r>
              <a:rPr lang="en-US" sz="3200" b="1" dirty="0">
                <a:solidFill>
                  <a:schemeClr val="tx1"/>
                </a:solidFill>
              </a:rPr>
              <a:t>AI Workflow</a:t>
            </a:r>
            <a:endParaRPr lang="en-US" sz="3200" dirty="0"/>
          </a:p>
        </p:txBody>
      </p:sp>
      <p:pic>
        <p:nvPicPr>
          <p:cNvPr id="3" name="AI workflow diagram" descr="AI workflow diagram">    </p:cNvPr>
          <p:cNvPicPr>
            <a:picLocks noChangeAspect="1"/>
          </p:cNvPicPr>
          <p:nvPr/>
        </p:nvPicPr>
        <p:blipFill>
          <a:blip r:embed="rId1"/>
          <a:stretch>
            <a:fillRect/>
          </a:stretch>
        </p:blipFill>
        <p:spPr>
          <a:xfrm>
            <a:off x="620288" y="1188720"/>
            <a:ext cx="5525983" cy="5074920"/>
          </a:xfrm>
          <a:prstGeom prst="rect">
            <a:avLst/>
          </a:prstGeom>
        </p:spPr>
      </p:pic>
      <p:sp>
        <p:nvSpPr>
          <p:cNvPr id="4" name="Text 1"/>
          <p:cNvSpPr txBox="1"/>
          <p:nvPr/>
        </p:nvSpPr>
        <p:spPr>
          <a:xfrm>
            <a:off x="6583680" y="1371600"/>
            <a:ext cx="5056632" cy="4754880"/>
          </a:xfrm>
          <a:prstGeom prst="rect">
            <a:avLst/>
          </a:prstGeom>
          <a:noFill/>
          <a:ln/>
        </p:spPr>
        <p:txBody>
          <a:bodyPr wrap="square" lIns="0" tIns="0" rIns="0" bIns="0" rtlCol="0" anchor="t"/>
          <a:lstStyle/>
          <a:p>
            <a:pPr indent="0" marL="0">
              <a:spcAft>
                <a:spcPts val="1000"/>
              </a:spcAft>
              <a:buNone/>
            </a:pPr>
            <a:r>
              <a:rPr lang="en-US" sz="1800" b="1" dirty="0">
                <a:solidFill>
                  <a:schemeClr val="tx1"/>
                </a:solidFill>
              </a:rPr>
              <a:t>How the AI is used</a:t>
            </a:r>
            <a:endParaRPr lang="en-US" sz="1600" dirty="0"/>
          </a:p>
          <a:p>
            <a:pPr marL="228600" indent="-228600">
              <a:spcAft>
                <a:spcPts val="1000"/>
              </a:spcAft>
              <a:buSzPct val="100000"/>
              <a:buChar char="•"/>
            </a:pPr>
            <a:r>
              <a:rPr lang="en-US" sz="1600" dirty="0">
                <a:solidFill>
                  <a:schemeClr val="tx1"/>
                </a:solidFill>
              </a:rPr>
              <a:t>Gemini in JSON mode with a strict schema — the answer always has our exact structure</a:t>
            </a:r>
            <a:endParaRPr lang="en-US" sz="1600" dirty="0"/>
          </a:p>
          <a:p>
            <a:pPr marL="228600" indent="-228600">
              <a:spcAft>
                <a:spcPts val="1000"/>
              </a:spcAft>
              <a:buSzPct val="100000"/>
              <a:buChar char="•"/>
            </a:pPr>
            <a:r>
              <a:rPr lang="en-US" sz="1600" dirty="0">
                <a:solidFill>
                  <a:schemeClr val="tx1"/>
                </a:solidFill>
              </a:rPr>
              <a:t>Busy errors (500/503/504) are retried after 2 s and 4 s</a:t>
            </a:r>
            <a:endParaRPr lang="en-US" sz="1600" dirty="0"/>
          </a:p>
          <a:p>
            <a:pPr marL="228600" indent="-228600">
              <a:spcAft>
                <a:spcPts val="1000"/>
              </a:spcAft>
              <a:buSzPct val="100000"/>
              <a:buChar char="•"/>
            </a:pPr>
            <a:r>
              <a:rPr lang="en-US" sz="1600" dirty="0">
                <a:solidFill>
                  <a:schemeClr val="tx1"/>
                </a:solidFill>
              </a:rPr>
              <a:t>Scores are clamped to 0–100 and malformed tips are dropped</a:t>
            </a:r>
            <a:endParaRPr lang="en-US" sz="1600" dirty="0"/>
          </a:p>
          <a:p>
            <a:pPr marL="228600" indent="-228600">
              <a:spcAft>
                <a:spcPts val="1000"/>
              </a:spcAft>
              <a:buSzPct val="100000"/>
              <a:buChar char="•"/>
            </a:pPr>
            <a:r>
              <a:rPr lang="en-US" sz="1600" dirty="0">
                <a:solidFill>
                  <a:schemeClr val="tx1"/>
                </a:solidFill>
              </a:rPr>
              <a:t>The same service powers analysis, Europass rewrite, before/after score and cover letter</a:t>
            </a:r>
            <a:endParaRPr lang="en-US" sz="1600" dirty="0"/>
          </a:p>
          <a:p>
            <a:pPr marL="228600" indent="-228600">
              <a:spcAft>
                <a:spcPts val="1000"/>
              </a:spcAft>
              <a:buSzPct val="100000"/>
              <a:buChar char="•"/>
            </a:pPr>
            <a:r>
              <a:rPr lang="en-US" sz="1600" dirty="0">
                <a:solidFill>
                  <a:schemeClr val="tx1"/>
                </a:solidFill>
              </a:rPr>
              <a:t>15 AI requests per user per hour; the API key stays on the server</a:t>
            </a:r>
            <a:endParaRPr lang="en-US" sz="1600" dirty="0"/>
          </a:p>
        </p:txBody>
      </p:sp>
      <p:sp>
        <p:nvSpPr>
          <p:cNvPr id="25" name="Slide Number Placeholder 0"/>
          <p:cNvSpPr>
            <a:spLocks noGrp="1"/>
          </p:cNvSpPr>
          <p:nvPr>
            <p:ph type="sldNum" sz="quarter" idx="4294967295"/>
          </p:nvPr>
        </p:nvSpPr>
        <p:spPr>
          <a:xfrm>
            <a:off x="11201400" y="6419088"/>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777240"/>
          </a:xfrm>
          <a:prstGeom prst="rect">
            <a:avLst/>
          </a:prstGeom>
          <a:noFill/>
          <a:ln/>
        </p:spPr>
        <p:txBody>
          <a:bodyPr wrap="square" lIns="0" tIns="0" rIns="0" bIns="0" rtlCol="0" anchor="ctr"/>
          <a:lstStyle/>
          <a:p>
            <a:pPr algn="l" indent="0" marL="0">
              <a:buNone/>
            </a:pPr>
            <a:r>
              <a:rPr lang="en-US" sz="3200" b="1" dirty="0">
                <a:solidFill>
                  <a:schemeClr val="tx1"/>
                </a:solidFill>
              </a:rPr>
              <a:t>Keeping the AI Honest</a:t>
            </a:r>
            <a:endParaRPr lang="en-US" sz="3200" dirty="0"/>
          </a:p>
        </p:txBody>
      </p:sp>
      <p:sp>
        <p:nvSpPr>
          <p:cNvPr id="3" name="Text 1"/>
          <p:cNvSpPr txBox="1"/>
          <p:nvPr/>
        </p:nvSpPr>
        <p:spPr>
          <a:xfrm>
            <a:off x="548640" y="1325880"/>
            <a:ext cx="11091672" cy="411480"/>
          </a:xfrm>
          <a:prstGeom prst="rect">
            <a:avLst/>
          </a:prstGeom>
          <a:noFill/>
          <a:ln/>
        </p:spPr>
        <p:txBody>
          <a:bodyPr wrap="square" lIns="0" tIns="0" rIns="0" bIns="0" rtlCol="0" anchor="t"/>
          <a:lstStyle/>
          <a:p>
            <a:pPr indent="0" marL="0">
              <a:buNone/>
            </a:pPr>
            <a:r>
              <a:rPr lang="en-US" sz="1800" dirty="0">
                <a:solidFill>
                  <a:schemeClr val="tx1"/>
                </a:solidFill>
              </a:rPr>
              <a:t>After Gemini answers, postCheck() in our code fixes what the model gets wrong:</a:t>
            </a:r>
            <a:endParaRPr lang="en-US" sz="1800" dirty="0"/>
          </a:p>
        </p:txBody>
      </p:sp>
      <p:graphicFrame>
        <p:nvGraphicFramePr>
          <p:cNvPr id="12" name="post-check table"/>
          <p:cNvGraphicFramePr>
            <a:graphicFrameLocks noGrp="1"/>
          </p:cNvGraphicFramePr>
          <p:nvPr>
            <p:extLst>
              <p:ext uri="{D42A27DB-BD31-4B8C-83A1-F6EECF244321}">
                <p14:modId xmlns:p14="http://schemas.microsoft.com/office/powerpoint/2010/main" val="1579011935"/>
              </p:ext>
            </p:extLst>
          </p:nvPr>
        </p:nvGraphicFramePr>
        <p:xfrm>
          <a:off x="548640" y="1874520"/>
          <a:ext cx="11091672" cy="914400"/>
        </p:xfrm>
        <a:graphic>
          <a:graphicData uri="http://schemas.openxmlformats.org/drawingml/2006/table">
            <a:tbl>
              <a:tblPr/>
              <a:tblGrid>
                <a:gridCol w="4754880"/>
                <a:gridCol w="6336792"/>
              </a:tblGrid>
              <a:tr h="548640">
                <a:tc>
                  <a:txBody>
                    <a:bodyPr/>
                    <a:lstStyle/>
                    <a:p>
                      <a:pPr indent="0" marL="0">
                        <a:buNone/>
                      </a:pPr>
                      <a:r>
                        <a:rPr lang="en-US" sz="1600" b="1" dirty="0">
                          <a:solidFill>
                            <a:schemeClr val="bg1"/>
                          </a:solidFill>
                        </a:rPr>
                        <a:t>AI wrote</a:t>
                      </a:r>
                      <a:endParaRPr lang="en-US" sz="1600" dirty="0"/>
                    </a:p>
                  </a:txBody>
                  <a:tcPr marL="91440" marR="91440" marT="91440" marB="91440"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rPr>
                        <a:t>After post-check</a:t>
                      </a:r>
                      <a:endParaRPr lang="en-US" sz="1600" dirty="0"/>
                    </a:p>
                  </a:txBody>
                  <a:tcPr marL="91440" marR="91440" marT="91440" marB="91440"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solidFill>
                      <a:schemeClr val="tx1"/>
                    </a:solidFill>
                  </a:tcPr>
                </a:tc>
              </a:tr>
              <a:tr h="548640">
                <a:tc>
                  <a:txBody>
                    <a:bodyPr/>
                    <a:lstStyle/>
                    <a:p>
                      <a:pPr indent="0" marL="0">
                        <a:buNone/>
                      </a:pPr>
                      <a:r>
                        <a:rPr lang="en-US" sz="1600" dirty="0">
                          <a:solidFill>
                            <a:schemeClr val="tx1"/>
                          </a:solidFill>
                        </a:rPr>
                        <a:t>improved load time by 40%  (not in the original CV)</a:t>
                      </a:r>
                      <a:endParaRPr lang="en-US" sz="1600" dirty="0"/>
                    </a:p>
                  </a:txBody>
                  <a:tcPr marL="91440" marR="91440" marT="91440" marB="91440"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c>
                  <a:txBody>
                    <a:bodyPr/>
                    <a:lstStyle/>
                    <a:p>
                      <a:pPr indent="0" marL="0">
                        <a:buNone/>
                      </a:pPr>
                      <a:r>
                        <a:rPr lang="en-US" sz="1600" dirty="0">
                          <a:solidFill>
                            <a:schemeClr val="tx1"/>
                          </a:solidFill>
                        </a:rPr>
                        <a:t>by [Add a measurable result, e.g. X%]</a:t>
                      </a:r>
                      <a:endParaRPr lang="en-US" sz="1600" dirty="0"/>
                    </a:p>
                  </a:txBody>
                  <a:tcPr marL="91440" marR="91440" marT="91440" marB="91440"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r>
              <a:tr h="548640">
                <a:tc>
                  <a:txBody>
                    <a:bodyPr/>
                    <a:lstStyle/>
                    <a:p>
                      <a:pPr indent="0" marL="0">
                        <a:buNone/>
                      </a:pPr>
                      <a:r>
                        <a:rPr lang="en-US" sz="1600" dirty="0">
                          <a:solidFill>
                            <a:schemeClr val="tx1"/>
                          </a:solidFill>
                        </a:rPr>
                        <a:t>November 30, 2024</a:t>
                      </a:r>
                      <a:endParaRPr lang="en-US" sz="1600" dirty="0"/>
                    </a:p>
                  </a:txBody>
                  <a:tcPr marL="91440" marR="91440" marT="91440" marB="91440"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c>
                  <a:txBody>
                    <a:bodyPr/>
                    <a:lstStyle/>
                    <a:p>
                      <a:pPr indent="0" marL="0">
                        <a:buNone/>
                      </a:pPr>
                      <a:r>
                        <a:rPr lang="en-US" sz="1600" dirty="0">
                          <a:solidFill>
                            <a:schemeClr val="tx1"/>
                          </a:solidFill>
                        </a:rPr>
                        <a:t>11/2024  (Europass MM/YYYY)</a:t>
                      </a:r>
                      <a:endParaRPr lang="en-US" sz="1600" dirty="0"/>
                    </a:p>
                  </a:txBody>
                  <a:tcPr marL="91440" marR="91440" marT="91440" marB="91440"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r>
              <a:tr h="548640">
                <a:tc>
                  <a:txBody>
                    <a:bodyPr/>
                    <a:lstStyle/>
                    <a:p>
                      <a:pPr indent="0" marL="0">
                        <a:buNone/>
                      </a:pPr>
                      <a:r>
                        <a:rPr lang="en-US" sz="1600" dirty="0">
                          <a:solidFill>
                            <a:schemeClr val="tx1"/>
                          </a:solidFill>
                        </a:rPr>
                        <a:t>Current  (ongoing degree)</a:t>
                      </a:r>
                      <a:endParaRPr lang="en-US" sz="1600" dirty="0"/>
                    </a:p>
                  </a:txBody>
                  <a:tcPr marL="91440" marR="91440" marT="91440" marB="91440"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c>
                  <a:txBody>
                    <a:bodyPr/>
                    <a:lstStyle/>
                    <a:p>
                      <a:pPr indent="0" marL="0">
                        <a:buNone/>
                      </a:pPr>
                      <a:r>
                        <a:rPr lang="en-US" sz="1600" dirty="0">
                          <a:solidFill>
                            <a:schemeClr val="tx1"/>
                          </a:solidFill>
                        </a:rPr>
                        <a:t>Expected 08/2026</a:t>
                      </a:r>
                      <a:endParaRPr lang="en-US" sz="1600" dirty="0"/>
                    </a:p>
                  </a:txBody>
                  <a:tcPr marL="91440" marR="91440" marT="91440" marB="91440"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r>
              <a:tr h="548640">
                <a:tc>
                  <a:txBody>
                    <a:bodyPr/>
                    <a:lstStyle/>
                    <a:p>
                      <a:pPr indent="0" marL="0">
                        <a:buNone/>
                      </a:pPr>
                      <a:r>
                        <a:rPr lang="en-US" sz="1600" dirty="0">
                          <a:solidFill>
                            <a:schemeClr val="tx1"/>
                          </a:solidFill>
                        </a:rPr>
                        <a:t>H.S.C, 4.67</a:t>
                      </a:r>
                      <a:endParaRPr lang="en-US" sz="1600" dirty="0"/>
                    </a:p>
                  </a:txBody>
                  <a:tcPr marL="91440" marR="91440" marT="91440" marB="91440"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c>
                  <a:txBody>
                    <a:bodyPr/>
                    <a:lstStyle/>
                    <a:p>
                      <a:pPr indent="0" marL="0">
                        <a:buNone/>
                      </a:pPr>
                      <a:r>
                        <a:rPr lang="en-US" sz="1600" dirty="0">
                          <a:solidFill>
                            <a:schemeClr val="tx1"/>
                          </a:solidFill>
                        </a:rPr>
                        <a:t>Higher Secondary Certificate (HSC), GPA 4.67 / 5.00, EQF level 4</a:t>
                      </a:r>
                      <a:endParaRPr lang="en-US" sz="1600" dirty="0"/>
                    </a:p>
                  </a:txBody>
                  <a:tcPr marL="91440" marR="91440" marT="91440" marB="91440"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r>
              <a:tr h="548640">
                <a:tc>
                  <a:txBody>
                    <a:bodyPr/>
                    <a:lstStyle/>
                    <a:p>
                      <a:pPr indent="0" marL="0">
                        <a:buNone/>
                      </a:pPr>
                      <a:r>
                        <a:rPr lang="en-US" sz="1600" dirty="0">
                          <a:solidFill>
                            <a:schemeClr val="tx1"/>
                          </a:solidFill>
                        </a:rPr>
                        <a:t>Religion, date of birth</a:t>
                      </a:r>
                      <a:endParaRPr lang="en-US" sz="1600" dirty="0"/>
                    </a:p>
                  </a:txBody>
                  <a:tcPr marL="91440" marR="91440" marT="91440" marB="91440"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c>
                  <a:txBody>
                    <a:bodyPr/>
                    <a:lstStyle/>
                    <a:p>
                      <a:pPr indent="0" marL="0">
                        <a:buNone/>
                      </a:pPr>
                      <a:r>
                        <a:rPr lang="en-US" sz="1600" dirty="0">
                          <a:solidFill>
                            <a:schemeClr val="tx1"/>
                          </a:solidFill>
                        </a:rPr>
                        <a:t>removed — not part of Europass</a:t>
                      </a:r>
                      <a:endParaRPr lang="en-US" sz="1600" dirty="0"/>
                    </a:p>
                  </a:txBody>
                  <a:tcPr marL="91440" marR="91440" marT="91440" marB="91440"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r>
            </a:tbl>
          </a:graphicData>
        </a:graphic>
      </p:graphicFrame>
      <p:sp>
        <p:nvSpPr>
          <p:cNvPr id="5" name="Text 2"/>
          <p:cNvSpPr txBox="1"/>
          <p:nvPr/>
        </p:nvSpPr>
        <p:spPr>
          <a:xfrm>
            <a:off x="548640" y="5486400"/>
            <a:ext cx="11091672" cy="457200"/>
          </a:xfrm>
          <a:prstGeom prst="rect">
            <a:avLst/>
          </a:prstGeom>
          <a:noFill/>
          <a:ln/>
        </p:spPr>
        <p:txBody>
          <a:bodyPr wrap="square" lIns="0" tIns="0" rIns="0" bIns="0" rtlCol="0" anchor="t"/>
          <a:lstStyle/>
          <a:p>
            <a:pPr indent="0" marL="0">
              <a:buNone/>
            </a:pPr>
            <a:r>
              <a:rPr lang="en-US" sz="1600" i="1" dirty="0">
                <a:solidFill>
                  <a:schemeClr val="accent1"/>
                </a:solidFill>
              </a:rPr>
              <a:t>Placeholders in [brackets] show the user exactly what to fill in, so the CV stays truthful.</a:t>
            </a:r>
            <a:endParaRPr lang="en-US" sz="1600" dirty="0"/>
          </a:p>
        </p:txBody>
      </p:sp>
      <p:sp>
        <p:nvSpPr>
          <p:cNvPr id="25" name="Slide Number Placeholder 0"/>
          <p:cNvSpPr>
            <a:spLocks noGrp="1"/>
          </p:cNvSpPr>
          <p:nvPr>
            <p:ph type="sldNum" sz="quarter" idx="4294967295"/>
          </p:nvPr>
        </p:nvSpPr>
        <p:spPr>
          <a:xfrm>
            <a:off x="11201400" y="6419088"/>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777240"/>
          </a:xfrm>
          <a:prstGeom prst="rect">
            <a:avLst/>
          </a:prstGeom>
          <a:noFill/>
          <a:ln/>
        </p:spPr>
        <p:txBody>
          <a:bodyPr wrap="square" lIns="0" tIns="0" rIns="0" bIns="0" rtlCol="0" anchor="ctr"/>
          <a:lstStyle/>
          <a:p>
            <a:pPr algn="l" indent="0" marL="0">
              <a:buNone/>
            </a:pPr>
            <a:r>
              <a:rPr lang="en-US" sz="3200" b="1" dirty="0">
                <a:solidFill>
                  <a:schemeClr val="tx1"/>
                </a:solidFill>
              </a:rPr>
              <a:t>Authentication, Security and API</a:t>
            </a:r>
            <a:endParaRPr lang="en-US" sz="3200" dirty="0"/>
          </a:p>
        </p:txBody>
      </p:sp>
      <p:pic>
        <p:nvPicPr>
          <p:cNvPr id="3" name="authentication flow diagram" descr="authentication flow diagram">    </p:cNvPr>
          <p:cNvPicPr>
            <a:picLocks noChangeAspect="1"/>
          </p:cNvPicPr>
          <p:nvPr/>
        </p:nvPicPr>
        <p:blipFill>
          <a:blip r:embed="rId1"/>
          <a:stretch>
            <a:fillRect/>
          </a:stretch>
        </p:blipFill>
        <p:spPr>
          <a:xfrm>
            <a:off x="2533094" y="1234440"/>
            <a:ext cx="7122764" cy="2514600"/>
          </a:xfrm>
          <a:prstGeom prst="rect">
            <a:avLst/>
          </a:prstGeom>
        </p:spPr>
      </p:pic>
      <p:sp>
        <p:nvSpPr>
          <p:cNvPr id="4" name="Text 1"/>
          <p:cNvSpPr txBox="1"/>
          <p:nvPr/>
        </p:nvSpPr>
        <p:spPr>
          <a:xfrm>
            <a:off x="548640" y="3931920"/>
            <a:ext cx="5394960" cy="2286000"/>
          </a:xfrm>
          <a:prstGeom prst="rect">
            <a:avLst/>
          </a:prstGeom>
          <a:noFill/>
          <a:ln/>
        </p:spPr>
        <p:txBody>
          <a:bodyPr wrap="square" lIns="0" tIns="0" rIns="0" bIns="0" rtlCol="0" anchor="t"/>
          <a:lstStyle/>
          <a:p>
            <a:pPr indent="0" marL="0">
              <a:spcAft>
                <a:spcPts val="400"/>
              </a:spcAft>
              <a:buNone/>
            </a:pPr>
            <a:r>
              <a:rPr lang="en-US" sz="1700" b="1" dirty="0">
                <a:solidFill>
                  <a:schemeClr val="tx1"/>
                </a:solidFill>
              </a:rPr>
              <a:t>Security</a:t>
            </a:r>
            <a:endParaRPr lang="en-US" sz="1500" dirty="0"/>
          </a:p>
          <a:p>
            <a:pPr marL="228600" indent="-228600">
              <a:spcAft>
                <a:spcPts val="400"/>
              </a:spcAft>
              <a:buSzPct val="100000"/>
              <a:buChar char="•"/>
            </a:pPr>
            <a:r>
              <a:rPr lang="en-US" sz="1500" dirty="0">
                <a:solidFill>
                  <a:schemeClr val="tx1"/>
                </a:solidFill>
              </a:rPr>
              <a:t>bcrypt password hashing (8–72 characters)</a:t>
            </a:r>
            <a:endParaRPr lang="en-US" sz="1500" dirty="0"/>
          </a:p>
          <a:p>
            <a:pPr marL="228600" indent="-228600">
              <a:spcAft>
                <a:spcPts val="400"/>
              </a:spcAft>
              <a:buSzPct val="100000"/>
              <a:buChar char="•"/>
            </a:pPr>
            <a:r>
              <a:rPr lang="en-US" sz="1500" dirty="0">
                <a:solidFill>
                  <a:schemeClr val="tx1"/>
                </a:solidFill>
              </a:rPr>
              <a:t>Password change logs out other devices</a:t>
            </a:r>
            <a:endParaRPr lang="en-US" sz="1500" dirty="0"/>
          </a:p>
          <a:p>
            <a:pPr marL="228600" indent="-228600">
              <a:spcAft>
                <a:spcPts val="400"/>
              </a:spcAft>
              <a:buSzPct val="100000"/>
              <a:buChar char="•"/>
            </a:pPr>
            <a:r>
              <a:rPr lang="en-US" sz="1500" dirty="0">
                <a:solidFill>
                  <a:schemeClr val="tx1"/>
                </a:solidFill>
              </a:rPr>
              <a:t>helmet, CORS allow-list, input validation</a:t>
            </a:r>
            <a:endParaRPr lang="en-US" sz="1500" dirty="0"/>
          </a:p>
          <a:p>
            <a:pPr marL="228600" indent="-228600">
              <a:spcAft>
                <a:spcPts val="400"/>
              </a:spcAft>
              <a:buSzPct val="100000"/>
              <a:buChar char="•"/>
            </a:pPr>
            <a:r>
              <a:rPr lang="en-US" sz="1500" dirty="0">
                <a:solidFill>
                  <a:schemeClr val="tx1"/>
                </a:solidFill>
              </a:rPr>
              <a:t>Rate limits: 20 auth / 15 min, 15 AI / hour</a:t>
            </a:r>
            <a:endParaRPr lang="en-US" sz="1500" dirty="0"/>
          </a:p>
        </p:txBody>
      </p:sp>
      <p:graphicFrame>
        <p:nvGraphicFramePr>
          <p:cNvPr id="13" name="endpoint table"/>
          <p:cNvGraphicFramePr>
            <a:graphicFrameLocks noGrp="1"/>
          </p:cNvGraphicFramePr>
          <p:nvPr>
            <p:extLst>
              <p:ext uri="{D42A27DB-BD31-4B8C-83A1-F6EECF244321}">
                <p14:modId xmlns:p14="http://schemas.microsoft.com/office/powerpoint/2010/main" val="1579011935"/>
              </p:ext>
            </p:extLst>
          </p:nvPr>
        </p:nvGraphicFramePr>
        <p:xfrm>
          <a:off x="6217920" y="3977640"/>
          <a:ext cx="5422392" cy="914400"/>
        </p:xfrm>
        <a:graphic>
          <a:graphicData uri="http://schemas.openxmlformats.org/drawingml/2006/table">
            <a:tbl>
              <a:tblPr/>
              <a:tblGrid>
                <a:gridCol w="1463040"/>
                <a:gridCol w="3959352"/>
              </a:tblGrid>
              <a:tr h="0">
                <a:tc>
                  <a:txBody>
                    <a:bodyPr/>
                    <a:lstStyle/>
                    <a:p>
                      <a:pPr indent="0" marL="0">
                        <a:buNone/>
                      </a:pPr>
                      <a:r>
                        <a:rPr lang="en-US" sz="1400" b="1" dirty="0">
                          <a:solidFill>
                            <a:schemeClr val="bg1"/>
                          </a:solidFill>
                        </a:rPr>
                        <a:t>API group</a:t>
                      </a:r>
                      <a:endParaRPr lang="en-US" sz="1400" dirty="0"/>
                    </a:p>
                  </a:txBody>
                  <a:tcPr marL="54864" marR="54864" marT="54864" marB="54864">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Endpoints</a:t>
                      </a:r>
                      <a:endParaRPr lang="en-US" sz="1400" dirty="0"/>
                    </a:p>
                  </a:txBody>
                  <a:tcPr marL="54864" marR="54864" marT="54864" marB="54864">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solidFill>
                      <a:schemeClr val="tx1"/>
                    </a:solidFill>
                  </a:tcPr>
                </a:tc>
              </a:tr>
              <a:tr h="0">
                <a:tc>
                  <a:txBody>
                    <a:bodyPr/>
                    <a:lstStyle/>
                    <a:p>
                      <a:pPr indent="0" marL="0">
                        <a:buNone/>
                      </a:pPr>
                      <a:r>
                        <a:rPr lang="en-US" sz="1400" dirty="0">
                          <a:solidFill>
                            <a:schemeClr val="tx1"/>
                          </a:solidFill>
                        </a:rPr>
                        <a:t>Auth (6)</a:t>
                      </a:r>
                      <a:endParaRPr lang="en-US" sz="1400" dirty="0"/>
                    </a:p>
                  </a:txBody>
                  <a:tcPr marL="54864" marR="54864" marT="54864" marB="54864">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c>
                  <a:txBody>
                    <a:bodyPr/>
                    <a:lstStyle/>
                    <a:p>
                      <a:pPr indent="0" marL="0">
                        <a:buNone/>
                      </a:pPr>
                      <a:r>
                        <a:rPr lang="en-US" sz="1400" dirty="0">
                          <a:solidFill>
                            <a:schemeClr val="tx1"/>
                          </a:solidFill>
                        </a:rPr>
                        <a:t>register, login, google, me, password, delete</a:t>
                      </a:r>
                      <a:endParaRPr lang="en-US" sz="1400" dirty="0"/>
                    </a:p>
                  </a:txBody>
                  <a:tcPr marL="54864" marR="54864" marT="54864" marB="54864">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r>
              <a:tr h="0">
                <a:tc>
                  <a:txBody>
                    <a:bodyPr/>
                    <a:lstStyle/>
                    <a:p>
                      <a:pPr indent="0" marL="0">
                        <a:buNone/>
                      </a:pPr>
                      <a:r>
                        <a:rPr lang="en-US" sz="1400" dirty="0">
                          <a:solidFill>
                            <a:schemeClr val="tx1"/>
                          </a:solidFill>
                        </a:rPr>
                        <a:t>Resume (6)</a:t>
                      </a:r>
                      <a:endParaRPr lang="en-US" sz="1400" dirty="0"/>
                    </a:p>
                  </a:txBody>
                  <a:tcPr marL="54864" marR="54864" marT="54864" marB="54864">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c>
                  <a:txBody>
                    <a:bodyPr/>
                    <a:lstStyle/>
                    <a:p>
                      <a:pPr indent="0" marL="0">
                        <a:buNone/>
                      </a:pPr>
                      <a:r>
                        <a:rPr lang="en-US" sz="1400" dirty="0">
                          <a:solidFill>
                            <a:schemeClr val="tx1"/>
                          </a:solidFill>
                        </a:rPr>
                        <a:t>upload, list, get, file, image, delete</a:t>
                      </a:r>
                      <a:endParaRPr lang="en-US" sz="1400" dirty="0"/>
                    </a:p>
                  </a:txBody>
                  <a:tcPr marL="54864" marR="54864" marT="54864" marB="54864">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r>
              <a:tr h="0">
                <a:tc>
                  <a:txBody>
                    <a:bodyPr/>
                    <a:lstStyle/>
                    <a:p>
                      <a:pPr indent="0" marL="0">
                        <a:buNone/>
                      </a:pPr>
                      <a:r>
                        <a:rPr lang="en-US" sz="1400" dirty="0">
                          <a:solidFill>
                            <a:schemeClr val="tx1"/>
                          </a:solidFill>
                        </a:rPr>
                        <a:t>AI (8)</a:t>
                      </a:r>
                      <a:endParaRPr lang="en-US" sz="1400" dirty="0"/>
                    </a:p>
                  </a:txBody>
                  <a:tcPr marL="54864" marR="54864" marT="54864" marB="54864">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c>
                  <a:txBody>
                    <a:bodyPr/>
                    <a:lstStyle/>
                    <a:p>
                      <a:pPr indent="0" marL="0">
                        <a:buNone/>
                      </a:pPr>
                      <a:r>
                        <a:rPr lang="en-US" sz="1400" dirty="0">
                          <a:solidFill>
                            <a:schemeClr val="tx1"/>
                          </a:solidFill>
                        </a:rPr>
                        <a:t>analyze, improve, CV get/edit, score, cover letter</a:t>
                      </a:r>
                      <a:endParaRPr lang="en-US" sz="1400" dirty="0"/>
                    </a:p>
                  </a:txBody>
                  <a:tcPr marL="54864" marR="54864" marT="54864" marB="54864">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r>
              <a:tr h="0">
                <a:tc>
                  <a:txBody>
                    <a:bodyPr/>
                    <a:lstStyle/>
                    <a:p>
                      <a:pPr indent="0" marL="0">
                        <a:buNone/>
                      </a:pPr>
                      <a:r>
                        <a:rPr lang="en-US" sz="1400" dirty="0">
                          <a:solidFill>
                            <a:schemeClr val="tx1"/>
                          </a:solidFill>
                        </a:rPr>
                        <a:t>Health (1)</a:t>
                      </a:r>
                      <a:endParaRPr lang="en-US" sz="1400" dirty="0"/>
                    </a:p>
                  </a:txBody>
                  <a:tcPr marL="54864" marR="54864" marT="54864" marB="54864">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c>
                  <a:txBody>
                    <a:bodyPr/>
                    <a:lstStyle/>
                    <a:p>
                      <a:pPr indent="0" marL="0">
                        <a:buNone/>
                      </a:pPr>
                      <a:r>
                        <a:rPr lang="en-US" sz="1400" dirty="0">
                          <a:solidFill>
                            <a:schemeClr val="tx1"/>
                          </a:solidFill>
                        </a:rPr>
                        <a:t>/api/health</a:t>
                      </a:r>
                      <a:endParaRPr lang="en-US" sz="1400" dirty="0"/>
                    </a:p>
                  </a:txBody>
                  <a:tcPr marL="54864" marR="54864" marT="54864" marB="54864">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01400" y="6419088"/>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777240"/>
          </a:xfrm>
          <a:prstGeom prst="rect">
            <a:avLst/>
          </a:prstGeom>
          <a:noFill/>
          <a:ln/>
        </p:spPr>
        <p:txBody>
          <a:bodyPr wrap="square" lIns="0" tIns="0" rIns="0" bIns="0" rtlCol="0" anchor="ctr"/>
          <a:lstStyle/>
          <a:p>
            <a:pPr algn="l" indent="0" marL="0">
              <a:buNone/>
            </a:pPr>
            <a:r>
              <a:rPr lang="en-US" sz="3200" b="1" dirty="0">
                <a:solidFill>
                  <a:schemeClr val="tx1"/>
                </a:solidFill>
              </a:rPr>
              <a:t>Testing and Continuous Integration</a:t>
            </a:r>
            <a:endParaRPr lang="en-US" sz="3200" dirty="0"/>
          </a:p>
        </p:txBody>
      </p:sp>
      <p:sp>
        <p:nvSpPr>
          <p:cNvPr id="3" name="tests stat"/>
          <p:cNvSpPr/>
          <p:nvPr/>
        </p:nvSpPr>
        <p:spPr>
          <a:xfrm>
            <a:off x="548640" y="1371600"/>
            <a:ext cx="3108960" cy="2377440"/>
          </a:xfrm>
          <a:prstGeom prst="rect">
            <a:avLst/>
          </a:prstGeom>
          <a:solidFill>
            <a:schemeClr val="bg2"/>
          </a:solidFill>
          <a:ln w="9525">
            <a:solidFill>
              <a:srgbClr val="D9DEE8"/>
            </a:solidFill>
            <a:prstDash val="solid"/>
          </a:ln>
        </p:spPr>
      </p:sp>
      <p:sp>
        <p:nvSpPr>
          <p:cNvPr id="4" name="Text 2"/>
          <p:cNvSpPr txBox="1"/>
          <p:nvPr/>
        </p:nvSpPr>
        <p:spPr>
          <a:xfrm>
            <a:off x="777240" y="1463040"/>
            <a:ext cx="2651760" cy="1188720"/>
          </a:xfrm>
          <a:prstGeom prst="rect">
            <a:avLst/>
          </a:prstGeom>
          <a:noFill/>
          <a:ln/>
        </p:spPr>
        <p:txBody>
          <a:bodyPr wrap="square" lIns="0" tIns="0" rIns="0" bIns="0" rtlCol="0" anchor="t"/>
          <a:lstStyle/>
          <a:p>
            <a:pPr indent="0" marL="0">
              <a:buNone/>
            </a:pPr>
            <a:r>
              <a:rPr lang="en-US" sz="7200" b="1" dirty="0">
                <a:solidFill>
                  <a:schemeClr val="accent1"/>
                </a:solidFill>
              </a:rPr>
              <a:t>48</a:t>
            </a:r>
            <a:endParaRPr lang="en-US" sz="7200" dirty="0"/>
          </a:p>
        </p:txBody>
      </p:sp>
      <p:sp>
        <p:nvSpPr>
          <p:cNvPr id="5" name="Text 3"/>
          <p:cNvSpPr txBox="1"/>
          <p:nvPr/>
        </p:nvSpPr>
        <p:spPr>
          <a:xfrm>
            <a:off x="777240" y="2697480"/>
            <a:ext cx="2651760" cy="822960"/>
          </a:xfrm>
          <a:prstGeom prst="rect">
            <a:avLst/>
          </a:prstGeom>
          <a:noFill/>
          <a:ln/>
        </p:spPr>
        <p:txBody>
          <a:bodyPr wrap="square" lIns="0" tIns="0" rIns="0" bIns="0" rtlCol="0" anchor="t"/>
          <a:lstStyle/>
          <a:p>
            <a:pPr indent="0" marL="0">
              <a:buNone/>
            </a:pPr>
            <a:r>
              <a:rPr lang="en-US" sz="1500" dirty="0">
                <a:solidFill>
                  <a:schemeClr val="tx2"/>
                </a:solidFill>
              </a:rPr>
              <a:t>automated API tests, all passing in GitHub Actions</a:t>
            </a:r>
            <a:endParaRPr lang="en-US" sz="1500" dirty="0"/>
          </a:p>
        </p:txBody>
      </p:sp>
      <p:graphicFrame>
        <p:nvGraphicFramePr>
          <p:cNvPr id="6" name="tests per suite chart" descr=""/>
          <p:cNvGraphicFramePr/>
          <p:nvPr/>
        </p:nvGraphicFramePr>
        <p:xfrm>
          <a:off x="3931920" y="1280160"/>
          <a:ext cx="7708392" cy="2560320"/>
        </p:xfrm>
        <a:graphic xmlns:a="http://schemas.openxmlformats.org/drawingml/2006/main">
          <a:graphicData uri="http://schemas.openxmlformats.org/drawingml/2006/chart">
            <c:chart xmlns:c="http://schemas.openxmlformats.org/drawingml/2006/chart" r:id="rId1"/>
          </a:graphicData>
        </a:graphic>
      </p:graphicFrame>
      <p:sp>
        <p:nvSpPr>
          <p:cNvPr id="7" name="test method 1"/>
          <p:cNvSpPr/>
          <p:nvPr/>
        </p:nvSpPr>
        <p:spPr>
          <a:xfrm>
            <a:off x="548640" y="4069080"/>
            <a:ext cx="2633472" cy="2057400"/>
          </a:xfrm>
          <a:prstGeom prst="rect">
            <a:avLst/>
          </a:prstGeom>
          <a:solidFill>
            <a:schemeClr val="bg2"/>
          </a:solidFill>
          <a:ln w="9525">
            <a:solidFill>
              <a:srgbClr val="D9DEE8"/>
            </a:solidFill>
            <a:prstDash val="solid"/>
          </a:ln>
        </p:spPr>
      </p:sp>
      <p:sp>
        <p:nvSpPr>
          <p:cNvPr id="8" name="test icon 1 circle"/>
          <p:cNvSpPr/>
          <p:nvPr/>
        </p:nvSpPr>
        <p:spPr>
          <a:xfrm>
            <a:off x="749808" y="4251960"/>
            <a:ext cx="548640" cy="548640"/>
          </a:xfrm>
          <a:prstGeom prst="ellipse">
            <a:avLst/>
          </a:prstGeom>
          <a:solidFill>
            <a:schemeClr val="bg1"/>
          </a:solidFill>
          <a:ln w="9525">
            <a:solidFill>
              <a:srgbClr val="D9DEE8"/>
            </a:solidFill>
            <a:prstDash val="solid"/>
          </a:ln>
        </p:spPr>
      </p:sp>
      <p:pic>
        <p:nvPicPr>
          <p:cNvPr id="9" name="test icon 1" descr="test icon 1">    </p:cNvPr>
          <p:cNvPicPr>
            <a:picLocks noChangeAspect="1"/>
          </p:cNvPicPr>
          <p:nvPr/>
        </p:nvPicPr>
        <p:blipFill>
          <a:blip r:embed="rId2"/>
          <a:stretch>
            <a:fillRect/>
          </a:stretch>
        </p:blipFill>
        <p:spPr>
          <a:xfrm>
            <a:off x="886968" y="4389120"/>
            <a:ext cx="274320" cy="274320"/>
          </a:xfrm>
          <a:prstGeom prst="rect">
            <a:avLst/>
          </a:prstGeom>
        </p:spPr>
      </p:pic>
      <p:sp>
        <p:nvSpPr>
          <p:cNvPr id="10" name="Text 6"/>
          <p:cNvSpPr txBox="1"/>
          <p:nvPr/>
        </p:nvSpPr>
        <p:spPr>
          <a:xfrm>
            <a:off x="749808" y="4892040"/>
            <a:ext cx="2286000" cy="365760"/>
          </a:xfrm>
          <a:prstGeom prst="rect">
            <a:avLst/>
          </a:prstGeom>
          <a:noFill/>
          <a:ln/>
        </p:spPr>
        <p:txBody>
          <a:bodyPr wrap="square" lIns="0" tIns="0" rIns="0" bIns="0" rtlCol="0" anchor="t"/>
          <a:lstStyle/>
          <a:p>
            <a:pPr indent="0" marL="0">
              <a:buNone/>
            </a:pPr>
            <a:r>
              <a:rPr lang="en-US" sz="1600" b="1" dirty="0">
                <a:solidFill>
                  <a:schemeClr val="tx1"/>
                </a:solidFill>
              </a:rPr>
              <a:t>Vitest + Supertest</a:t>
            </a:r>
            <a:endParaRPr lang="en-US" sz="1600" dirty="0"/>
          </a:p>
        </p:txBody>
      </p:sp>
      <p:sp>
        <p:nvSpPr>
          <p:cNvPr id="11" name="Text 7"/>
          <p:cNvSpPr txBox="1"/>
          <p:nvPr/>
        </p:nvSpPr>
        <p:spPr>
          <a:xfrm>
            <a:off x="749808" y="5257800"/>
            <a:ext cx="2286000" cy="731520"/>
          </a:xfrm>
          <a:prstGeom prst="rect">
            <a:avLst/>
          </a:prstGeom>
          <a:noFill/>
          <a:ln/>
        </p:spPr>
        <p:txBody>
          <a:bodyPr wrap="square" lIns="0" tIns="0" rIns="0" bIns="0" rtlCol="0" anchor="t"/>
          <a:lstStyle/>
          <a:p>
            <a:pPr indent="0" marL="0">
              <a:buNone/>
            </a:pPr>
            <a:r>
              <a:rPr lang="en-US" sz="1400" dirty="0">
                <a:solidFill>
                  <a:schemeClr val="tx2"/>
                </a:solidFill>
              </a:rPr>
              <a:t>Real HTTP requests against the Express app</a:t>
            </a:r>
            <a:endParaRPr lang="en-US" sz="1400" dirty="0"/>
          </a:p>
        </p:txBody>
      </p:sp>
      <p:sp>
        <p:nvSpPr>
          <p:cNvPr id="12" name="test method 2"/>
          <p:cNvSpPr/>
          <p:nvPr/>
        </p:nvSpPr>
        <p:spPr>
          <a:xfrm>
            <a:off x="3364992" y="4069080"/>
            <a:ext cx="2633472" cy="2057400"/>
          </a:xfrm>
          <a:prstGeom prst="rect">
            <a:avLst/>
          </a:prstGeom>
          <a:solidFill>
            <a:schemeClr val="bg2"/>
          </a:solidFill>
          <a:ln w="9525">
            <a:solidFill>
              <a:srgbClr val="D9DEE8"/>
            </a:solidFill>
            <a:prstDash val="solid"/>
          </a:ln>
        </p:spPr>
      </p:sp>
      <p:sp>
        <p:nvSpPr>
          <p:cNvPr id="13" name="test icon 2 circle"/>
          <p:cNvSpPr/>
          <p:nvPr/>
        </p:nvSpPr>
        <p:spPr>
          <a:xfrm>
            <a:off x="3566160" y="4251960"/>
            <a:ext cx="548640" cy="548640"/>
          </a:xfrm>
          <a:prstGeom prst="ellipse">
            <a:avLst/>
          </a:prstGeom>
          <a:solidFill>
            <a:schemeClr val="bg1"/>
          </a:solidFill>
          <a:ln w="9525">
            <a:solidFill>
              <a:srgbClr val="D9DEE8"/>
            </a:solidFill>
            <a:prstDash val="solid"/>
          </a:ln>
        </p:spPr>
      </p:sp>
      <p:pic>
        <p:nvPicPr>
          <p:cNvPr id="14" name="test icon 2" descr="test icon 2">    </p:cNvPr>
          <p:cNvPicPr>
            <a:picLocks noChangeAspect="1"/>
          </p:cNvPicPr>
          <p:nvPr/>
        </p:nvPicPr>
        <p:blipFill>
          <a:blip r:embed="rId3"/>
          <a:stretch>
            <a:fillRect/>
          </a:stretch>
        </p:blipFill>
        <p:spPr>
          <a:xfrm>
            <a:off x="3703320" y="4389120"/>
            <a:ext cx="274320" cy="274320"/>
          </a:xfrm>
          <a:prstGeom prst="rect">
            <a:avLst/>
          </a:prstGeom>
        </p:spPr>
      </p:pic>
      <p:sp>
        <p:nvSpPr>
          <p:cNvPr id="15" name="Text 10"/>
          <p:cNvSpPr txBox="1"/>
          <p:nvPr/>
        </p:nvSpPr>
        <p:spPr>
          <a:xfrm>
            <a:off x="3566160" y="4892040"/>
            <a:ext cx="2286000" cy="365760"/>
          </a:xfrm>
          <a:prstGeom prst="rect">
            <a:avLst/>
          </a:prstGeom>
          <a:noFill/>
          <a:ln/>
        </p:spPr>
        <p:txBody>
          <a:bodyPr wrap="square" lIns="0" tIns="0" rIns="0" bIns="0" rtlCol="0" anchor="t"/>
          <a:lstStyle/>
          <a:p>
            <a:pPr indent="0" marL="0">
              <a:buNone/>
            </a:pPr>
            <a:r>
              <a:rPr lang="en-US" sz="1600" b="1" dirty="0">
                <a:solidFill>
                  <a:schemeClr val="tx1"/>
                </a:solidFill>
              </a:rPr>
              <a:t>In-memory MongoDB</a:t>
            </a:r>
            <a:endParaRPr lang="en-US" sz="1600" dirty="0"/>
          </a:p>
        </p:txBody>
      </p:sp>
      <p:sp>
        <p:nvSpPr>
          <p:cNvPr id="16" name="Text 11"/>
          <p:cNvSpPr txBox="1"/>
          <p:nvPr/>
        </p:nvSpPr>
        <p:spPr>
          <a:xfrm>
            <a:off x="3566160" y="5257800"/>
            <a:ext cx="2286000" cy="731520"/>
          </a:xfrm>
          <a:prstGeom prst="rect">
            <a:avLst/>
          </a:prstGeom>
          <a:noFill/>
          <a:ln/>
        </p:spPr>
        <p:txBody>
          <a:bodyPr wrap="square" lIns="0" tIns="0" rIns="0" bIns="0" rtlCol="0" anchor="t"/>
          <a:lstStyle/>
          <a:p>
            <a:pPr indent="0" marL="0">
              <a:buNone/>
            </a:pPr>
            <a:r>
              <a:rPr lang="en-US" sz="1400" dirty="0">
                <a:solidFill>
                  <a:schemeClr val="tx2"/>
                </a:solidFill>
              </a:rPr>
              <a:t>Fresh database on every run</a:t>
            </a:r>
            <a:endParaRPr lang="en-US" sz="1400" dirty="0"/>
          </a:p>
        </p:txBody>
      </p:sp>
      <p:sp>
        <p:nvSpPr>
          <p:cNvPr id="17" name="test method 3"/>
          <p:cNvSpPr/>
          <p:nvPr/>
        </p:nvSpPr>
        <p:spPr>
          <a:xfrm>
            <a:off x="6181344" y="4069080"/>
            <a:ext cx="2633472" cy="2057400"/>
          </a:xfrm>
          <a:prstGeom prst="rect">
            <a:avLst/>
          </a:prstGeom>
          <a:solidFill>
            <a:schemeClr val="bg2"/>
          </a:solidFill>
          <a:ln w="9525">
            <a:solidFill>
              <a:srgbClr val="D9DEE8"/>
            </a:solidFill>
            <a:prstDash val="solid"/>
          </a:ln>
        </p:spPr>
      </p:sp>
      <p:sp>
        <p:nvSpPr>
          <p:cNvPr id="18" name="test icon 3 circle"/>
          <p:cNvSpPr/>
          <p:nvPr/>
        </p:nvSpPr>
        <p:spPr>
          <a:xfrm>
            <a:off x="6382512" y="4251960"/>
            <a:ext cx="548640" cy="548640"/>
          </a:xfrm>
          <a:prstGeom prst="ellipse">
            <a:avLst/>
          </a:prstGeom>
          <a:solidFill>
            <a:schemeClr val="bg1"/>
          </a:solidFill>
          <a:ln w="9525">
            <a:solidFill>
              <a:srgbClr val="D9DEE8"/>
            </a:solidFill>
            <a:prstDash val="solid"/>
          </a:ln>
        </p:spPr>
      </p:sp>
      <p:pic>
        <p:nvPicPr>
          <p:cNvPr id="19" name="test icon 3" descr="test icon 3">    </p:cNvPr>
          <p:cNvPicPr>
            <a:picLocks noChangeAspect="1"/>
          </p:cNvPicPr>
          <p:nvPr/>
        </p:nvPicPr>
        <p:blipFill>
          <a:blip r:embed="rId4"/>
          <a:stretch>
            <a:fillRect/>
          </a:stretch>
        </p:blipFill>
        <p:spPr>
          <a:xfrm>
            <a:off x="6519672" y="4389120"/>
            <a:ext cx="274320" cy="274320"/>
          </a:xfrm>
          <a:prstGeom prst="rect">
            <a:avLst/>
          </a:prstGeom>
        </p:spPr>
      </p:pic>
      <p:sp>
        <p:nvSpPr>
          <p:cNvPr id="20" name="Text 14"/>
          <p:cNvSpPr txBox="1"/>
          <p:nvPr/>
        </p:nvSpPr>
        <p:spPr>
          <a:xfrm>
            <a:off x="6382512" y="4892040"/>
            <a:ext cx="2286000" cy="365760"/>
          </a:xfrm>
          <a:prstGeom prst="rect">
            <a:avLst/>
          </a:prstGeom>
          <a:noFill/>
          <a:ln/>
        </p:spPr>
        <p:txBody>
          <a:bodyPr wrap="square" lIns="0" tIns="0" rIns="0" bIns="0" rtlCol="0" anchor="t"/>
          <a:lstStyle/>
          <a:p>
            <a:pPr indent="0" marL="0">
              <a:buNone/>
            </a:pPr>
            <a:r>
              <a:rPr lang="en-US" sz="1600" b="1" dirty="0">
                <a:solidFill>
                  <a:schemeClr val="tx1"/>
                </a:solidFill>
              </a:rPr>
              <a:t>Gemini mocked</a:t>
            </a:r>
            <a:endParaRPr lang="en-US" sz="1600" dirty="0"/>
          </a:p>
        </p:txBody>
      </p:sp>
      <p:sp>
        <p:nvSpPr>
          <p:cNvPr id="21" name="Text 15"/>
          <p:cNvSpPr txBox="1"/>
          <p:nvPr/>
        </p:nvSpPr>
        <p:spPr>
          <a:xfrm>
            <a:off x="6382512" y="5257800"/>
            <a:ext cx="2286000" cy="731520"/>
          </a:xfrm>
          <a:prstGeom prst="rect">
            <a:avLst/>
          </a:prstGeom>
          <a:noFill/>
          <a:ln/>
        </p:spPr>
        <p:txBody>
          <a:bodyPr wrap="square" lIns="0" tIns="0" rIns="0" bIns="0" rtlCol="0" anchor="t"/>
          <a:lstStyle/>
          <a:p>
            <a:pPr indent="0" marL="0">
              <a:buNone/>
            </a:pPr>
            <a:r>
              <a:rPr lang="en-US" sz="1400" dirty="0">
                <a:solidFill>
                  <a:schemeClr val="tx2"/>
                </a:solidFill>
              </a:rPr>
              <a:t>Fast and repeatable, no API key</a:t>
            </a:r>
            <a:endParaRPr lang="en-US" sz="1400" dirty="0"/>
          </a:p>
        </p:txBody>
      </p:sp>
      <p:sp>
        <p:nvSpPr>
          <p:cNvPr id="22" name="test method 4"/>
          <p:cNvSpPr/>
          <p:nvPr/>
        </p:nvSpPr>
        <p:spPr>
          <a:xfrm>
            <a:off x="8997696" y="4069080"/>
            <a:ext cx="2633472" cy="2057400"/>
          </a:xfrm>
          <a:prstGeom prst="rect">
            <a:avLst/>
          </a:prstGeom>
          <a:solidFill>
            <a:schemeClr val="bg2"/>
          </a:solidFill>
          <a:ln w="9525">
            <a:solidFill>
              <a:srgbClr val="D9DEE8"/>
            </a:solidFill>
            <a:prstDash val="solid"/>
          </a:ln>
        </p:spPr>
      </p:sp>
      <p:sp>
        <p:nvSpPr>
          <p:cNvPr id="23" name="test icon 4 circle"/>
          <p:cNvSpPr/>
          <p:nvPr/>
        </p:nvSpPr>
        <p:spPr>
          <a:xfrm>
            <a:off x="9198864" y="4251960"/>
            <a:ext cx="548640" cy="548640"/>
          </a:xfrm>
          <a:prstGeom prst="ellipse">
            <a:avLst/>
          </a:prstGeom>
          <a:solidFill>
            <a:schemeClr val="bg1"/>
          </a:solidFill>
          <a:ln w="9525">
            <a:solidFill>
              <a:srgbClr val="D9DEE8"/>
            </a:solidFill>
            <a:prstDash val="solid"/>
          </a:ln>
        </p:spPr>
      </p:sp>
      <p:pic>
        <p:nvPicPr>
          <p:cNvPr id="24" name="test icon 4" descr="test icon 4">    </p:cNvPr>
          <p:cNvPicPr>
            <a:picLocks noChangeAspect="1"/>
          </p:cNvPicPr>
          <p:nvPr/>
        </p:nvPicPr>
        <p:blipFill>
          <a:blip r:embed="rId5"/>
          <a:stretch>
            <a:fillRect/>
          </a:stretch>
        </p:blipFill>
        <p:spPr>
          <a:xfrm>
            <a:off x="9336024" y="4389120"/>
            <a:ext cx="274320" cy="274320"/>
          </a:xfrm>
          <a:prstGeom prst="rect">
            <a:avLst/>
          </a:prstGeom>
        </p:spPr>
      </p:pic>
      <p:sp>
        <p:nvSpPr>
          <p:cNvPr id="25" name="Text 18"/>
          <p:cNvSpPr txBox="1"/>
          <p:nvPr/>
        </p:nvSpPr>
        <p:spPr>
          <a:xfrm>
            <a:off x="9198864" y="4892040"/>
            <a:ext cx="2286000" cy="365760"/>
          </a:xfrm>
          <a:prstGeom prst="rect">
            <a:avLst/>
          </a:prstGeom>
          <a:noFill/>
          <a:ln/>
        </p:spPr>
        <p:txBody>
          <a:bodyPr wrap="square" lIns="0" tIns="0" rIns="0" bIns="0" rtlCol="0" anchor="t"/>
          <a:lstStyle/>
          <a:p>
            <a:pPr indent="0" marL="0">
              <a:buNone/>
            </a:pPr>
            <a:r>
              <a:rPr lang="en-US" sz="1600" b="1" dirty="0">
                <a:solidFill>
                  <a:schemeClr val="tx1"/>
                </a:solidFill>
              </a:rPr>
              <a:t>CI on every push</a:t>
            </a:r>
            <a:endParaRPr lang="en-US" sz="1600" dirty="0"/>
          </a:p>
        </p:txBody>
      </p:sp>
      <p:sp>
        <p:nvSpPr>
          <p:cNvPr id="26" name="Text 19"/>
          <p:cNvSpPr txBox="1"/>
          <p:nvPr/>
        </p:nvSpPr>
        <p:spPr>
          <a:xfrm>
            <a:off x="9198864" y="5257800"/>
            <a:ext cx="2286000" cy="731520"/>
          </a:xfrm>
          <a:prstGeom prst="rect">
            <a:avLst/>
          </a:prstGeom>
          <a:noFill/>
          <a:ln/>
        </p:spPr>
        <p:txBody>
          <a:bodyPr wrap="square" lIns="0" tIns="0" rIns="0" bIns="0" rtlCol="0" anchor="t"/>
          <a:lstStyle/>
          <a:p>
            <a:pPr indent="0" marL="0">
              <a:buNone/>
            </a:pPr>
            <a:r>
              <a:rPr lang="en-US" sz="1400" dirty="0">
                <a:solidFill>
                  <a:schemeClr val="tx2"/>
                </a:solidFill>
              </a:rPr>
              <a:t>Tests + frontend type check and build</a:t>
            </a:r>
            <a:endParaRPr lang="en-US" sz="1400" dirty="0"/>
          </a:p>
        </p:txBody>
      </p:sp>
      <p:sp>
        <p:nvSpPr>
          <p:cNvPr id="25" name="Slide Number Placeholder 0"/>
          <p:cNvSpPr>
            <a:spLocks noGrp="1"/>
          </p:cNvSpPr>
          <p:nvPr>
            <p:ph type="sldNum" sz="quarter" idx="4294967295"/>
          </p:nvPr>
        </p:nvSpPr>
        <p:spPr>
          <a:xfrm>
            <a:off x="11201400" y="6419088"/>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777240"/>
          </a:xfrm>
          <a:prstGeom prst="rect">
            <a:avLst/>
          </a:prstGeom>
          <a:noFill/>
          <a:ln/>
        </p:spPr>
        <p:txBody>
          <a:bodyPr wrap="square" lIns="0" tIns="0" rIns="0" bIns="0" rtlCol="0" anchor="ctr"/>
          <a:lstStyle/>
          <a:p>
            <a:pPr algn="l" indent="0" marL="0">
              <a:buNone/>
            </a:pPr>
            <a:r>
              <a:rPr lang="en-US" sz="3200" b="1" dirty="0">
                <a:solidFill>
                  <a:schemeClr val="tx1"/>
                </a:solidFill>
              </a:rPr>
              <a:t>Deployment</a:t>
            </a:r>
            <a:endParaRPr lang="en-US" sz="3200" dirty="0"/>
          </a:p>
        </p:txBody>
      </p:sp>
      <p:sp>
        <p:nvSpPr>
          <p:cNvPr id="3" name="deploy row 1"/>
          <p:cNvSpPr/>
          <p:nvPr/>
        </p:nvSpPr>
        <p:spPr>
          <a:xfrm>
            <a:off x="548640" y="1371600"/>
            <a:ext cx="7406640" cy="1005840"/>
          </a:xfrm>
          <a:prstGeom prst="rect">
            <a:avLst/>
          </a:prstGeom>
          <a:solidFill>
            <a:schemeClr val="bg2"/>
          </a:solidFill>
          <a:ln w="9525">
            <a:solidFill>
              <a:srgbClr val="D9DEE8"/>
            </a:solidFill>
            <a:prstDash val="solid"/>
          </a:ln>
        </p:spPr>
      </p:sp>
      <p:sp>
        <p:nvSpPr>
          <p:cNvPr id="4" name="deploy icon 1 circle"/>
          <p:cNvSpPr/>
          <p:nvPr/>
        </p:nvSpPr>
        <p:spPr>
          <a:xfrm>
            <a:off x="777240" y="1572768"/>
            <a:ext cx="603504" cy="603504"/>
          </a:xfrm>
          <a:prstGeom prst="ellipse">
            <a:avLst/>
          </a:prstGeom>
          <a:solidFill>
            <a:schemeClr val="bg1"/>
          </a:solidFill>
          <a:ln w="9525">
            <a:solidFill>
              <a:srgbClr val="D9DEE8"/>
            </a:solidFill>
            <a:prstDash val="solid"/>
          </a:ln>
        </p:spPr>
      </p:sp>
      <p:pic>
        <p:nvPicPr>
          <p:cNvPr id="5" name="deploy icon 1" descr="deploy icon 1">    </p:cNvPr>
          <p:cNvPicPr>
            <a:picLocks noChangeAspect="1"/>
          </p:cNvPicPr>
          <p:nvPr/>
        </p:nvPicPr>
        <p:blipFill>
          <a:blip r:embed="rId1"/>
          <a:stretch>
            <a:fillRect/>
          </a:stretch>
        </p:blipFill>
        <p:spPr>
          <a:xfrm>
            <a:off x="928116" y="1723644"/>
            <a:ext cx="301752" cy="301752"/>
          </a:xfrm>
          <a:prstGeom prst="rect">
            <a:avLst/>
          </a:prstGeom>
        </p:spPr>
      </p:pic>
      <p:sp>
        <p:nvSpPr>
          <p:cNvPr id="6" name="Text 3"/>
          <p:cNvSpPr txBox="1"/>
          <p:nvPr/>
        </p:nvSpPr>
        <p:spPr>
          <a:xfrm>
            <a:off x="1600200" y="1508760"/>
            <a:ext cx="6217920" cy="384048"/>
          </a:xfrm>
          <a:prstGeom prst="rect">
            <a:avLst/>
          </a:prstGeom>
          <a:noFill/>
          <a:ln/>
        </p:spPr>
        <p:txBody>
          <a:bodyPr wrap="square" lIns="0" tIns="0" rIns="0" bIns="0" rtlCol="0" anchor="t"/>
          <a:lstStyle/>
          <a:p>
            <a:pPr indent="0" marL="0">
              <a:buNone/>
            </a:pPr>
            <a:r>
              <a:rPr lang="en-US" sz="1700" b="1" dirty="0">
                <a:solidFill>
                  <a:schemeClr val="tx1"/>
                </a:solidFill>
              </a:rPr>
              <a:t>Vercel — Frontend</a:t>
            </a:r>
            <a:endParaRPr lang="en-US" sz="1700" dirty="0"/>
          </a:p>
        </p:txBody>
      </p:sp>
      <p:sp>
        <p:nvSpPr>
          <p:cNvPr id="7" name="Text 4"/>
          <p:cNvSpPr txBox="1"/>
          <p:nvPr/>
        </p:nvSpPr>
        <p:spPr>
          <a:xfrm>
            <a:off x="1600200" y="1920240"/>
            <a:ext cx="6217920" cy="320040"/>
          </a:xfrm>
          <a:prstGeom prst="rect">
            <a:avLst/>
          </a:prstGeom>
          <a:noFill/>
          <a:ln/>
        </p:spPr>
        <p:txBody>
          <a:bodyPr wrap="square" lIns="0" tIns="0" rIns="0" bIns="0" rtlCol="0" anchor="t"/>
          <a:lstStyle/>
          <a:p>
            <a:pPr indent="0" marL="0">
              <a:buNone/>
            </a:pPr>
            <a:r>
              <a:rPr lang="en-US" sz="1400" dirty="0">
                <a:solidFill>
                  <a:schemeClr val="accent1"/>
                </a:solidFill>
              </a:rPr>
              <a:t>https://ai-resume-analyzer-psi-lime.vercel.app</a:t>
            </a:r>
            <a:endParaRPr lang="en-US" sz="1400" dirty="0"/>
          </a:p>
        </p:txBody>
      </p:sp>
      <p:sp>
        <p:nvSpPr>
          <p:cNvPr id="8" name="deploy row 2"/>
          <p:cNvSpPr/>
          <p:nvPr/>
        </p:nvSpPr>
        <p:spPr>
          <a:xfrm>
            <a:off x="548640" y="2560320"/>
            <a:ext cx="7406640" cy="1005840"/>
          </a:xfrm>
          <a:prstGeom prst="rect">
            <a:avLst/>
          </a:prstGeom>
          <a:solidFill>
            <a:schemeClr val="bg2"/>
          </a:solidFill>
          <a:ln w="9525">
            <a:solidFill>
              <a:srgbClr val="D9DEE8"/>
            </a:solidFill>
            <a:prstDash val="solid"/>
          </a:ln>
        </p:spPr>
      </p:sp>
      <p:sp>
        <p:nvSpPr>
          <p:cNvPr id="9" name="deploy icon 2 circle"/>
          <p:cNvSpPr/>
          <p:nvPr/>
        </p:nvSpPr>
        <p:spPr>
          <a:xfrm>
            <a:off x="777240" y="2761488"/>
            <a:ext cx="603504" cy="603504"/>
          </a:xfrm>
          <a:prstGeom prst="ellipse">
            <a:avLst/>
          </a:prstGeom>
          <a:solidFill>
            <a:schemeClr val="bg1"/>
          </a:solidFill>
          <a:ln w="9525">
            <a:solidFill>
              <a:srgbClr val="D9DEE8"/>
            </a:solidFill>
            <a:prstDash val="solid"/>
          </a:ln>
        </p:spPr>
      </p:sp>
      <p:pic>
        <p:nvPicPr>
          <p:cNvPr id="10" name="deploy icon 2" descr="deploy icon 2">    </p:cNvPr>
          <p:cNvPicPr>
            <a:picLocks noChangeAspect="1"/>
          </p:cNvPicPr>
          <p:nvPr/>
        </p:nvPicPr>
        <p:blipFill>
          <a:blip r:embed="rId2"/>
          <a:stretch>
            <a:fillRect/>
          </a:stretch>
        </p:blipFill>
        <p:spPr>
          <a:xfrm>
            <a:off x="928116" y="2912364"/>
            <a:ext cx="301752" cy="301752"/>
          </a:xfrm>
          <a:prstGeom prst="rect">
            <a:avLst/>
          </a:prstGeom>
        </p:spPr>
      </p:pic>
      <p:sp>
        <p:nvSpPr>
          <p:cNvPr id="11" name="Text 7"/>
          <p:cNvSpPr txBox="1"/>
          <p:nvPr/>
        </p:nvSpPr>
        <p:spPr>
          <a:xfrm>
            <a:off x="1600200" y="2697480"/>
            <a:ext cx="6217920" cy="384048"/>
          </a:xfrm>
          <a:prstGeom prst="rect">
            <a:avLst/>
          </a:prstGeom>
          <a:noFill/>
          <a:ln/>
        </p:spPr>
        <p:txBody>
          <a:bodyPr wrap="square" lIns="0" tIns="0" rIns="0" bIns="0" rtlCol="0" anchor="t"/>
          <a:lstStyle/>
          <a:p>
            <a:pPr indent="0" marL="0">
              <a:buNone/>
            </a:pPr>
            <a:r>
              <a:rPr lang="en-US" sz="1700" b="1" dirty="0">
                <a:solidFill>
                  <a:schemeClr val="tx1"/>
                </a:solidFill>
              </a:rPr>
              <a:t>Render — Backend API</a:t>
            </a:r>
            <a:endParaRPr lang="en-US" sz="1700" dirty="0"/>
          </a:p>
        </p:txBody>
      </p:sp>
      <p:sp>
        <p:nvSpPr>
          <p:cNvPr id="12" name="Text 8"/>
          <p:cNvSpPr txBox="1"/>
          <p:nvPr/>
        </p:nvSpPr>
        <p:spPr>
          <a:xfrm>
            <a:off x="1600200" y="3108960"/>
            <a:ext cx="6217920" cy="320040"/>
          </a:xfrm>
          <a:prstGeom prst="rect">
            <a:avLst/>
          </a:prstGeom>
          <a:noFill/>
          <a:ln/>
        </p:spPr>
        <p:txBody>
          <a:bodyPr wrap="square" lIns="0" tIns="0" rIns="0" bIns="0" rtlCol="0" anchor="t"/>
          <a:lstStyle/>
          <a:p>
            <a:pPr indent="0" marL="0">
              <a:buNone/>
            </a:pPr>
            <a:r>
              <a:rPr lang="en-US" sz="1400" dirty="0">
                <a:solidFill>
                  <a:schemeClr val="accent1"/>
                </a:solidFill>
              </a:rPr>
              <a:t>resumind-api-3kpd.onrender.com</a:t>
            </a:r>
            <a:endParaRPr lang="en-US" sz="1400" dirty="0"/>
          </a:p>
        </p:txBody>
      </p:sp>
      <p:sp>
        <p:nvSpPr>
          <p:cNvPr id="13" name="deploy row 3"/>
          <p:cNvSpPr/>
          <p:nvPr/>
        </p:nvSpPr>
        <p:spPr>
          <a:xfrm>
            <a:off x="548640" y="3749040"/>
            <a:ext cx="7406640" cy="1005840"/>
          </a:xfrm>
          <a:prstGeom prst="rect">
            <a:avLst/>
          </a:prstGeom>
          <a:solidFill>
            <a:schemeClr val="bg2"/>
          </a:solidFill>
          <a:ln w="9525">
            <a:solidFill>
              <a:srgbClr val="D9DEE8"/>
            </a:solidFill>
            <a:prstDash val="solid"/>
          </a:ln>
        </p:spPr>
      </p:sp>
      <p:sp>
        <p:nvSpPr>
          <p:cNvPr id="14" name="deploy icon 3 circle"/>
          <p:cNvSpPr/>
          <p:nvPr/>
        </p:nvSpPr>
        <p:spPr>
          <a:xfrm>
            <a:off x="777240" y="3950208"/>
            <a:ext cx="603504" cy="603504"/>
          </a:xfrm>
          <a:prstGeom prst="ellipse">
            <a:avLst/>
          </a:prstGeom>
          <a:solidFill>
            <a:schemeClr val="bg1"/>
          </a:solidFill>
          <a:ln w="9525">
            <a:solidFill>
              <a:srgbClr val="D9DEE8"/>
            </a:solidFill>
            <a:prstDash val="solid"/>
          </a:ln>
        </p:spPr>
      </p:sp>
      <p:pic>
        <p:nvPicPr>
          <p:cNvPr id="15" name="deploy icon 3" descr="deploy icon 3">    </p:cNvPr>
          <p:cNvPicPr>
            <a:picLocks noChangeAspect="1"/>
          </p:cNvPicPr>
          <p:nvPr/>
        </p:nvPicPr>
        <p:blipFill>
          <a:blip r:embed="rId3"/>
          <a:stretch>
            <a:fillRect/>
          </a:stretch>
        </p:blipFill>
        <p:spPr>
          <a:xfrm>
            <a:off x="928116" y="4101084"/>
            <a:ext cx="301752" cy="301752"/>
          </a:xfrm>
          <a:prstGeom prst="rect">
            <a:avLst/>
          </a:prstGeom>
        </p:spPr>
      </p:pic>
      <p:sp>
        <p:nvSpPr>
          <p:cNvPr id="16" name="Text 11"/>
          <p:cNvSpPr txBox="1"/>
          <p:nvPr/>
        </p:nvSpPr>
        <p:spPr>
          <a:xfrm>
            <a:off x="1600200" y="3886200"/>
            <a:ext cx="6217920" cy="384048"/>
          </a:xfrm>
          <a:prstGeom prst="rect">
            <a:avLst/>
          </a:prstGeom>
          <a:noFill/>
          <a:ln/>
        </p:spPr>
        <p:txBody>
          <a:bodyPr wrap="square" lIns="0" tIns="0" rIns="0" bIns="0" rtlCol="0" anchor="t"/>
          <a:lstStyle/>
          <a:p>
            <a:pPr indent="0" marL="0">
              <a:buNone/>
            </a:pPr>
            <a:r>
              <a:rPr lang="en-US" sz="1700" b="1" dirty="0">
                <a:solidFill>
                  <a:schemeClr val="tx1"/>
                </a:solidFill>
              </a:rPr>
              <a:t>MongoDB Atlas — Database + GridFS files</a:t>
            </a:r>
            <a:endParaRPr lang="en-US" sz="1700" dirty="0"/>
          </a:p>
        </p:txBody>
      </p:sp>
      <p:sp>
        <p:nvSpPr>
          <p:cNvPr id="17" name="Text 12"/>
          <p:cNvSpPr txBox="1"/>
          <p:nvPr/>
        </p:nvSpPr>
        <p:spPr>
          <a:xfrm>
            <a:off x="1600200" y="4297680"/>
            <a:ext cx="6217920" cy="320040"/>
          </a:xfrm>
          <a:prstGeom prst="rect">
            <a:avLst/>
          </a:prstGeom>
          <a:noFill/>
          <a:ln/>
        </p:spPr>
        <p:txBody>
          <a:bodyPr wrap="square" lIns="0" tIns="0" rIns="0" bIns="0" rtlCol="0" anchor="t"/>
          <a:lstStyle/>
          <a:p>
            <a:pPr indent="0" marL="0">
              <a:buNone/>
            </a:pPr>
            <a:r>
              <a:rPr lang="en-US" sz="1400" dirty="0">
                <a:solidFill>
                  <a:schemeClr val="accent1"/>
                </a:solidFill>
              </a:rPr>
              <a:t>M0 cluster</a:t>
            </a:r>
            <a:endParaRPr lang="en-US" sz="1400" dirty="0"/>
          </a:p>
        </p:txBody>
      </p:sp>
      <p:sp>
        <p:nvSpPr>
          <p:cNvPr id="18" name="deploy row 4"/>
          <p:cNvSpPr/>
          <p:nvPr/>
        </p:nvSpPr>
        <p:spPr>
          <a:xfrm>
            <a:off x="548640" y="4937760"/>
            <a:ext cx="7406640" cy="1005840"/>
          </a:xfrm>
          <a:prstGeom prst="rect">
            <a:avLst/>
          </a:prstGeom>
          <a:solidFill>
            <a:schemeClr val="bg2"/>
          </a:solidFill>
          <a:ln w="9525">
            <a:solidFill>
              <a:srgbClr val="D9DEE8"/>
            </a:solidFill>
            <a:prstDash val="solid"/>
          </a:ln>
        </p:spPr>
      </p:sp>
      <p:sp>
        <p:nvSpPr>
          <p:cNvPr id="19" name="deploy icon 4 circle"/>
          <p:cNvSpPr/>
          <p:nvPr/>
        </p:nvSpPr>
        <p:spPr>
          <a:xfrm>
            <a:off x="777240" y="5138928"/>
            <a:ext cx="603504" cy="603504"/>
          </a:xfrm>
          <a:prstGeom prst="ellipse">
            <a:avLst/>
          </a:prstGeom>
          <a:solidFill>
            <a:schemeClr val="bg1"/>
          </a:solidFill>
          <a:ln w="9525">
            <a:solidFill>
              <a:srgbClr val="D9DEE8"/>
            </a:solidFill>
            <a:prstDash val="solid"/>
          </a:ln>
        </p:spPr>
      </p:sp>
      <p:pic>
        <p:nvPicPr>
          <p:cNvPr id="20" name="deploy icon 4" descr="deploy icon 4">    </p:cNvPr>
          <p:cNvPicPr>
            <a:picLocks noChangeAspect="1"/>
          </p:cNvPicPr>
          <p:nvPr/>
        </p:nvPicPr>
        <p:blipFill>
          <a:blip r:embed="rId4"/>
          <a:stretch>
            <a:fillRect/>
          </a:stretch>
        </p:blipFill>
        <p:spPr>
          <a:xfrm>
            <a:off x="928116" y="5289804"/>
            <a:ext cx="301752" cy="301752"/>
          </a:xfrm>
          <a:prstGeom prst="rect">
            <a:avLst/>
          </a:prstGeom>
        </p:spPr>
      </p:pic>
      <p:sp>
        <p:nvSpPr>
          <p:cNvPr id="21" name="Text 15"/>
          <p:cNvSpPr txBox="1"/>
          <p:nvPr/>
        </p:nvSpPr>
        <p:spPr>
          <a:xfrm>
            <a:off x="1600200" y="5074920"/>
            <a:ext cx="6217920" cy="384048"/>
          </a:xfrm>
          <a:prstGeom prst="rect">
            <a:avLst/>
          </a:prstGeom>
          <a:noFill/>
          <a:ln/>
        </p:spPr>
        <p:txBody>
          <a:bodyPr wrap="square" lIns="0" tIns="0" rIns="0" bIns="0" rtlCol="0" anchor="t"/>
          <a:lstStyle/>
          <a:p>
            <a:pPr indent="0" marL="0">
              <a:buNone/>
            </a:pPr>
            <a:r>
              <a:rPr lang="en-US" sz="1700" b="1" dirty="0">
                <a:solidFill>
                  <a:schemeClr val="tx1"/>
                </a:solidFill>
              </a:rPr>
              <a:t>GitHub Actions — tests before every deploy</a:t>
            </a:r>
            <a:endParaRPr lang="en-US" sz="1700" dirty="0"/>
          </a:p>
        </p:txBody>
      </p:sp>
      <p:sp>
        <p:nvSpPr>
          <p:cNvPr id="22" name="Text 16"/>
          <p:cNvSpPr txBox="1"/>
          <p:nvPr/>
        </p:nvSpPr>
        <p:spPr>
          <a:xfrm>
            <a:off x="1600200" y="5486400"/>
            <a:ext cx="6217920" cy="320040"/>
          </a:xfrm>
          <a:prstGeom prst="rect">
            <a:avLst/>
          </a:prstGeom>
          <a:noFill/>
          <a:ln/>
        </p:spPr>
        <p:txBody>
          <a:bodyPr wrap="square" lIns="0" tIns="0" rIns="0" bIns="0" rtlCol="0" anchor="t"/>
          <a:lstStyle/>
          <a:p>
            <a:pPr indent="0" marL="0">
              <a:buNone/>
            </a:pPr>
            <a:r>
              <a:rPr lang="en-US" sz="1400" dirty="0">
                <a:solidFill>
                  <a:schemeClr val="accent1"/>
                </a:solidFill>
              </a:rPr>
              <a:t>github.com/mahamud894/AI_Resume_Analyzer</a:t>
            </a:r>
            <a:endParaRPr lang="en-US" sz="1400" dirty="0"/>
          </a:p>
        </p:txBody>
      </p:sp>
      <p:sp>
        <p:nvSpPr>
          <p:cNvPr id="23" name="qr box"/>
          <p:cNvSpPr/>
          <p:nvPr/>
        </p:nvSpPr>
        <p:spPr>
          <a:xfrm>
            <a:off x="8229600" y="1371600"/>
            <a:ext cx="3410712" cy="4572000"/>
          </a:xfrm>
          <a:prstGeom prst="rect">
            <a:avLst/>
          </a:prstGeom>
          <a:solidFill>
            <a:schemeClr val="bg1"/>
          </a:solidFill>
          <a:ln w="9525">
            <a:solidFill>
              <a:srgbClr val="D9DEE8"/>
            </a:solidFill>
            <a:prstDash val="solid"/>
          </a:ln>
        </p:spPr>
      </p:sp>
      <p:pic>
        <p:nvPicPr>
          <p:cNvPr id="24" name="QR live app" descr="QR code to the live app">    </p:cNvPr>
          <p:cNvPicPr>
            <a:picLocks noChangeAspect="1"/>
          </p:cNvPicPr>
          <p:nvPr/>
        </p:nvPicPr>
        <p:blipFill>
          <a:blip r:embed="rId5"/>
          <a:stretch>
            <a:fillRect/>
          </a:stretch>
        </p:blipFill>
        <p:spPr>
          <a:xfrm>
            <a:off x="8686800" y="1600200"/>
            <a:ext cx="2496312" cy="2496312"/>
          </a:xfrm>
          <a:prstGeom prst="rect">
            <a:avLst/>
          </a:prstGeom>
        </p:spPr>
      </p:pic>
      <p:sp>
        <p:nvSpPr>
          <p:cNvPr id="25" name="Text 18"/>
          <p:cNvSpPr txBox="1"/>
          <p:nvPr/>
        </p:nvSpPr>
        <p:spPr>
          <a:xfrm>
            <a:off x="8229600" y="4251960"/>
            <a:ext cx="3410712" cy="365760"/>
          </a:xfrm>
          <a:prstGeom prst="rect">
            <a:avLst/>
          </a:prstGeom>
          <a:noFill/>
          <a:ln/>
        </p:spPr>
        <p:txBody>
          <a:bodyPr wrap="square" lIns="0" tIns="0" rIns="0" bIns="0" rtlCol="0" anchor="t"/>
          <a:lstStyle/>
          <a:p>
            <a:pPr algn="ctr" indent="0" marL="0">
              <a:buNone/>
            </a:pPr>
            <a:r>
              <a:rPr lang="en-US" sz="1600" b="1" dirty="0">
                <a:solidFill>
                  <a:schemeClr val="tx1"/>
                </a:solidFill>
              </a:rPr>
              <a:t>Scan to open the live app</a:t>
            </a:r>
            <a:endParaRPr lang="en-US" sz="1600" dirty="0"/>
          </a:p>
        </p:txBody>
      </p:sp>
      <p:sp>
        <p:nvSpPr>
          <p:cNvPr id="26" name="Text 19"/>
          <p:cNvSpPr txBox="1"/>
          <p:nvPr/>
        </p:nvSpPr>
        <p:spPr>
          <a:xfrm>
            <a:off x="8412480" y="4709160"/>
            <a:ext cx="3044952" cy="1005840"/>
          </a:xfrm>
          <a:prstGeom prst="rect">
            <a:avLst/>
          </a:prstGeom>
          <a:noFill/>
          <a:ln/>
        </p:spPr>
        <p:txBody>
          <a:bodyPr wrap="square" lIns="0" tIns="0" rIns="0" bIns="0" rtlCol="0" anchor="t"/>
          <a:lstStyle/>
          <a:p>
            <a:pPr algn="ctr" indent="0" marL="0">
              <a:buNone/>
            </a:pPr>
            <a:r>
              <a:rPr lang="en-US" sz="1300" dirty="0">
                <a:solidFill>
                  <a:schemeClr val="tx2"/>
                </a:solidFill>
              </a:rPr>
              <a:t>Secrets are kept in .env and the Render / Vercel dashboards — never in Git.</a:t>
            </a:r>
            <a:endParaRPr lang="en-US" sz="1300" dirty="0"/>
          </a:p>
        </p:txBody>
      </p:sp>
      <p:sp>
        <p:nvSpPr>
          <p:cNvPr id="25" name="Slide Number Placeholder 0"/>
          <p:cNvSpPr>
            <a:spLocks noGrp="1"/>
          </p:cNvSpPr>
          <p:nvPr>
            <p:ph type="sldNum" sz="quarter" idx="4294967295"/>
          </p:nvPr>
        </p:nvSpPr>
        <p:spPr>
          <a:xfrm>
            <a:off x="11201400" y="6419088"/>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777240"/>
          </a:xfrm>
          <a:prstGeom prst="rect">
            <a:avLst/>
          </a:prstGeom>
          <a:noFill/>
          <a:ln/>
        </p:spPr>
        <p:txBody>
          <a:bodyPr wrap="square" lIns="0" tIns="0" rIns="0" bIns="0" rtlCol="0" anchor="ctr"/>
          <a:lstStyle/>
          <a:p>
            <a:pPr algn="l" indent="0" marL="0">
              <a:buNone/>
            </a:pPr>
            <a:r>
              <a:rPr lang="en-US" sz="3200" b="1" dirty="0">
                <a:solidFill>
                  <a:schemeClr val="tx1"/>
                </a:solidFill>
              </a:rPr>
              <a:t>Live Demonstration</a:t>
            </a:r>
            <a:endParaRPr lang="en-US" sz="3200" dirty="0"/>
          </a:p>
        </p:txBody>
      </p:sp>
      <p:sp>
        <p:nvSpPr>
          <p:cNvPr id="3" name="demo step 1"/>
          <p:cNvSpPr/>
          <p:nvPr/>
        </p:nvSpPr>
        <p:spPr>
          <a:xfrm>
            <a:off x="548640" y="1417320"/>
            <a:ext cx="548640" cy="548640"/>
          </a:xfrm>
          <a:prstGeom prst="ellipse">
            <a:avLst/>
          </a:prstGeom>
          <a:solidFill>
            <a:schemeClr val="tx1"/>
          </a:solidFill>
          <a:ln/>
        </p:spPr>
      </p:sp>
      <p:sp>
        <p:nvSpPr>
          <p:cNvPr id="4" name="Text 2"/>
          <p:cNvSpPr txBox="1"/>
          <p:nvPr/>
        </p:nvSpPr>
        <p:spPr>
          <a:xfrm>
            <a:off x="548640"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280160" y="1399032"/>
            <a:ext cx="3108960" cy="868680"/>
          </a:xfrm>
          <a:prstGeom prst="rect">
            <a:avLst/>
          </a:prstGeom>
          <a:noFill/>
          <a:ln/>
        </p:spPr>
        <p:txBody>
          <a:bodyPr wrap="square" lIns="0" tIns="0" rIns="0" bIns="0" rtlCol="0" anchor="t"/>
          <a:lstStyle/>
          <a:p>
            <a:pPr indent="0" marL="0">
              <a:buNone/>
            </a:pPr>
            <a:r>
              <a:rPr lang="en-US" sz="1600" dirty="0">
                <a:solidFill>
                  <a:schemeClr val="tx1"/>
                </a:solidFill>
              </a:rPr>
              <a:t>Open the live site on laptop and phone</a:t>
            </a:r>
            <a:endParaRPr lang="en-US" sz="1600" dirty="0"/>
          </a:p>
          <a:p>
            <a:pPr indent="0" marL="0">
              <a:buNone/>
            </a:pPr>
            <a:r>
              <a:rPr lang="en-US" sz="1300" dirty="0">
                <a:solidFill>
                  <a:schemeClr val="accent1"/>
                </a:solidFill>
              </a:rPr>
              <a:t>Mahammad</a:t>
            </a:r>
            <a:endParaRPr lang="en-US" sz="1600" dirty="0"/>
          </a:p>
        </p:txBody>
      </p:sp>
      <p:sp>
        <p:nvSpPr>
          <p:cNvPr id="6" name="demo step 2"/>
          <p:cNvSpPr/>
          <p:nvPr/>
        </p:nvSpPr>
        <p:spPr>
          <a:xfrm>
            <a:off x="548640" y="2606040"/>
            <a:ext cx="548640" cy="548640"/>
          </a:xfrm>
          <a:prstGeom prst="ellipse">
            <a:avLst/>
          </a:prstGeom>
          <a:solidFill>
            <a:schemeClr val="tx1"/>
          </a:solidFill>
          <a:ln/>
        </p:spPr>
      </p:sp>
      <p:sp>
        <p:nvSpPr>
          <p:cNvPr id="7" name="Text 5"/>
          <p:cNvSpPr txBox="1"/>
          <p:nvPr/>
        </p:nvSpPr>
        <p:spPr>
          <a:xfrm>
            <a:off x="548640" y="26060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8" name="Text 6"/>
          <p:cNvSpPr txBox="1"/>
          <p:nvPr/>
        </p:nvSpPr>
        <p:spPr>
          <a:xfrm>
            <a:off x="1280160" y="2587752"/>
            <a:ext cx="3108960" cy="868680"/>
          </a:xfrm>
          <a:prstGeom prst="rect">
            <a:avLst/>
          </a:prstGeom>
          <a:noFill/>
          <a:ln/>
        </p:spPr>
        <p:txBody>
          <a:bodyPr wrap="square" lIns="0" tIns="0" rIns="0" bIns="0" rtlCol="0" anchor="t"/>
          <a:lstStyle/>
          <a:p>
            <a:pPr indent="0" marL="0">
              <a:buNone/>
            </a:pPr>
            <a:r>
              <a:rPr lang="en-US" sz="1600" dirty="0">
                <a:solidFill>
                  <a:schemeClr val="tx1"/>
                </a:solidFill>
              </a:rPr>
              <a:t>Sign up / Sign in with Google</a:t>
            </a:r>
            <a:endParaRPr lang="en-US" sz="1600" dirty="0"/>
          </a:p>
          <a:p>
            <a:pPr indent="0" marL="0">
              <a:buNone/>
            </a:pPr>
            <a:r>
              <a:rPr lang="en-US" sz="1300" dirty="0">
                <a:solidFill>
                  <a:schemeClr val="accent1"/>
                </a:solidFill>
              </a:rPr>
              <a:t>Ratul</a:t>
            </a:r>
            <a:endParaRPr lang="en-US" sz="1600" dirty="0"/>
          </a:p>
        </p:txBody>
      </p:sp>
      <p:sp>
        <p:nvSpPr>
          <p:cNvPr id="9" name="demo step 3"/>
          <p:cNvSpPr/>
          <p:nvPr/>
        </p:nvSpPr>
        <p:spPr>
          <a:xfrm>
            <a:off x="548640" y="3794760"/>
            <a:ext cx="548640" cy="548640"/>
          </a:xfrm>
          <a:prstGeom prst="ellipse">
            <a:avLst/>
          </a:prstGeom>
          <a:solidFill>
            <a:schemeClr val="tx1"/>
          </a:solidFill>
          <a:ln/>
        </p:spPr>
      </p:sp>
      <p:sp>
        <p:nvSpPr>
          <p:cNvPr id="10" name="Text 8"/>
          <p:cNvSpPr txBox="1"/>
          <p:nvPr/>
        </p:nvSpPr>
        <p:spPr>
          <a:xfrm>
            <a:off x="548640" y="3794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1" name="Text 9"/>
          <p:cNvSpPr txBox="1"/>
          <p:nvPr/>
        </p:nvSpPr>
        <p:spPr>
          <a:xfrm>
            <a:off x="1280160" y="3776472"/>
            <a:ext cx="3108960" cy="868680"/>
          </a:xfrm>
          <a:prstGeom prst="rect">
            <a:avLst/>
          </a:prstGeom>
          <a:noFill/>
          <a:ln/>
        </p:spPr>
        <p:txBody>
          <a:bodyPr wrap="square" lIns="0" tIns="0" rIns="0" bIns="0" rtlCol="0" anchor="t"/>
          <a:lstStyle/>
          <a:p>
            <a:pPr indent="0" marL="0">
              <a:buNone/>
            </a:pPr>
            <a:r>
              <a:rPr lang="en-US" sz="1600" dirty="0">
                <a:solidFill>
                  <a:schemeClr val="tx1"/>
                </a:solidFill>
              </a:rPr>
              <a:t>Upload a resume for a real job</a:t>
            </a:r>
            <a:endParaRPr lang="en-US" sz="1600" dirty="0"/>
          </a:p>
          <a:p>
            <a:pPr indent="0" marL="0">
              <a:buNone/>
            </a:pPr>
            <a:r>
              <a:rPr lang="en-US" sz="1300" dirty="0">
                <a:solidFill>
                  <a:schemeClr val="accent1"/>
                </a:solidFill>
              </a:rPr>
              <a:t>Sakib</a:t>
            </a:r>
            <a:endParaRPr lang="en-US" sz="1600" dirty="0"/>
          </a:p>
        </p:txBody>
      </p:sp>
      <p:sp>
        <p:nvSpPr>
          <p:cNvPr id="12" name="demo step 4"/>
          <p:cNvSpPr/>
          <p:nvPr/>
        </p:nvSpPr>
        <p:spPr>
          <a:xfrm>
            <a:off x="548640" y="4983480"/>
            <a:ext cx="548640" cy="548640"/>
          </a:xfrm>
          <a:prstGeom prst="ellipse">
            <a:avLst/>
          </a:prstGeom>
          <a:solidFill>
            <a:schemeClr val="tx1"/>
          </a:solidFill>
          <a:ln/>
        </p:spPr>
      </p:sp>
      <p:sp>
        <p:nvSpPr>
          <p:cNvPr id="13" name="Text 11"/>
          <p:cNvSpPr txBox="1"/>
          <p:nvPr/>
        </p:nvSpPr>
        <p:spPr>
          <a:xfrm>
            <a:off x="548640" y="49834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4" name="Text 12"/>
          <p:cNvSpPr txBox="1"/>
          <p:nvPr/>
        </p:nvSpPr>
        <p:spPr>
          <a:xfrm>
            <a:off x="1280160" y="4965192"/>
            <a:ext cx="3108960" cy="868680"/>
          </a:xfrm>
          <a:prstGeom prst="rect">
            <a:avLst/>
          </a:prstGeom>
          <a:noFill/>
          <a:ln/>
        </p:spPr>
        <p:txBody>
          <a:bodyPr wrap="square" lIns="0" tIns="0" rIns="0" bIns="0" rtlCol="0" anchor="t"/>
          <a:lstStyle/>
          <a:p>
            <a:pPr indent="0" marL="0">
              <a:buNone/>
            </a:pPr>
            <a:r>
              <a:rPr lang="en-US" sz="1600" dirty="0">
                <a:solidFill>
                  <a:schemeClr val="tx1"/>
                </a:solidFill>
              </a:rPr>
              <a:t>Read the scores and tips</a:t>
            </a:r>
            <a:endParaRPr lang="en-US" sz="1600" dirty="0"/>
          </a:p>
          <a:p>
            <a:pPr indent="0" marL="0">
              <a:buNone/>
            </a:pPr>
            <a:r>
              <a:rPr lang="en-US" sz="1300" dirty="0">
                <a:solidFill>
                  <a:schemeClr val="accent1"/>
                </a:solidFill>
              </a:rPr>
              <a:t>Sakib</a:t>
            </a:r>
            <a:endParaRPr lang="en-US" sz="1600" dirty="0"/>
          </a:p>
        </p:txBody>
      </p:sp>
      <p:sp>
        <p:nvSpPr>
          <p:cNvPr id="15" name="demo step 5"/>
          <p:cNvSpPr/>
          <p:nvPr/>
        </p:nvSpPr>
        <p:spPr>
          <a:xfrm>
            <a:off x="4526280" y="1417320"/>
            <a:ext cx="548640" cy="548640"/>
          </a:xfrm>
          <a:prstGeom prst="ellipse">
            <a:avLst/>
          </a:prstGeom>
          <a:solidFill>
            <a:schemeClr val="tx1"/>
          </a:solidFill>
          <a:ln/>
        </p:spPr>
      </p:sp>
      <p:sp>
        <p:nvSpPr>
          <p:cNvPr id="16" name="Text 14"/>
          <p:cNvSpPr txBox="1"/>
          <p:nvPr/>
        </p:nvSpPr>
        <p:spPr>
          <a:xfrm>
            <a:off x="4526280"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7" name="Text 15"/>
          <p:cNvSpPr txBox="1"/>
          <p:nvPr/>
        </p:nvSpPr>
        <p:spPr>
          <a:xfrm>
            <a:off x="5257800" y="1399032"/>
            <a:ext cx="3108960" cy="868680"/>
          </a:xfrm>
          <a:prstGeom prst="rect">
            <a:avLst/>
          </a:prstGeom>
          <a:noFill/>
          <a:ln/>
        </p:spPr>
        <p:txBody>
          <a:bodyPr wrap="square" lIns="0" tIns="0" rIns="0" bIns="0" rtlCol="0" anchor="t"/>
          <a:lstStyle/>
          <a:p>
            <a:pPr indent="0" marL="0">
              <a:buNone/>
            </a:pPr>
            <a:r>
              <a:rPr lang="en-US" sz="1600" dirty="0">
                <a:solidFill>
                  <a:schemeClr val="tx1"/>
                </a:solidFill>
              </a:rPr>
              <a:t>Improve to Europass, edit a line</a:t>
            </a:r>
            <a:endParaRPr lang="en-US" sz="1600" dirty="0"/>
          </a:p>
          <a:p>
            <a:pPr indent="0" marL="0">
              <a:buNone/>
            </a:pPr>
            <a:r>
              <a:rPr lang="en-US" sz="1300" dirty="0">
                <a:solidFill>
                  <a:schemeClr val="accent1"/>
                </a:solidFill>
              </a:rPr>
              <a:t>Sakib</a:t>
            </a:r>
            <a:endParaRPr lang="en-US" sz="1600" dirty="0"/>
          </a:p>
        </p:txBody>
      </p:sp>
      <p:sp>
        <p:nvSpPr>
          <p:cNvPr id="18" name="demo step 6"/>
          <p:cNvSpPr/>
          <p:nvPr/>
        </p:nvSpPr>
        <p:spPr>
          <a:xfrm>
            <a:off x="4526280" y="2606040"/>
            <a:ext cx="548640" cy="548640"/>
          </a:xfrm>
          <a:prstGeom prst="ellipse">
            <a:avLst/>
          </a:prstGeom>
          <a:solidFill>
            <a:schemeClr val="tx1"/>
          </a:solidFill>
          <a:ln/>
        </p:spPr>
      </p:sp>
      <p:sp>
        <p:nvSpPr>
          <p:cNvPr id="19" name="Text 17"/>
          <p:cNvSpPr txBox="1"/>
          <p:nvPr/>
        </p:nvSpPr>
        <p:spPr>
          <a:xfrm>
            <a:off x="4526280" y="26060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0" name="Text 18"/>
          <p:cNvSpPr txBox="1"/>
          <p:nvPr/>
        </p:nvSpPr>
        <p:spPr>
          <a:xfrm>
            <a:off x="5257800" y="2587752"/>
            <a:ext cx="3108960" cy="868680"/>
          </a:xfrm>
          <a:prstGeom prst="rect">
            <a:avLst/>
          </a:prstGeom>
          <a:noFill/>
          <a:ln/>
        </p:spPr>
        <p:txBody>
          <a:bodyPr wrap="square" lIns="0" tIns="0" rIns="0" bIns="0" rtlCol="0" anchor="t"/>
          <a:lstStyle/>
          <a:p>
            <a:pPr indent="0" marL="0">
              <a:buNone/>
            </a:pPr>
            <a:r>
              <a:rPr lang="en-US" sz="1600" dirty="0">
                <a:solidFill>
                  <a:schemeClr val="tx1"/>
                </a:solidFill>
              </a:rPr>
              <a:t>Score the improved CV</a:t>
            </a:r>
            <a:endParaRPr lang="en-US" sz="1600" dirty="0"/>
          </a:p>
          <a:p>
            <a:pPr indent="0" marL="0">
              <a:buNone/>
            </a:pPr>
            <a:r>
              <a:rPr lang="en-US" sz="1300" dirty="0">
                <a:solidFill>
                  <a:schemeClr val="accent1"/>
                </a:solidFill>
              </a:rPr>
              <a:t>Mahammad</a:t>
            </a:r>
            <a:endParaRPr lang="en-US" sz="1600" dirty="0"/>
          </a:p>
        </p:txBody>
      </p:sp>
      <p:sp>
        <p:nvSpPr>
          <p:cNvPr id="21" name="demo step 7"/>
          <p:cNvSpPr/>
          <p:nvPr/>
        </p:nvSpPr>
        <p:spPr>
          <a:xfrm>
            <a:off x="4526280" y="3794760"/>
            <a:ext cx="548640" cy="548640"/>
          </a:xfrm>
          <a:prstGeom prst="ellipse">
            <a:avLst/>
          </a:prstGeom>
          <a:solidFill>
            <a:schemeClr val="tx1"/>
          </a:solidFill>
          <a:ln/>
        </p:spPr>
      </p:sp>
      <p:sp>
        <p:nvSpPr>
          <p:cNvPr id="22" name="Text 20"/>
          <p:cNvSpPr txBox="1"/>
          <p:nvPr/>
        </p:nvSpPr>
        <p:spPr>
          <a:xfrm>
            <a:off x="4526280" y="3794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23" name="Text 21"/>
          <p:cNvSpPr txBox="1"/>
          <p:nvPr/>
        </p:nvSpPr>
        <p:spPr>
          <a:xfrm>
            <a:off x="5257800" y="3776472"/>
            <a:ext cx="3108960" cy="868680"/>
          </a:xfrm>
          <a:prstGeom prst="rect">
            <a:avLst/>
          </a:prstGeom>
          <a:noFill/>
          <a:ln/>
        </p:spPr>
        <p:txBody>
          <a:bodyPr wrap="square" lIns="0" tIns="0" rIns="0" bIns="0" rtlCol="0" anchor="t"/>
          <a:lstStyle/>
          <a:p>
            <a:pPr indent="0" marL="0">
              <a:buNone/>
            </a:pPr>
            <a:r>
              <a:rPr lang="en-US" sz="1600" dirty="0">
                <a:solidFill>
                  <a:schemeClr val="tx1"/>
                </a:solidFill>
              </a:rPr>
              <a:t>Generate and download the cover letter</a:t>
            </a:r>
            <a:endParaRPr lang="en-US" sz="1600" dirty="0"/>
          </a:p>
          <a:p>
            <a:pPr indent="0" marL="0">
              <a:buNone/>
            </a:pPr>
            <a:r>
              <a:rPr lang="en-US" sz="1300" dirty="0">
                <a:solidFill>
                  <a:schemeClr val="accent1"/>
                </a:solidFill>
              </a:rPr>
              <a:t>Mahammad</a:t>
            </a:r>
            <a:endParaRPr lang="en-US" sz="1600" dirty="0"/>
          </a:p>
        </p:txBody>
      </p:sp>
      <p:sp>
        <p:nvSpPr>
          <p:cNvPr id="24" name="demo step 8"/>
          <p:cNvSpPr/>
          <p:nvPr/>
        </p:nvSpPr>
        <p:spPr>
          <a:xfrm>
            <a:off x="4526280" y="4983480"/>
            <a:ext cx="548640" cy="548640"/>
          </a:xfrm>
          <a:prstGeom prst="ellipse">
            <a:avLst/>
          </a:prstGeom>
          <a:solidFill>
            <a:schemeClr val="tx1"/>
          </a:solidFill>
          <a:ln/>
        </p:spPr>
      </p:sp>
      <p:sp>
        <p:nvSpPr>
          <p:cNvPr id="25" name="Text 23"/>
          <p:cNvSpPr txBox="1"/>
          <p:nvPr/>
        </p:nvSpPr>
        <p:spPr>
          <a:xfrm>
            <a:off x="4526280" y="49834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8</a:t>
            </a:r>
            <a:endParaRPr lang="en-US" sz="1800" dirty="0"/>
          </a:p>
        </p:txBody>
      </p:sp>
      <p:sp>
        <p:nvSpPr>
          <p:cNvPr id="26" name="Text 24"/>
          <p:cNvSpPr txBox="1"/>
          <p:nvPr/>
        </p:nvSpPr>
        <p:spPr>
          <a:xfrm>
            <a:off x="5257800" y="4965192"/>
            <a:ext cx="3108960" cy="868680"/>
          </a:xfrm>
          <a:prstGeom prst="rect">
            <a:avLst/>
          </a:prstGeom>
          <a:noFill/>
          <a:ln/>
        </p:spPr>
        <p:txBody>
          <a:bodyPr wrap="square" lIns="0" tIns="0" rIns="0" bIns="0" rtlCol="0" anchor="t"/>
          <a:lstStyle/>
          <a:p>
            <a:pPr indent="0" marL="0">
              <a:buNone/>
            </a:pPr>
            <a:r>
              <a:rPr lang="en-US" sz="1600" dirty="0">
                <a:solidFill>
                  <a:schemeClr val="tx1"/>
                </a:solidFill>
              </a:rPr>
              <a:t>Dashboard history, CI and deployment</a:t>
            </a:r>
            <a:endParaRPr lang="en-US" sz="1600" dirty="0"/>
          </a:p>
          <a:p>
            <a:pPr indent="0" marL="0">
              <a:buNone/>
            </a:pPr>
            <a:r>
              <a:rPr lang="en-US" sz="1300" dirty="0">
                <a:solidFill>
                  <a:schemeClr val="accent1"/>
                </a:solidFill>
              </a:rPr>
              <a:t>Himel &amp; Ratul</a:t>
            </a:r>
            <a:endParaRPr lang="en-US" sz="1600" dirty="0"/>
          </a:p>
        </p:txBody>
      </p:sp>
      <p:pic>
        <p:nvPicPr>
          <p:cNvPr id="27" name="phone screenshot" descr="phone screenshot">    </p:cNvPr>
          <p:cNvPicPr>
            <a:picLocks noChangeAspect="1"/>
          </p:cNvPicPr>
          <p:nvPr/>
        </p:nvPicPr>
        <p:blipFill>
          <a:blip r:embed="rId1"/>
          <a:stretch>
            <a:fillRect/>
          </a:stretch>
        </p:blipFill>
        <p:spPr>
          <a:xfrm>
            <a:off x="9019570" y="1280160"/>
            <a:ext cx="2260540" cy="4892040"/>
          </a:xfrm>
          <a:prstGeom prst="rect">
            <a:avLst/>
          </a:prstGeom>
        </p:spPr>
      </p:pic>
      <p:sp>
        <p:nvSpPr>
          <p:cNvPr id="28" name="phone screenshot frame"/>
          <p:cNvSpPr/>
          <p:nvPr/>
        </p:nvSpPr>
        <p:spPr>
          <a:xfrm>
            <a:off x="9019570" y="1280160"/>
            <a:ext cx="2260540" cy="4892040"/>
          </a:xfrm>
          <a:prstGeom prst="rect">
            <a:avLst/>
          </a:prstGeom>
          <a:ln w="9525">
            <a:solidFill>
              <a:srgbClr val="D9DEE8"/>
            </a:solidFill>
            <a:prstDash val="solid"/>
          </a:ln>
        </p:spPr>
      </p:sp>
      <p:sp>
        <p:nvSpPr>
          <p:cNvPr id="25" name="Slide Number Placeholder 0"/>
          <p:cNvSpPr>
            <a:spLocks noGrp="1"/>
          </p:cNvSpPr>
          <p:nvPr>
            <p:ph type="sldNum" sz="quarter" idx="4294967295"/>
          </p:nvPr>
        </p:nvSpPr>
        <p:spPr>
          <a:xfrm>
            <a:off x="11201400" y="6419088"/>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777240"/>
          </a:xfrm>
          <a:prstGeom prst="rect">
            <a:avLst/>
          </a:prstGeom>
          <a:noFill/>
          <a:ln/>
        </p:spPr>
        <p:txBody>
          <a:bodyPr wrap="square" lIns="0" tIns="0" rIns="0" bIns="0" rtlCol="0" anchor="ctr"/>
          <a:lstStyle/>
          <a:p>
            <a:pPr algn="l" indent="0" marL="0">
              <a:buNone/>
            </a:pPr>
            <a:r>
              <a:rPr lang="en-US" sz="3200" b="1" dirty="0">
                <a:solidFill>
                  <a:schemeClr val="tx1"/>
                </a:solidFill>
              </a:rPr>
              <a:t>Screens (Backup for the Demo)</a:t>
            </a:r>
            <a:endParaRPr lang="en-US" sz="3200" dirty="0"/>
          </a:p>
        </p:txBody>
      </p:sp>
      <p:pic>
        <p:nvPicPr>
          <p:cNvPr id="3" name="Dashboard screenshot" descr="Dashboard screenshot">    </p:cNvPr>
          <p:cNvPicPr>
            <a:picLocks noChangeAspect="1"/>
          </p:cNvPicPr>
          <p:nvPr/>
        </p:nvPicPr>
        <p:blipFill>
          <a:blip r:embed="rId1"/>
          <a:stretch>
            <a:fillRect/>
          </a:stretch>
        </p:blipFill>
        <p:spPr>
          <a:xfrm>
            <a:off x="1513332" y="1280160"/>
            <a:ext cx="3511296" cy="2194560"/>
          </a:xfrm>
          <a:prstGeom prst="rect">
            <a:avLst/>
          </a:prstGeom>
        </p:spPr>
      </p:pic>
      <p:sp>
        <p:nvSpPr>
          <p:cNvPr id="4" name="Dashboard screenshot frame"/>
          <p:cNvSpPr/>
          <p:nvPr/>
        </p:nvSpPr>
        <p:spPr>
          <a:xfrm>
            <a:off x="1513332" y="1280160"/>
            <a:ext cx="3511296" cy="2194560"/>
          </a:xfrm>
          <a:prstGeom prst="rect">
            <a:avLst/>
          </a:prstGeom>
          <a:ln w="9525">
            <a:solidFill>
              <a:srgbClr val="D9DEE8"/>
            </a:solidFill>
            <a:prstDash val="solid"/>
          </a:ln>
        </p:spPr>
      </p:sp>
      <p:sp>
        <p:nvSpPr>
          <p:cNvPr id="5" name="Text 2"/>
          <p:cNvSpPr txBox="1"/>
          <p:nvPr/>
        </p:nvSpPr>
        <p:spPr>
          <a:xfrm>
            <a:off x="548640" y="3520440"/>
            <a:ext cx="5440680" cy="256032"/>
          </a:xfrm>
          <a:prstGeom prst="rect">
            <a:avLst/>
          </a:prstGeom>
          <a:noFill/>
          <a:ln/>
        </p:spPr>
        <p:txBody>
          <a:bodyPr wrap="square" lIns="0" tIns="0" rIns="0" bIns="0" rtlCol="0" anchor="t"/>
          <a:lstStyle/>
          <a:p>
            <a:pPr algn="ctr" indent="0" marL="0">
              <a:buNone/>
            </a:pPr>
            <a:r>
              <a:rPr lang="en-US" sz="1300" dirty="0">
                <a:solidFill>
                  <a:schemeClr val="tx2"/>
                </a:solidFill>
              </a:rPr>
              <a:t>Dashboard</a:t>
            </a:r>
            <a:endParaRPr lang="en-US" sz="1300" dirty="0"/>
          </a:p>
        </p:txBody>
      </p:sp>
      <p:pic>
        <p:nvPicPr>
          <p:cNvPr id="6" name="Analysis result screenshot" descr="Analysis result screenshot">    </p:cNvPr>
          <p:cNvPicPr>
            <a:picLocks noChangeAspect="1"/>
          </p:cNvPicPr>
          <p:nvPr/>
        </p:nvPicPr>
        <p:blipFill>
          <a:blip r:embed="rId2"/>
          <a:stretch>
            <a:fillRect/>
          </a:stretch>
        </p:blipFill>
        <p:spPr>
          <a:xfrm>
            <a:off x="7118604" y="1280160"/>
            <a:ext cx="3511296" cy="2194560"/>
          </a:xfrm>
          <a:prstGeom prst="rect">
            <a:avLst/>
          </a:prstGeom>
        </p:spPr>
      </p:pic>
      <p:sp>
        <p:nvSpPr>
          <p:cNvPr id="7" name="Analysis result screenshot frame"/>
          <p:cNvSpPr/>
          <p:nvPr/>
        </p:nvSpPr>
        <p:spPr>
          <a:xfrm>
            <a:off x="7118604" y="1280160"/>
            <a:ext cx="3511296" cy="2194560"/>
          </a:xfrm>
          <a:prstGeom prst="rect">
            <a:avLst/>
          </a:prstGeom>
          <a:ln w="9525">
            <a:solidFill>
              <a:srgbClr val="D9DEE8"/>
            </a:solidFill>
            <a:prstDash val="solid"/>
          </a:ln>
        </p:spPr>
      </p:sp>
      <p:sp>
        <p:nvSpPr>
          <p:cNvPr id="8" name="Text 4"/>
          <p:cNvSpPr txBox="1"/>
          <p:nvPr/>
        </p:nvSpPr>
        <p:spPr>
          <a:xfrm>
            <a:off x="6153912" y="3520440"/>
            <a:ext cx="5440680" cy="256032"/>
          </a:xfrm>
          <a:prstGeom prst="rect">
            <a:avLst/>
          </a:prstGeom>
          <a:noFill/>
          <a:ln/>
        </p:spPr>
        <p:txBody>
          <a:bodyPr wrap="square" lIns="0" tIns="0" rIns="0" bIns="0" rtlCol="0" anchor="t"/>
          <a:lstStyle/>
          <a:p>
            <a:pPr algn="ctr" indent="0" marL="0">
              <a:buNone/>
            </a:pPr>
            <a:r>
              <a:rPr lang="en-US" sz="1300" dirty="0">
                <a:solidFill>
                  <a:schemeClr val="tx2"/>
                </a:solidFill>
              </a:rPr>
              <a:t>Analysis result</a:t>
            </a:r>
            <a:endParaRPr lang="en-US" sz="1300" dirty="0"/>
          </a:p>
        </p:txBody>
      </p:sp>
      <p:pic>
        <p:nvPicPr>
          <p:cNvPr id="9" name="Europass CV screenshot" descr="Europass CV screenshot">    </p:cNvPr>
          <p:cNvPicPr>
            <a:picLocks noChangeAspect="1"/>
          </p:cNvPicPr>
          <p:nvPr/>
        </p:nvPicPr>
        <p:blipFill>
          <a:blip r:embed="rId3"/>
          <a:stretch>
            <a:fillRect/>
          </a:stretch>
        </p:blipFill>
        <p:spPr>
          <a:xfrm>
            <a:off x="1513332" y="3840480"/>
            <a:ext cx="3511296" cy="2194560"/>
          </a:xfrm>
          <a:prstGeom prst="rect">
            <a:avLst/>
          </a:prstGeom>
        </p:spPr>
      </p:pic>
      <p:sp>
        <p:nvSpPr>
          <p:cNvPr id="10" name="Europass CV screenshot frame"/>
          <p:cNvSpPr/>
          <p:nvPr/>
        </p:nvSpPr>
        <p:spPr>
          <a:xfrm>
            <a:off x="1513332" y="3840480"/>
            <a:ext cx="3511296" cy="2194560"/>
          </a:xfrm>
          <a:prstGeom prst="rect">
            <a:avLst/>
          </a:prstGeom>
          <a:ln w="9525">
            <a:solidFill>
              <a:srgbClr val="D9DEE8"/>
            </a:solidFill>
            <a:prstDash val="solid"/>
          </a:ln>
        </p:spPr>
      </p:sp>
      <p:sp>
        <p:nvSpPr>
          <p:cNvPr id="11" name="Text 6"/>
          <p:cNvSpPr txBox="1"/>
          <p:nvPr/>
        </p:nvSpPr>
        <p:spPr>
          <a:xfrm>
            <a:off x="548640" y="6080760"/>
            <a:ext cx="5440680" cy="256032"/>
          </a:xfrm>
          <a:prstGeom prst="rect">
            <a:avLst/>
          </a:prstGeom>
          <a:noFill/>
          <a:ln/>
        </p:spPr>
        <p:txBody>
          <a:bodyPr wrap="square" lIns="0" tIns="0" rIns="0" bIns="0" rtlCol="0" anchor="t"/>
          <a:lstStyle/>
          <a:p>
            <a:pPr algn="ctr" indent="0" marL="0">
              <a:buNone/>
            </a:pPr>
            <a:r>
              <a:rPr lang="en-US" sz="1300" dirty="0">
                <a:solidFill>
                  <a:schemeClr val="tx2"/>
                </a:solidFill>
              </a:rPr>
              <a:t>Europass CV</a:t>
            </a:r>
            <a:endParaRPr lang="en-US" sz="1300" dirty="0"/>
          </a:p>
        </p:txBody>
      </p:sp>
      <p:pic>
        <p:nvPicPr>
          <p:cNvPr id="12" name="Cover letter screenshot" descr="Cover letter screenshot">    </p:cNvPr>
          <p:cNvPicPr>
            <a:picLocks noChangeAspect="1"/>
          </p:cNvPicPr>
          <p:nvPr/>
        </p:nvPicPr>
        <p:blipFill>
          <a:blip r:embed="rId4"/>
          <a:stretch>
            <a:fillRect/>
          </a:stretch>
        </p:blipFill>
        <p:spPr>
          <a:xfrm>
            <a:off x="7118604" y="3840480"/>
            <a:ext cx="3511296" cy="2194560"/>
          </a:xfrm>
          <a:prstGeom prst="rect">
            <a:avLst/>
          </a:prstGeom>
        </p:spPr>
      </p:pic>
      <p:sp>
        <p:nvSpPr>
          <p:cNvPr id="13" name="Cover letter screenshot frame"/>
          <p:cNvSpPr/>
          <p:nvPr/>
        </p:nvSpPr>
        <p:spPr>
          <a:xfrm>
            <a:off x="7118604" y="3840480"/>
            <a:ext cx="3511296" cy="2194560"/>
          </a:xfrm>
          <a:prstGeom prst="rect">
            <a:avLst/>
          </a:prstGeom>
          <a:ln w="9525">
            <a:solidFill>
              <a:srgbClr val="D9DEE8"/>
            </a:solidFill>
            <a:prstDash val="solid"/>
          </a:ln>
        </p:spPr>
      </p:sp>
      <p:sp>
        <p:nvSpPr>
          <p:cNvPr id="14" name="Text 8"/>
          <p:cNvSpPr txBox="1"/>
          <p:nvPr/>
        </p:nvSpPr>
        <p:spPr>
          <a:xfrm>
            <a:off x="6153912" y="6080760"/>
            <a:ext cx="5440680" cy="256032"/>
          </a:xfrm>
          <a:prstGeom prst="rect">
            <a:avLst/>
          </a:prstGeom>
          <a:noFill/>
          <a:ln/>
        </p:spPr>
        <p:txBody>
          <a:bodyPr wrap="square" lIns="0" tIns="0" rIns="0" bIns="0" rtlCol="0" anchor="t"/>
          <a:lstStyle/>
          <a:p>
            <a:pPr algn="ctr" indent="0" marL="0">
              <a:buNone/>
            </a:pPr>
            <a:r>
              <a:rPr lang="en-US" sz="1300" dirty="0">
                <a:solidFill>
                  <a:schemeClr val="tx2"/>
                </a:solidFill>
              </a:rPr>
              <a:t>Cover letter</a:t>
            </a:r>
            <a:endParaRPr lang="en-US" sz="1300" dirty="0"/>
          </a:p>
        </p:txBody>
      </p:sp>
      <p:sp>
        <p:nvSpPr>
          <p:cNvPr id="25" name="Slide Number Placeholder 0"/>
          <p:cNvSpPr>
            <a:spLocks noGrp="1"/>
          </p:cNvSpPr>
          <p:nvPr>
            <p:ph type="sldNum" sz="quarter" idx="4294967295"/>
          </p:nvPr>
        </p:nvSpPr>
        <p:spPr>
          <a:xfrm>
            <a:off x="11201400" y="6419088"/>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777240"/>
          </a:xfrm>
          <a:prstGeom prst="rect">
            <a:avLst/>
          </a:prstGeom>
          <a:noFill/>
          <a:ln/>
        </p:spPr>
        <p:txBody>
          <a:bodyPr wrap="square" lIns="0" tIns="0" rIns="0" bIns="0" rtlCol="0" anchor="ctr"/>
          <a:lstStyle/>
          <a:p>
            <a:pPr algn="l" indent="0" marL="0">
              <a:buNone/>
            </a:pPr>
            <a:r>
              <a:rPr lang="en-US" sz="3200" b="1" dirty="0">
                <a:solidFill>
                  <a:schemeClr val="tx1"/>
                </a:solidFill>
              </a:rPr>
              <a:t>Challenges and Solutions</a:t>
            </a:r>
            <a:endParaRPr lang="en-US" sz="3200" dirty="0"/>
          </a:p>
        </p:txBody>
      </p:sp>
      <p:graphicFrame>
        <p:nvGraphicFramePr>
          <p:cNvPr id="18" name="challenge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4754880"/>
                <a:gridCol w="6336792"/>
              </a:tblGrid>
              <a:tr h="621792">
                <a:tc>
                  <a:txBody>
                    <a:bodyPr/>
                    <a:lstStyle/>
                    <a:p>
                      <a:pPr indent="0" marL="0">
                        <a:buNone/>
                      </a:pPr>
                      <a:r>
                        <a:rPr lang="en-US" sz="1600" b="1" dirty="0">
                          <a:solidFill>
                            <a:schemeClr val="bg1"/>
                          </a:solidFill>
                        </a:rPr>
                        <a:t>Challenge</a:t>
                      </a:r>
                      <a:endParaRPr lang="en-US" sz="1600" dirty="0"/>
                    </a:p>
                  </a:txBody>
                  <a:tcPr marL="91440" marR="91440" marT="91440" marB="91440"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rPr>
                        <a:t>How we solved it</a:t>
                      </a:r>
                      <a:endParaRPr lang="en-US" sz="1600" dirty="0"/>
                    </a:p>
                  </a:txBody>
                  <a:tcPr marL="91440" marR="91440" marT="91440" marB="91440"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solidFill>
                      <a:schemeClr val="tx1"/>
                    </a:solidFill>
                  </a:tcPr>
                </a:tc>
              </a:tr>
              <a:tr h="621792">
                <a:tc>
                  <a:txBody>
                    <a:bodyPr/>
                    <a:lstStyle/>
                    <a:p>
                      <a:pPr indent="0" marL="0">
                        <a:buNone/>
                      </a:pPr>
                      <a:r>
                        <a:rPr lang="en-US" sz="1600" dirty="0">
                          <a:solidFill>
                            <a:schemeClr val="tx1"/>
                          </a:solidFill>
                        </a:rPr>
                        <a:t>Inconsistent AI output</a:t>
                      </a:r>
                      <a:endParaRPr lang="en-US" sz="1600" dirty="0"/>
                    </a:p>
                  </a:txBody>
                  <a:tcPr marL="91440" marR="91440" marT="91440" marB="91440"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c>
                  <a:txBody>
                    <a:bodyPr/>
                    <a:lstStyle/>
                    <a:p>
                      <a:pPr indent="0" marL="0">
                        <a:buNone/>
                      </a:pPr>
                      <a:r>
                        <a:rPr lang="en-US" sz="1600" dirty="0">
                          <a:solidFill>
                            <a:schemeClr val="tx1"/>
                          </a:solidFill>
                        </a:rPr>
                        <a:t>Gemini JSON mode + strict schema + validation in code</a:t>
                      </a:r>
                      <a:endParaRPr lang="en-US" sz="1600" dirty="0"/>
                    </a:p>
                  </a:txBody>
                  <a:tcPr marL="91440" marR="91440" marT="91440" marB="91440"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r>
              <a:tr h="621792">
                <a:tc>
                  <a:txBody>
                    <a:bodyPr/>
                    <a:lstStyle/>
                    <a:p>
                      <a:pPr indent="0" marL="0">
                        <a:buNone/>
                      </a:pPr>
                      <a:r>
                        <a:rPr lang="en-US" sz="1600" dirty="0">
                          <a:solidFill>
                            <a:schemeClr val="tx1"/>
                          </a:solidFill>
                        </a:rPr>
                        <a:t>AI invented numbers and dates</a:t>
                      </a:r>
                      <a:endParaRPr lang="en-US" sz="1600" dirty="0"/>
                    </a:p>
                  </a:txBody>
                  <a:tcPr marL="91440" marR="91440" marT="91440" marB="91440"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c>
                  <a:txBody>
                    <a:bodyPr/>
                    <a:lstStyle/>
                    <a:p>
                      <a:pPr indent="0" marL="0">
                        <a:buNone/>
                      </a:pPr>
                      <a:r>
                        <a:rPr lang="en-US" sz="1600" dirty="0">
                          <a:solidFill>
                            <a:schemeClr val="tx1"/>
                          </a:solidFill>
                        </a:rPr>
                        <a:t>Deterministic post-check that inserts placeholders</a:t>
                      </a:r>
                      <a:endParaRPr lang="en-US" sz="1600" dirty="0"/>
                    </a:p>
                  </a:txBody>
                  <a:tcPr marL="91440" marR="91440" marT="91440" marB="91440"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r>
              <a:tr h="621792">
                <a:tc>
                  <a:txBody>
                    <a:bodyPr/>
                    <a:lstStyle/>
                    <a:p>
                      <a:pPr indent="0" marL="0">
                        <a:buNone/>
                      </a:pPr>
                      <a:r>
                        <a:rPr lang="en-US" sz="1600" dirty="0">
                          <a:solidFill>
                            <a:schemeClr val="tx1"/>
                          </a:solidFill>
                        </a:rPr>
                        <a:t>Gemini "high demand" errors</a:t>
                      </a:r>
                      <a:endParaRPr lang="en-US" sz="1600" dirty="0"/>
                    </a:p>
                  </a:txBody>
                  <a:tcPr marL="91440" marR="91440" marT="91440" marB="91440"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c>
                  <a:txBody>
                    <a:bodyPr/>
                    <a:lstStyle/>
                    <a:p>
                      <a:pPr indent="0" marL="0">
                        <a:buNone/>
                      </a:pPr>
                      <a:r>
                        <a:rPr lang="en-US" sz="1600" dirty="0">
                          <a:solidFill>
                            <a:schemeClr val="tx1"/>
                          </a:solidFill>
                        </a:rPr>
                        <a:t>Automatic retries with back-off and clear messages</a:t>
                      </a:r>
                      <a:endParaRPr lang="en-US" sz="1600" dirty="0"/>
                    </a:p>
                  </a:txBody>
                  <a:tcPr marL="91440" marR="91440" marT="91440" marB="91440"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r>
              <a:tr h="621792">
                <a:tc>
                  <a:txBody>
                    <a:bodyPr/>
                    <a:lstStyle/>
                    <a:p>
                      <a:pPr indent="0" marL="0">
                        <a:buNone/>
                      </a:pPr>
                      <a:r>
                        <a:rPr lang="en-US" sz="1600" dirty="0">
                          <a:solidFill>
                            <a:schemeClr val="tx1"/>
                          </a:solidFill>
                        </a:rPr>
                        <a:t>Uploaded files lost on redeploy</a:t>
                      </a:r>
                      <a:endParaRPr lang="en-US" sz="1600" dirty="0"/>
                    </a:p>
                  </a:txBody>
                  <a:tcPr marL="91440" marR="91440" marT="91440" marB="91440"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c>
                  <a:txBody>
                    <a:bodyPr/>
                    <a:lstStyle/>
                    <a:p>
                      <a:pPr indent="0" marL="0">
                        <a:buNone/>
                      </a:pPr>
                      <a:r>
                        <a:rPr lang="en-US" sz="1600" dirty="0">
                          <a:solidFill>
                            <a:schemeClr val="tx1"/>
                          </a:solidFill>
                        </a:rPr>
                        <a:t>Moved file storage to MongoDB GridFS</a:t>
                      </a:r>
                      <a:endParaRPr lang="en-US" sz="1600" dirty="0"/>
                    </a:p>
                  </a:txBody>
                  <a:tcPr marL="91440" marR="91440" marT="91440" marB="91440"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r>
              <a:tr h="621792">
                <a:tc>
                  <a:txBody>
                    <a:bodyPr/>
                    <a:lstStyle/>
                    <a:p>
                      <a:pPr indent="0" marL="0">
                        <a:buNone/>
                      </a:pPr>
                      <a:r>
                        <a:rPr lang="en-US" sz="1600" dirty="0">
                          <a:solidFill>
                            <a:schemeClr val="tx1"/>
                          </a:solidFill>
                        </a:rPr>
                        <a:t>One rate limit for all users behind Render's proxy</a:t>
                      </a:r>
                      <a:endParaRPr lang="en-US" sz="1600" dirty="0"/>
                    </a:p>
                  </a:txBody>
                  <a:tcPr marL="91440" marR="91440" marT="91440" marB="91440"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c>
                  <a:txBody>
                    <a:bodyPr/>
                    <a:lstStyle/>
                    <a:p>
                      <a:pPr indent="0" marL="0">
                        <a:buNone/>
                      </a:pPr>
                      <a:r>
                        <a:rPr lang="en-US" sz="1600" dirty="0">
                          <a:solidFill>
                            <a:schemeClr val="tx1"/>
                          </a:solidFill>
                        </a:rPr>
                        <a:t>TRUST_PROXY so each visitor's real IP is counted</a:t>
                      </a:r>
                      <a:endParaRPr lang="en-US" sz="1600" dirty="0"/>
                    </a:p>
                  </a:txBody>
                  <a:tcPr marL="91440" marR="91440" marT="91440" marB="91440"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r>
              <a:tr h="621792">
                <a:tc>
                  <a:txBody>
                    <a:bodyPr/>
                    <a:lstStyle/>
                    <a:p>
                      <a:pPr indent="0" marL="0">
                        <a:buNone/>
                      </a:pPr>
                      <a:r>
                        <a:rPr lang="en-US" sz="1600" dirty="0">
                          <a:solidFill>
                            <a:schemeClr val="tx1"/>
                          </a:solidFill>
                        </a:rPr>
                        <a:t>Document-heavy pages on phones</a:t>
                      </a:r>
                      <a:endParaRPr lang="en-US" sz="1600" dirty="0"/>
                    </a:p>
                  </a:txBody>
                  <a:tcPr marL="91440" marR="91440" marT="91440" marB="91440"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c>
                  <a:txBody>
                    <a:bodyPr/>
                    <a:lstStyle/>
                    <a:p>
                      <a:pPr indent="0" marL="0">
                        <a:buNone/>
                      </a:pPr>
                      <a:r>
                        <a:rPr lang="en-US" sz="1600" dirty="0">
                          <a:solidFill>
                            <a:schemeClr val="tx1"/>
                          </a:solidFill>
                        </a:rPr>
                        <a:t>Mobile-first layout and A4 sheets that scale</a:t>
                      </a:r>
                      <a:endParaRPr lang="en-US" sz="1600" dirty="0"/>
                    </a:p>
                  </a:txBody>
                  <a:tcPr marL="91440" marR="91440" marT="91440" marB="91440" anchor="ctr">
                    <a:lnL w="9525" cap="flat" cmpd="sng" algn="ctr">
                      <a:solidFill>
                        <a:srgbClr val="D9DEE8"/>
                      </a:solidFill>
                      <a:prstDash val="solid"/>
                      <a:round/>
                      <a:headEnd type="none" w="med" len="med"/>
                      <a:tailEnd type="none" w="med" len="med"/>
                    </a:lnL>
                    <a:lnR w="9525" cap="flat" cmpd="sng" algn="ctr">
                      <a:solidFill>
                        <a:srgbClr val="D9DEE8"/>
                      </a:solidFill>
                      <a:prstDash val="solid"/>
                      <a:round/>
                      <a:headEnd type="none" w="med" len="med"/>
                      <a:tailEnd type="none" w="med" len="med"/>
                    </a:lnR>
                    <a:lnT w="9525" cap="flat" cmpd="sng" algn="ctr">
                      <a:solidFill>
                        <a:srgbClr val="D9DEE8"/>
                      </a:solidFill>
                      <a:prstDash val="solid"/>
                      <a:round/>
                      <a:headEnd type="none" w="med" len="med"/>
                      <a:tailEnd type="none" w="med" len="med"/>
                    </a:lnT>
                    <a:lnB w="9525" cap="flat" cmpd="sng" algn="ctr">
                      <a:solidFill>
                        <a:srgbClr val="D9DEE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01400" y="6419088"/>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777240"/>
          </a:xfrm>
          <a:prstGeom prst="rect">
            <a:avLst/>
          </a:prstGeom>
          <a:noFill/>
          <a:ln/>
        </p:spPr>
        <p:txBody>
          <a:bodyPr wrap="square" lIns="0" tIns="0" rIns="0" bIns="0" rtlCol="0" anchor="ctr"/>
          <a:lstStyle/>
          <a:p>
            <a:pPr algn="l" indent="0" marL="0">
              <a:buNone/>
            </a:pPr>
            <a:r>
              <a:rPr lang="en-US" sz="3200" b="1" dirty="0">
                <a:solidFill>
                  <a:schemeClr val="tx1"/>
                </a:solidFill>
              </a:rPr>
              <a:t>Future Improvements</a:t>
            </a:r>
            <a:endParaRPr lang="en-US" sz="3200" dirty="0"/>
          </a:p>
        </p:txBody>
      </p:sp>
      <p:sp>
        <p:nvSpPr>
          <p:cNvPr id="3" name="future box 1"/>
          <p:cNvSpPr/>
          <p:nvPr/>
        </p:nvSpPr>
        <p:spPr>
          <a:xfrm>
            <a:off x="548640" y="1417320"/>
            <a:ext cx="3566160" cy="2103120"/>
          </a:xfrm>
          <a:prstGeom prst="rect">
            <a:avLst/>
          </a:prstGeom>
          <a:solidFill>
            <a:schemeClr val="bg2"/>
          </a:solidFill>
          <a:ln w="9525">
            <a:solidFill>
              <a:srgbClr val="D9DEE8"/>
            </a:solidFill>
            <a:prstDash val="solid"/>
          </a:ln>
        </p:spPr>
      </p:sp>
      <p:sp>
        <p:nvSpPr>
          <p:cNvPr id="4" name="future icon 1 circle"/>
          <p:cNvSpPr/>
          <p:nvPr/>
        </p:nvSpPr>
        <p:spPr>
          <a:xfrm>
            <a:off x="777240" y="1645920"/>
            <a:ext cx="603504" cy="603504"/>
          </a:xfrm>
          <a:prstGeom prst="ellipse">
            <a:avLst/>
          </a:prstGeom>
          <a:solidFill>
            <a:schemeClr val="bg1"/>
          </a:solidFill>
          <a:ln w="9525">
            <a:solidFill>
              <a:srgbClr val="D9DEE8"/>
            </a:solidFill>
            <a:prstDash val="solid"/>
          </a:ln>
        </p:spPr>
      </p:sp>
      <p:pic>
        <p:nvPicPr>
          <p:cNvPr id="5" name="future icon 1" descr="future icon 1">    </p:cNvPr>
          <p:cNvPicPr>
            <a:picLocks noChangeAspect="1"/>
          </p:cNvPicPr>
          <p:nvPr/>
        </p:nvPicPr>
        <p:blipFill>
          <a:blip r:embed="rId1"/>
          <a:stretch>
            <a:fillRect/>
          </a:stretch>
        </p:blipFill>
        <p:spPr>
          <a:xfrm>
            <a:off x="928116" y="1796796"/>
            <a:ext cx="301752" cy="301752"/>
          </a:xfrm>
          <a:prstGeom prst="rect">
            <a:avLst/>
          </a:prstGeom>
        </p:spPr>
      </p:pic>
      <p:sp>
        <p:nvSpPr>
          <p:cNvPr id="6" name="Text 3"/>
          <p:cNvSpPr txBox="1"/>
          <p:nvPr/>
        </p:nvSpPr>
        <p:spPr>
          <a:xfrm>
            <a:off x="777240" y="2377440"/>
            <a:ext cx="3108960" cy="411480"/>
          </a:xfrm>
          <a:prstGeom prst="rect">
            <a:avLst/>
          </a:prstGeom>
          <a:noFill/>
          <a:ln/>
        </p:spPr>
        <p:txBody>
          <a:bodyPr wrap="square" lIns="0" tIns="0" rIns="0" bIns="0" rtlCol="0" anchor="t"/>
          <a:lstStyle/>
          <a:p>
            <a:pPr indent="0" marL="0">
              <a:buNone/>
            </a:pPr>
            <a:r>
              <a:rPr lang="en-US" sz="1800" b="1" dirty="0">
                <a:solidFill>
                  <a:schemeClr val="tx1"/>
                </a:solidFill>
              </a:rPr>
              <a:t>OCR for scanned PDFs</a:t>
            </a:r>
            <a:endParaRPr lang="en-US" sz="1800" dirty="0"/>
          </a:p>
        </p:txBody>
      </p:sp>
      <p:sp>
        <p:nvSpPr>
          <p:cNvPr id="7" name="Text 4"/>
          <p:cNvSpPr txBox="1"/>
          <p:nvPr/>
        </p:nvSpPr>
        <p:spPr>
          <a:xfrm>
            <a:off x="777240" y="2788920"/>
            <a:ext cx="3108960" cy="594360"/>
          </a:xfrm>
          <a:prstGeom prst="rect">
            <a:avLst/>
          </a:prstGeom>
          <a:noFill/>
          <a:ln/>
        </p:spPr>
        <p:txBody>
          <a:bodyPr wrap="square" lIns="0" tIns="0" rIns="0" bIns="0" rtlCol="0" anchor="t"/>
          <a:lstStyle/>
          <a:p>
            <a:pPr indent="0" marL="0">
              <a:buNone/>
            </a:pPr>
            <a:r>
              <a:rPr lang="en-US" sz="1500" dirty="0">
                <a:solidFill>
                  <a:schemeClr val="tx2"/>
                </a:solidFill>
              </a:rPr>
              <a:t>Read image-only resumes and DOCX files</a:t>
            </a:r>
            <a:endParaRPr lang="en-US" sz="1500" dirty="0"/>
          </a:p>
        </p:txBody>
      </p:sp>
      <p:sp>
        <p:nvSpPr>
          <p:cNvPr id="8" name="future box 2"/>
          <p:cNvSpPr/>
          <p:nvPr/>
        </p:nvSpPr>
        <p:spPr>
          <a:xfrm>
            <a:off x="4297680" y="1417320"/>
            <a:ext cx="3566160" cy="2103120"/>
          </a:xfrm>
          <a:prstGeom prst="rect">
            <a:avLst/>
          </a:prstGeom>
          <a:solidFill>
            <a:schemeClr val="bg2"/>
          </a:solidFill>
          <a:ln w="9525">
            <a:solidFill>
              <a:srgbClr val="D9DEE8"/>
            </a:solidFill>
            <a:prstDash val="solid"/>
          </a:ln>
        </p:spPr>
      </p:sp>
      <p:sp>
        <p:nvSpPr>
          <p:cNvPr id="9" name="future icon 2 circle"/>
          <p:cNvSpPr/>
          <p:nvPr/>
        </p:nvSpPr>
        <p:spPr>
          <a:xfrm>
            <a:off x="4526280" y="1645920"/>
            <a:ext cx="603504" cy="603504"/>
          </a:xfrm>
          <a:prstGeom prst="ellipse">
            <a:avLst/>
          </a:prstGeom>
          <a:solidFill>
            <a:schemeClr val="bg1"/>
          </a:solidFill>
          <a:ln w="9525">
            <a:solidFill>
              <a:srgbClr val="D9DEE8"/>
            </a:solidFill>
            <a:prstDash val="solid"/>
          </a:ln>
        </p:spPr>
      </p:sp>
      <p:pic>
        <p:nvPicPr>
          <p:cNvPr id="10" name="future icon 2" descr="future icon 2">    </p:cNvPr>
          <p:cNvPicPr>
            <a:picLocks noChangeAspect="1"/>
          </p:cNvPicPr>
          <p:nvPr/>
        </p:nvPicPr>
        <p:blipFill>
          <a:blip r:embed="rId2"/>
          <a:stretch>
            <a:fillRect/>
          </a:stretch>
        </p:blipFill>
        <p:spPr>
          <a:xfrm>
            <a:off x="4677156" y="1796796"/>
            <a:ext cx="301752" cy="301752"/>
          </a:xfrm>
          <a:prstGeom prst="rect">
            <a:avLst/>
          </a:prstGeom>
        </p:spPr>
      </p:pic>
      <p:sp>
        <p:nvSpPr>
          <p:cNvPr id="11" name="Text 7"/>
          <p:cNvSpPr txBox="1"/>
          <p:nvPr/>
        </p:nvSpPr>
        <p:spPr>
          <a:xfrm>
            <a:off x="4526280" y="2377440"/>
            <a:ext cx="3108960" cy="411480"/>
          </a:xfrm>
          <a:prstGeom prst="rect">
            <a:avLst/>
          </a:prstGeom>
          <a:noFill/>
          <a:ln/>
        </p:spPr>
        <p:txBody>
          <a:bodyPr wrap="square" lIns="0" tIns="0" rIns="0" bIns="0" rtlCol="0" anchor="t"/>
          <a:lstStyle/>
          <a:p>
            <a:pPr indent="0" marL="0">
              <a:buNone/>
            </a:pPr>
            <a:r>
              <a:rPr lang="en-US" sz="1800" b="1" dirty="0">
                <a:solidFill>
                  <a:schemeClr val="tx1"/>
                </a:solidFill>
              </a:rPr>
              <a:t>Job link import</a:t>
            </a:r>
            <a:endParaRPr lang="en-US" sz="1800" dirty="0"/>
          </a:p>
        </p:txBody>
      </p:sp>
      <p:sp>
        <p:nvSpPr>
          <p:cNvPr id="12" name="Text 8"/>
          <p:cNvSpPr txBox="1"/>
          <p:nvPr/>
        </p:nvSpPr>
        <p:spPr>
          <a:xfrm>
            <a:off x="4526280" y="2788920"/>
            <a:ext cx="3108960" cy="594360"/>
          </a:xfrm>
          <a:prstGeom prst="rect">
            <a:avLst/>
          </a:prstGeom>
          <a:noFill/>
          <a:ln/>
        </p:spPr>
        <p:txBody>
          <a:bodyPr wrap="square" lIns="0" tIns="0" rIns="0" bIns="0" rtlCol="0" anchor="t"/>
          <a:lstStyle/>
          <a:p>
            <a:pPr indent="0" marL="0">
              <a:buNone/>
            </a:pPr>
            <a:r>
              <a:rPr lang="en-US" sz="1500" dirty="0">
                <a:solidFill>
                  <a:schemeClr val="tx2"/>
                </a:solidFill>
              </a:rPr>
              <a:t>Paste a LinkedIn or BDJobs link</a:t>
            </a:r>
            <a:endParaRPr lang="en-US" sz="1500" dirty="0"/>
          </a:p>
        </p:txBody>
      </p:sp>
      <p:sp>
        <p:nvSpPr>
          <p:cNvPr id="13" name="future box 3"/>
          <p:cNvSpPr/>
          <p:nvPr/>
        </p:nvSpPr>
        <p:spPr>
          <a:xfrm>
            <a:off x="8046720" y="1417320"/>
            <a:ext cx="3566160" cy="2103120"/>
          </a:xfrm>
          <a:prstGeom prst="rect">
            <a:avLst/>
          </a:prstGeom>
          <a:solidFill>
            <a:schemeClr val="bg2"/>
          </a:solidFill>
          <a:ln w="9525">
            <a:solidFill>
              <a:srgbClr val="D9DEE8"/>
            </a:solidFill>
            <a:prstDash val="solid"/>
          </a:ln>
        </p:spPr>
      </p:sp>
      <p:sp>
        <p:nvSpPr>
          <p:cNvPr id="14" name="future icon 3 circle"/>
          <p:cNvSpPr/>
          <p:nvPr/>
        </p:nvSpPr>
        <p:spPr>
          <a:xfrm>
            <a:off x="8275320" y="1645920"/>
            <a:ext cx="603504" cy="603504"/>
          </a:xfrm>
          <a:prstGeom prst="ellipse">
            <a:avLst/>
          </a:prstGeom>
          <a:solidFill>
            <a:schemeClr val="bg1"/>
          </a:solidFill>
          <a:ln w="9525">
            <a:solidFill>
              <a:srgbClr val="D9DEE8"/>
            </a:solidFill>
            <a:prstDash val="solid"/>
          </a:ln>
        </p:spPr>
      </p:sp>
      <p:pic>
        <p:nvPicPr>
          <p:cNvPr id="15" name="future icon 3" descr="future icon 3">    </p:cNvPr>
          <p:cNvPicPr>
            <a:picLocks noChangeAspect="1"/>
          </p:cNvPicPr>
          <p:nvPr/>
        </p:nvPicPr>
        <p:blipFill>
          <a:blip r:embed="rId3"/>
          <a:stretch>
            <a:fillRect/>
          </a:stretch>
        </p:blipFill>
        <p:spPr>
          <a:xfrm>
            <a:off x="8426196" y="1796796"/>
            <a:ext cx="301752" cy="301752"/>
          </a:xfrm>
          <a:prstGeom prst="rect">
            <a:avLst/>
          </a:prstGeom>
        </p:spPr>
      </p:pic>
      <p:sp>
        <p:nvSpPr>
          <p:cNvPr id="16" name="Text 11"/>
          <p:cNvSpPr txBox="1"/>
          <p:nvPr/>
        </p:nvSpPr>
        <p:spPr>
          <a:xfrm>
            <a:off x="8275320" y="2377440"/>
            <a:ext cx="3108960" cy="411480"/>
          </a:xfrm>
          <a:prstGeom prst="rect">
            <a:avLst/>
          </a:prstGeom>
          <a:noFill/>
          <a:ln/>
        </p:spPr>
        <p:txBody>
          <a:bodyPr wrap="square" lIns="0" tIns="0" rIns="0" bIns="0" rtlCol="0" anchor="t"/>
          <a:lstStyle/>
          <a:p>
            <a:pPr indent="0" marL="0">
              <a:buNone/>
            </a:pPr>
            <a:r>
              <a:rPr lang="en-US" sz="1800" b="1" dirty="0">
                <a:solidFill>
                  <a:schemeClr val="tx1"/>
                </a:solidFill>
              </a:rPr>
              <a:t>Interview practice</a:t>
            </a:r>
            <a:endParaRPr lang="en-US" sz="1800" dirty="0"/>
          </a:p>
        </p:txBody>
      </p:sp>
      <p:sp>
        <p:nvSpPr>
          <p:cNvPr id="17" name="Text 12"/>
          <p:cNvSpPr txBox="1"/>
          <p:nvPr/>
        </p:nvSpPr>
        <p:spPr>
          <a:xfrm>
            <a:off x="8275320" y="2788920"/>
            <a:ext cx="3108960" cy="594360"/>
          </a:xfrm>
          <a:prstGeom prst="rect">
            <a:avLst/>
          </a:prstGeom>
          <a:noFill/>
          <a:ln/>
        </p:spPr>
        <p:txBody>
          <a:bodyPr wrap="square" lIns="0" tIns="0" rIns="0" bIns="0" rtlCol="0" anchor="t"/>
          <a:lstStyle/>
          <a:p>
            <a:pPr indent="0" marL="0">
              <a:buNone/>
            </a:pPr>
            <a:r>
              <a:rPr lang="en-US" sz="1500" dirty="0">
                <a:solidFill>
                  <a:schemeClr val="tx2"/>
                </a:solidFill>
              </a:rPr>
              <a:t>AI questions from the CV and the job</a:t>
            </a:r>
            <a:endParaRPr lang="en-US" sz="1500" dirty="0"/>
          </a:p>
        </p:txBody>
      </p:sp>
      <p:sp>
        <p:nvSpPr>
          <p:cNvPr id="18" name="future box 4"/>
          <p:cNvSpPr/>
          <p:nvPr/>
        </p:nvSpPr>
        <p:spPr>
          <a:xfrm>
            <a:off x="548640" y="3794760"/>
            <a:ext cx="3566160" cy="2103120"/>
          </a:xfrm>
          <a:prstGeom prst="rect">
            <a:avLst/>
          </a:prstGeom>
          <a:solidFill>
            <a:schemeClr val="bg2"/>
          </a:solidFill>
          <a:ln w="9525">
            <a:solidFill>
              <a:srgbClr val="D9DEE8"/>
            </a:solidFill>
            <a:prstDash val="solid"/>
          </a:ln>
        </p:spPr>
      </p:sp>
      <p:sp>
        <p:nvSpPr>
          <p:cNvPr id="19" name="future icon 4 circle"/>
          <p:cNvSpPr/>
          <p:nvPr/>
        </p:nvSpPr>
        <p:spPr>
          <a:xfrm>
            <a:off x="777240" y="4023360"/>
            <a:ext cx="603504" cy="603504"/>
          </a:xfrm>
          <a:prstGeom prst="ellipse">
            <a:avLst/>
          </a:prstGeom>
          <a:solidFill>
            <a:schemeClr val="bg1"/>
          </a:solidFill>
          <a:ln w="9525">
            <a:solidFill>
              <a:srgbClr val="D9DEE8"/>
            </a:solidFill>
            <a:prstDash val="solid"/>
          </a:ln>
        </p:spPr>
      </p:sp>
      <p:pic>
        <p:nvPicPr>
          <p:cNvPr id="20" name="future icon 4" descr="future icon 4">    </p:cNvPr>
          <p:cNvPicPr>
            <a:picLocks noChangeAspect="1"/>
          </p:cNvPicPr>
          <p:nvPr/>
        </p:nvPicPr>
        <p:blipFill>
          <a:blip r:embed="rId4"/>
          <a:stretch>
            <a:fillRect/>
          </a:stretch>
        </p:blipFill>
        <p:spPr>
          <a:xfrm>
            <a:off x="928116" y="4174236"/>
            <a:ext cx="301752" cy="301752"/>
          </a:xfrm>
          <a:prstGeom prst="rect">
            <a:avLst/>
          </a:prstGeom>
        </p:spPr>
      </p:pic>
      <p:sp>
        <p:nvSpPr>
          <p:cNvPr id="21" name="Text 15"/>
          <p:cNvSpPr txBox="1"/>
          <p:nvPr/>
        </p:nvSpPr>
        <p:spPr>
          <a:xfrm>
            <a:off x="777240" y="4754880"/>
            <a:ext cx="3108960" cy="411480"/>
          </a:xfrm>
          <a:prstGeom prst="rect">
            <a:avLst/>
          </a:prstGeom>
          <a:noFill/>
          <a:ln/>
        </p:spPr>
        <p:txBody>
          <a:bodyPr wrap="square" lIns="0" tIns="0" rIns="0" bIns="0" rtlCol="0" anchor="t"/>
          <a:lstStyle/>
          <a:p>
            <a:pPr indent="0" marL="0">
              <a:buNone/>
            </a:pPr>
            <a:r>
              <a:rPr lang="en-US" sz="1800" b="1" dirty="0">
                <a:solidFill>
                  <a:schemeClr val="tx1"/>
                </a:solidFill>
              </a:rPr>
              <a:t>Bangla support</a:t>
            </a:r>
            <a:endParaRPr lang="en-US" sz="1800" dirty="0"/>
          </a:p>
        </p:txBody>
      </p:sp>
      <p:sp>
        <p:nvSpPr>
          <p:cNvPr id="22" name="Text 16"/>
          <p:cNvSpPr txBox="1"/>
          <p:nvPr/>
        </p:nvSpPr>
        <p:spPr>
          <a:xfrm>
            <a:off x="777240" y="5166360"/>
            <a:ext cx="3108960" cy="594360"/>
          </a:xfrm>
          <a:prstGeom prst="rect">
            <a:avLst/>
          </a:prstGeom>
          <a:noFill/>
          <a:ln/>
        </p:spPr>
        <p:txBody>
          <a:bodyPr wrap="square" lIns="0" tIns="0" rIns="0" bIns="0" rtlCol="0" anchor="t"/>
          <a:lstStyle/>
          <a:p>
            <a:pPr indent="0" marL="0">
              <a:buNone/>
            </a:pPr>
            <a:r>
              <a:rPr lang="en-US" sz="1500" dirty="0">
                <a:solidFill>
                  <a:schemeClr val="tx2"/>
                </a:solidFill>
              </a:rPr>
              <a:t>Interface and feedback in Bangla</a:t>
            </a:r>
            <a:endParaRPr lang="en-US" sz="1500" dirty="0"/>
          </a:p>
        </p:txBody>
      </p:sp>
      <p:sp>
        <p:nvSpPr>
          <p:cNvPr id="23" name="future box 5"/>
          <p:cNvSpPr/>
          <p:nvPr/>
        </p:nvSpPr>
        <p:spPr>
          <a:xfrm>
            <a:off x="4297680" y="3794760"/>
            <a:ext cx="3566160" cy="2103120"/>
          </a:xfrm>
          <a:prstGeom prst="rect">
            <a:avLst/>
          </a:prstGeom>
          <a:solidFill>
            <a:schemeClr val="bg2"/>
          </a:solidFill>
          <a:ln w="9525">
            <a:solidFill>
              <a:srgbClr val="D9DEE8"/>
            </a:solidFill>
            <a:prstDash val="solid"/>
          </a:ln>
        </p:spPr>
      </p:sp>
      <p:sp>
        <p:nvSpPr>
          <p:cNvPr id="24" name="future icon 5 circle"/>
          <p:cNvSpPr/>
          <p:nvPr/>
        </p:nvSpPr>
        <p:spPr>
          <a:xfrm>
            <a:off x="4526280" y="4023360"/>
            <a:ext cx="603504" cy="603504"/>
          </a:xfrm>
          <a:prstGeom prst="ellipse">
            <a:avLst/>
          </a:prstGeom>
          <a:solidFill>
            <a:schemeClr val="bg1"/>
          </a:solidFill>
          <a:ln w="9525">
            <a:solidFill>
              <a:srgbClr val="D9DEE8"/>
            </a:solidFill>
            <a:prstDash val="solid"/>
          </a:ln>
        </p:spPr>
      </p:sp>
      <p:pic>
        <p:nvPicPr>
          <p:cNvPr id="25" name="future icon 5" descr="future icon 5">    </p:cNvPr>
          <p:cNvPicPr>
            <a:picLocks noChangeAspect="1"/>
          </p:cNvPicPr>
          <p:nvPr/>
        </p:nvPicPr>
        <p:blipFill>
          <a:blip r:embed="rId5"/>
          <a:stretch>
            <a:fillRect/>
          </a:stretch>
        </p:blipFill>
        <p:spPr>
          <a:xfrm>
            <a:off x="4677156" y="4174236"/>
            <a:ext cx="301752" cy="301752"/>
          </a:xfrm>
          <a:prstGeom prst="rect">
            <a:avLst/>
          </a:prstGeom>
        </p:spPr>
      </p:pic>
      <p:sp>
        <p:nvSpPr>
          <p:cNvPr id="26" name="Text 19"/>
          <p:cNvSpPr txBox="1"/>
          <p:nvPr/>
        </p:nvSpPr>
        <p:spPr>
          <a:xfrm>
            <a:off x="4526280" y="4754880"/>
            <a:ext cx="3108960" cy="411480"/>
          </a:xfrm>
          <a:prstGeom prst="rect">
            <a:avLst/>
          </a:prstGeom>
          <a:noFill/>
          <a:ln/>
        </p:spPr>
        <p:txBody>
          <a:bodyPr wrap="square" lIns="0" tIns="0" rIns="0" bIns="0" rtlCol="0" anchor="t"/>
          <a:lstStyle/>
          <a:p>
            <a:pPr indent="0" marL="0">
              <a:buNone/>
            </a:pPr>
            <a:r>
              <a:rPr lang="en-US" sz="1800" b="1" dirty="0">
                <a:solidFill>
                  <a:schemeClr val="tx1"/>
                </a:solidFill>
              </a:rPr>
              <a:t>Native mobile app</a:t>
            </a:r>
            <a:endParaRPr lang="en-US" sz="1800" dirty="0"/>
          </a:p>
        </p:txBody>
      </p:sp>
      <p:sp>
        <p:nvSpPr>
          <p:cNvPr id="27" name="Text 20"/>
          <p:cNvSpPr txBox="1"/>
          <p:nvPr/>
        </p:nvSpPr>
        <p:spPr>
          <a:xfrm>
            <a:off x="4526280" y="5166360"/>
            <a:ext cx="3108960" cy="594360"/>
          </a:xfrm>
          <a:prstGeom prst="rect">
            <a:avLst/>
          </a:prstGeom>
          <a:noFill/>
          <a:ln/>
        </p:spPr>
        <p:txBody>
          <a:bodyPr wrap="square" lIns="0" tIns="0" rIns="0" bIns="0" rtlCol="0" anchor="t"/>
          <a:lstStyle/>
          <a:p>
            <a:pPr indent="0" marL="0">
              <a:buNone/>
            </a:pPr>
            <a:r>
              <a:rPr lang="en-US" sz="1500" dirty="0">
                <a:solidFill>
                  <a:schemeClr val="tx2"/>
                </a:solidFill>
              </a:rPr>
              <a:t>React Native on the same REST API</a:t>
            </a:r>
            <a:endParaRPr lang="en-US" sz="1500" dirty="0"/>
          </a:p>
        </p:txBody>
      </p:sp>
      <p:sp>
        <p:nvSpPr>
          <p:cNvPr id="28" name="future box 6"/>
          <p:cNvSpPr/>
          <p:nvPr/>
        </p:nvSpPr>
        <p:spPr>
          <a:xfrm>
            <a:off x="8046720" y="3794760"/>
            <a:ext cx="3566160" cy="2103120"/>
          </a:xfrm>
          <a:prstGeom prst="rect">
            <a:avLst/>
          </a:prstGeom>
          <a:solidFill>
            <a:schemeClr val="bg2"/>
          </a:solidFill>
          <a:ln w="9525">
            <a:solidFill>
              <a:srgbClr val="D9DEE8"/>
            </a:solidFill>
            <a:prstDash val="solid"/>
          </a:ln>
        </p:spPr>
      </p:sp>
      <p:sp>
        <p:nvSpPr>
          <p:cNvPr id="29" name="future icon 6 circle"/>
          <p:cNvSpPr/>
          <p:nvPr/>
        </p:nvSpPr>
        <p:spPr>
          <a:xfrm>
            <a:off x="8275320" y="4023360"/>
            <a:ext cx="603504" cy="603504"/>
          </a:xfrm>
          <a:prstGeom prst="ellipse">
            <a:avLst/>
          </a:prstGeom>
          <a:solidFill>
            <a:schemeClr val="bg1"/>
          </a:solidFill>
          <a:ln w="9525">
            <a:solidFill>
              <a:srgbClr val="D9DEE8"/>
            </a:solidFill>
            <a:prstDash val="solid"/>
          </a:ln>
        </p:spPr>
      </p:sp>
      <p:pic>
        <p:nvPicPr>
          <p:cNvPr id="30" name="future icon 6" descr="future icon 6">    </p:cNvPr>
          <p:cNvPicPr>
            <a:picLocks noChangeAspect="1"/>
          </p:cNvPicPr>
          <p:nvPr/>
        </p:nvPicPr>
        <p:blipFill>
          <a:blip r:embed="rId6"/>
          <a:stretch>
            <a:fillRect/>
          </a:stretch>
        </p:blipFill>
        <p:spPr>
          <a:xfrm>
            <a:off x="8426196" y="4174236"/>
            <a:ext cx="301752" cy="301752"/>
          </a:xfrm>
          <a:prstGeom prst="rect">
            <a:avLst/>
          </a:prstGeom>
        </p:spPr>
      </p:pic>
      <p:sp>
        <p:nvSpPr>
          <p:cNvPr id="31" name="Text 23"/>
          <p:cNvSpPr txBox="1"/>
          <p:nvPr/>
        </p:nvSpPr>
        <p:spPr>
          <a:xfrm>
            <a:off x="8275320" y="4754880"/>
            <a:ext cx="3108960" cy="411480"/>
          </a:xfrm>
          <a:prstGeom prst="rect">
            <a:avLst/>
          </a:prstGeom>
          <a:noFill/>
          <a:ln/>
        </p:spPr>
        <p:txBody>
          <a:bodyPr wrap="square" lIns="0" tIns="0" rIns="0" bIns="0" rtlCol="0" anchor="t"/>
          <a:lstStyle/>
          <a:p>
            <a:pPr indent="0" marL="0">
              <a:buNone/>
            </a:pPr>
            <a:r>
              <a:rPr lang="en-US" sz="1800" b="1" dirty="0">
                <a:solidFill>
                  <a:schemeClr val="tx1"/>
                </a:solidFill>
              </a:rPr>
              <a:t>Recruiter mode</a:t>
            </a:r>
            <a:endParaRPr lang="en-US" sz="1800" dirty="0"/>
          </a:p>
        </p:txBody>
      </p:sp>
      <p:sp>
        <p:nvSpPr>
          <p:cNvPr id="32" name="Text 24"/>
          <p:cNvSpPr txBox="1"/>
          <p:nvPr/>
        </p:nvSpPr>
        <p:spPr>
          <a:xfrm>
            <a:off x="8275320" y="5166360"/>
            <a:ext cx="3108960" cy="594360"/>
          </a:xfrm>
          <a:prstGeom prst="rect">
            <a:avLst/>
          </a:prstGeom>
          <a:noFill/>
          <a:ln/>
        </p:spPr>
        <p:txBody>
          <a:bodyPr wrap="square" lIns="0" tIns="0" rIns="0" bIns="0" rtlCol="0" anchor="t"/>
          <a:lstStyle/>
          <a:p>
            <a:pPr indent="0" marL="0">
              <a:buNone/>
            </a:pPr>
            <a:r>
              <a:rPr lang="en-US" sz="1500" dirty="0">
                <a:solidFill>
                  <a:schemeClr val="tx2"/>
                </a:solidFill>
              </a:rPr>
              <a:t>Rank many resumes for one job</a:t>
            </a:r>
            <a:endParaRPr lang="en-US" sz="1500" dirty="0"/>
          </a:p>
        </p:txBody>
      </p:sp>
      <p:sp>
        <p:nvSpPr>
          <p:cNvPr id="25" name="Slide Number Placeholder 0"/>
          <p:cNvSpPr>
            <a:spLocks noGrp="1"/>
          </p:cNvSpPr>
          <p:nvPr>
            <p:ph type="sldNum" sz="quarter" idx="4294967295"/>
          </p:nvPr>
        </p:nvSpPr>
        <p:spPr>
          <a:xfrm>
            <a:off x="11201400" y="6419088"/>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777240"/>
          </a:xfrm>
          <a:prstGeom prst="rect">
            <a:avLst/>
          </a:prstGeom>
          <a:noFill/>
          <a:ln/>
        </p:spPr>
        <p:txBody>
          <a:bodyPr wrap="square" lIns="0" tIns="0" rIns="0" bIns="0" rtlCol="0" anchor="ctr"/>
          <a:lstStyle/>
          <a:p>
            <a:pPr algn="l" indent="0" marL="0">
              <a:buNone/>
            </a:pPr>
            <a:r>
              <a:rPr lang="en-US" sz="3200" b="1" dirty="0">
                <a:solidFill>
                  <a:schemeClr val="tx1"/>
                </a:solidFill>
              </a:rPr>
              <a:t>Conclusion</a:t>
            </a:r>
            <a:endParaRPr lang="en-US" sz="3200" dirty="0"/>
          </a:p>
        </p:txBody>
      </p:sp>
      <p:sp>
        <p:nvSpPr>
          <p:cNvPr id="3" name="Text 1"/>
          <p:cNvSpPr txBox="1"/>
          <p:nvPr/>
        </p:nvSpPr>
        <p:spPr>
          <a:xfrm>
            <a:off x="548640" y="1417320"/>
            <a:ext cx="6766560" cy="4754880"/>
          </a:xfrm>
          <a:prstGeom prst="rect">
            <a:avLst/>
          </a:prstGeom>
          <a:noFill/>
          <a:ln/>
        </p:spPr>
        <p:txBody>
          <a:bodyPr wrap="square" lIns="0" tIns="0" rIns="0" bIns="0" rtlCol="0" anchor="t"/>
          <a:lstStyle/>
          <a:p>
            <a:pPr marL="228600" indent="-228600">
              <a:spcAft>
                <a:spcPts val="1400"/>
              </a:spcAft>
              <a:buSzPct val="100000"/>
              <a:buChar char="•"/>
            </a:pPr>
            <a:r>
              <a:rPr lang="en-US" sz="1900" dirty="0">
                <a:solidFill>
                  <a:schemeClr val="tx1"/>
                </a:solidFill>
              </a:rPr>
              <a:t>RESUMIND turns a confusing step of job hunting into a guided, explainable process</a:t>
            </a:r>
            <a:endParaRPr lang="en-US" sz="1900" dirty="0"/>
          </a:p>
          <a:p>
            <a:pPr marL="228600" indent="-228600">
              <a:spcAft>
                <a:spcPts val="1400"/>
              </a:spcAft>
              <a:buSzPct val="100000"/>
              <a:buChar char="•"/>
            </a:pPr>
            <a:r>
              <a:rPr lang="en-US" sz="1900" dirty="0">
                <a:solidFill>
                  <a:schemeClr val="tx1"/>
                </a:solidFill>
              </a:rPr>
              <a:t>All eight objectives of the proposal are achieved</a:t>
            </a:r>
            <a:endParaRPr lang="en-US" sz="1900" dirty="0"/>
          </a:p>
          <a:p>
            <a:pPr marL="228600" indent="-228600">
              <a:spcAft>
                <a:spcPts val="1400"/>
              </a:spcAft>
              <a:buSzPct val="100000"/>
              <a:buChar char="•"/>
            </a:pPr>
            <a:r>
              <a:rPr lang="en-US" sz="1900" dirty="0">
                <a:solidFill>
                  <a:schemeClr val="tx1"/>
                </a:solidFill>
              </a:rPr>
              <a:t>Own secure backend, database following the ERD and four AI features with safeguards</a:t>
            </a:r>
            <a:endParaRPr lang="en-US" sz="1900" dirty="0"/>
          </a:p>
          <a:p>
            <a:pPr marL="228600" indent="-228600">
              <a:spcAft>
                <a:spcPts val="1400"/>
              </a:spcAft>
              <a:buSzPct val="100000"/>
              <a:buChar char="•"/>
            </a:pPr>
            <a:r>
              <a:rPr lang="en-US" sz="1900" dirty="0">
                <a:solidFill>
                  <a:schemeClr val="tx1"/>
                </a:solidFill>
              </a:rPr>
              <a:t>48 automated tests with continuous integration</a:t>
            </a:r>
            <a:endParaRPr lang="en-US" sz="1900" dirty="0"/>
          </a:p>
          <a:p>
            <a:pPr marL="228600" indent="-228600">
              <a:spcAft>
                <a:spcPts val="1400"/>
              </a:spcAft>
              <a:buSzPct val="100000"/>
              <a:buChar char="•"/>
            </a:pPr>
            <a:r>
              <a:rPr lang="en-US" sz="1900" dirty="0">
                <a:solidFill>
                  <a:schemeClr val="tx1"/>
                </a:solidFill>
              </a:rPr>
              <a:t>Publicly deployed and usable on any device</a:t>
            </a:r>
            <a:endParaRPr lang="en-US" sz="1900" dirty="0"/>
          </a:p>
        </p:txBody>
      </p:sp>
      <p:sp>
        <p:nvSpPr>
          <p:cNvPr id="4" name="links box"/>
          <p:cNvSpPr/>
          <p:nvPr/>
        </p:nvSpPr>
        <p:spPr>
          <a:xfrm>
            <a:off x="7680960" y="1417320"/>
            <a:ext cx="3959352" cy="4663440"/>
          </a:xfrm>
          <a:prstGeom prst="rect">
            <a:avLst/>
          </a:prstGeom>
          <a:solidFill>
            <a:schemeClr val="bg1"/>
          </a:solidFill>
          <a:ln w="9525">
            <a:solidFill>
              <a:srgbClr val="D9DEE8"/>
            </a:solidFill>
            <a:prstDash val="solid"/>
          </a:ln>
        </p:spPr>
      </p:sp>
      <p:pic>
        <p:nvPicPr>
          <p:cNvPr id="5" name="QR live app" descr="QR code to the live app">    </p:cNvPr>
          <p:cNvPicPr>
            <a:picLocks noChangeAspect="1"/>
          </p:cNvPicPr>
          <p:nvPr/>
        </p:nvPicPr>
        <p:blipFill>
          <a:blip r:embed="rId1"/>
          <a:stretch>
            <a:fillRect/>
          </a:stretch>
        </p:blipFill>
        <p:spPr>
          <a:xfrm>
            <a:off x="8595360" y="1645920"/>
            <a:ext cx="2130552" cy="2130552"/>
          </a:xfrm>
          <a:prstGeom prst="rect">
            <a:avLst/>
          </a:prstGeom>
        </p:spPr>
      </p:pic>
      <p:sp>
        <p:nvSpPr>
          <p:cNvPr id="6" name="Text 3"/>
          <p:cNvSpPr txBox="1"/>
          <p:nvPr/>
        </p:nvSpPr>
        <p:spPr>
          <a:xfrm>
            <a:off x="7863840" y="3977640"/>
            <a:ext cx="3593592" cy="2011680"/>
          </a:xfrm>
          <a:prstGeom prst="rect">
            <a:avLst/>
          </a:prstGeom>
          <a:noFill/>
          <a:ln/>
        </p:spPr>
        <p:txBody>
          <a:bodyPr wrap="square" lIns="0" tIns="0" rIns="0" bIns="0" rtlCol="0" anchor="t"/>
          <a:lstStyle/>
          <a:p>
            <a:pPr algn="ctr" indent="0" marL="0">
              <a:buNone/>
            </a:pPr>
            <a:r>
              <a:rPr lang="en-US" sz="1400" b="1" dirty="0">
                <a:solidFill>
                  <a:schemeClr val="tx1"/>
                </a:solidFill>
              </a:rPr>
              <a:t>Live app</a:t>
            </a:r>
            <a:endParaRPr lang="en-US" sz="1400" dirty="0"/>
          </a:p>
          <a:p>
            <a:pPr algn="ctr" indent="0" marL="0">
              <a:buNone/>
            </a:pPr>
            <a:r>
              <a:rPr lang="en-US" sz="1400" dirty="0">
                <a:solidFill>
                  <a:schemeClr val="accent1"/>
                </a:solidFill>
              </a:rPr>
              <a:t>ai-resume-analyzer-psi-lime.vercel.app</a:t>
            </a:r>
            <a:endParaRPr lang="en-US" sz="1400" dirty="0"/>
          </a:p>
          <a:p>
            <a:pPr algn="ctr" indent="0" marL="0">
              <a:buNone/>
            </a:pPr>
            <a:r>
              <a:rPr lang="en-US" sz="600" dirty="0">
                <a:solidFill>
                  <a:schemeClr val="tx1"/>
                </a:solidFill>
              </a:rPr>
              <a:t> </a:t>
            </a:r>
            <a:endParaRPr lang="en-US" sz="1400" dirty="0"/>
          </a:p>
          <a:p>
            <a:pPr algn="ctr" indent="0" marL="0">
              <a:buNone/>
            </a:pPr>
            <a:r>
              <a:rPr lang="en-US" sz="1400" b="1" dirty="0">
                <a:solidFill>
                  <a:schemeClr val="tx1"/>
                </a:solidFill>
              </a:rPr>
              <a:t>Source code</a:t>
            </a:r>
            <a:endParaRPr lang="en-US" sz="1400" dirty="0"/>
          </a:p>
          <a:p>
            <a:pPr algn="ctr" indent="0" marL="0">
              <a:buNone/>
            </a:pPr>
            <a:r>
              <a:rPr lang="en-US" sz="1400" dirty="0">
                <a:solidFill>
                  <a:schemeClr val="accent1"/>
                </a:solidFill>
              </a:rPr>
              <a:t>github.com/mahamud894/AI_Resume_Analyzer</a:t>
            </a:r>
            <a:endParaRPr lang="en-US" sz="1400" dirty="0"/>
          </a:p>
        </p:txBody>
      </p:sp>
      <p:sp>
        <p:nvSpPr>
          <p:cNvPr id="25" name="Slide Number Placeholder 0"/>
          <p:cNvSpPr>
            <a:spLocks noGrp="1"/>
          </p:cNvSpPr>
          <p:nvPr>
            <p:ph type="sldNum" sz="quarter" idx="4294967295"/>
          </p:nvPr>
        </p:nvSpPr>
        <p:spPr>
          <a:xfrm>
            <a:off x="11201400" y="6419088"/>
            <a:ext cx="4389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822960"/>
            <a:ext cx="11091672" cy="822960"/>
          </a:xfrm>
          <a:prstGeom prst="rect">
            <a:avLst/>
          </a:prstGeom>
          <a:noFill/>
          <a:ln/>
        </p:spPr>
        <p:txBody>
          <a:bodyPr wrap="square" lIns="0" tIns="0" rIns="0" bIns="0" rtlCol="0" anchor="t"/>
          <a:lstStyle/>
          <a:p>
            <a:pPr algn="ctr" indent="0" marL="0">
              <a:buNone/>
            </a:pPr>
            <a:r>
              <a:rPr lang="en-US" sz="4800" b="1" dirty="0">
                <a:solidFill>
                  <a:schemeClr val="tx1"/>
                </a:solidFill>
              </a:rPr>
              <a:t>Thank You</a:t>
            </a:r>
            <a:endParaRPr lang="en-US" sz="4800" dirty="0"/>
          </a:p>
        </p:txBody>
      </p:sp>
      <p:sp>
        <p:nvSpPr>
          <p:cNvPr id="3" name="Text 1"/>
          <p:cNvSpPr txBox="1"/>
          <p:nvPr/>
        </p:nvSpPr>
        <p:spPr>
          <a:xfrm>
            <a:off x="548640" y="1645920"/>
            <a:ext cx="11091672" cy="457200"/>
          </a:xfrm>
          <a:prstGeom prst="rect">
            <a:avLst/>
          </a:prstGeom>
          <a:noFill/>
          <a:ln/>
        </p:spPr>
        <p:txBody>
          <a:bodyPr wrap="square" lIns="0" tIns="0" rIns="0" bIns="0" rtlCol="0" anchor="t"/>
          <a:lstStyle/>
          <a:p>
            <a:pPr algn="ctr" indent="0" marL="0">
              <a:buNone/>
            </a:pPr>
            <a:r>
              <a:rPr lang="en-US" sz="2400" dirty="0">
                <a:solidFill>
                  <a:schemeClr val="accent1"/>
                </a:solidFill>
              </a:rPr>
              <a:t>Questions?</a:t>
            </a:r>
            <a:endParaRPr lang="en-US" sz="2400" dirty="0"/>
          </a:p>
        </p:txBody>
      </p:sp>
      <p:pic>
        <p:nvPicPr>
          <p:cNvPr id="4" name="Mahammad Hasan photo" descr="Mahammad Hasan">    </p:cNvPr>
          <p:cNvPicPr>
            <a:picLocks noChangeAspect="1"/>
          </p:cNvPicPr>
          <p:nvPr/>
        </p:nvPicPr>
        <p:blipFill>
          <a:blip r:embed="rId1"/>
          <a:stretch>
            <a:fillRect/>
          </a:stretch>
        </p:blipFill>
        <p:spPr>
          <a:xfrm>
            <a:off x="1234440" y="2423160"/>
            <a:ext cx="1737360" cy="1737360"/>
          </a:xfrm>
          <a:prstGeom prst="ellipse">
            <a:avLst/>
          </a:prstGeom>
        </p:spPr>
      </p:pic>
      <p:sp>
        <p:nvSpPr>
          <p:cNvPr id="5" name="Text 2"/>
          <p:cNvSpPr txBox="1"/>
          <p:nvPr/>
        </p:nvSpPr>
        <p:spPr>
          <a:xfrm>
            <a:off x="822960" y="4270248"/>
            <a:ext cx="2560320" cy="365760"/>
          </a:xfrm>
          <a:prstGeom prst="rect">
            <a:avLst/>
          </a:prstGeom>
          <a:noFill/>
          <a:ln/>
        </p:spPr>
        <p:txBody>
          <a:bodyPr wrap="square" lIns="0" tIns="0" rIns="0" bIns="0" rtlCol="0" anchor="t"/>
          <a:lstStyle/>
          <a:p>
            <a:pPr algn="ctr" indent="0" marL="0">
              <a:buNone/>
            </a:pPr>
            <a:r>
              <a:rPr lang="en-US" sz="1700" b="1" dirty="0">
                <a:solidFill>
                  <a:schemeClr val="tx1"/>
                </a:solidFill>
              </a:rPr>
              <a:t>Mahammad Hasan</a:t>
            </a:r>
            <a:endParaRPr lang="en-US" sz="1700" dirty="0"/>
          </a:p>
        </p:txBody>
      </p:sp>
      <p:sp>
        <p:nvSpPr>
          <p:cNvPr id="6" name="Text 3"/>
          <p:cNvSpPr txBox="1"/>
          <p:nvPr/>
        </p:nvSpPr>
        <p:spPr>
          <a:xfrm>
            <a:off x="822960" y="4636008"/>
            <a:ext cx="2560320" cy="274320"/>
          </a:xfrm>
          <a:prstGeom prst="rect">
            <a:avLst/>
          </a:prstGeom>
          <a:noFill/>
          <a:ln/>
        </p:spPr>
        <p:txBody>
          <a:bodyPr wrap="square" lIns="0" tIns="0" rIns="0" bIns="0" rtlCol="0" anchor="t"/>
          <a:lstStyle/>
          <a:p>
            <a:pPr algn="ctr" indent="0" marL="0">
              <a:buNone/>
            </a:pPr>
            <a:r>
              <a:rPr lang="en-US" sz="1300" dirty="0">
                <a:solidFill>
                  <a:schemeClr val="accent1"/>
                </a:solidFill>
              </a:rPr>
              <a:t>11220320828</a:t>
            </a:r>
            <a:endParaRPr lang="en-US" sz="1300" dirty="0"/>
          </a:p>
        </p:txBody>
      </p:sp>
      <p:sp>
        <p:nvSpPr>
          <p:cNvPr id="7" name="Text 4"/>
          <p:cNvSpPr txBox="1"/>
          <p:nvPr/>
        </p:nvSpPr>
        <p:spPr>
          <a:xfrm>
            <a:off x="822960" y="4910328"/>
            <a:ext cx="2560320" cy="274320"/>
          </a:xfrm>
          <a:prstGeom prst="rect">
            <a:avLst/>
          </a:prstGeom>
          <a:noFill/>
          <a:ln/>
        </p:spPr>
        <p:txBody>
          <a:bodyPr wrap="square" lIns="0" tIns="0" rIns="0" bIns="0" rtlCol="0" anchor="t"/>
          <a:lstStyle/>
          <a:p>
            <a:pPr algn="ctr" indent="0" marL="0">
              <a:buNone/>
            </a:pPr>
            <a:r>
              <a:rPr lang="en-US" sz="1300" dirty="0">
                <a:solidFill>
                  <a:schemeClr val="tx2"/>
                </a:solidFill>
              </a:rPr>
              <a:t>Team Leader</a:t>
            </a:r>
            <a:endParaRPr lang="en-US" sz="1300" dirty="0"/>
          </a:p>
        </p:txBody>
      </p:sp>
      <p:pic>
        <p:nvPicPr>
          <p:cNvPr id="8" name="Shanawaz Sakib photo" descr="Shanawaz Sakib">    </p:cNvPr>
          <p:cNvPicPr>
            <a:picLocks noChangeAspect="1"/>
          </p:cNvPicPr>
          <p:nvPr/>
        </p:nvPicPr>
        <p:blipFill>
          <a:blip r:embed="rId2"/>
          <a:stretch>
            <a:fillRect/>
          </a:stretch>
        </p:blipFill>
        <p:spPr>
          <a:xfrm>
            <a:off x="3931920" y="2423160"/>
            <a:ext cx="1737360" cy="1737360"/>
          </a:xfrm>
          <a:prstGeom prst="ellipse">
            <a:avLst/>
          </a:prstGeom>
        </p:spPr>
      </p:pic>
      <p:sp>
        <p:nvSpPr>
          <p:cNvPr id="9" name="Text 5"/>
          <p:cNvSpPr txBox="1"/>
          <p:nvPr/>
        </p:nvSpPr>
        <p:spPr>
          <a:xfrm>
            <a:off x="3520440" y="4270248"/>
            <a:ext cx="2560320" cy="365760"/>
          </a:xfrm>
          <a:prstGeom prst="rect">
            <a:avLst/>
          </a:prstGeom>
          <a:noFill/>
          <a:ln/>
        </p:spPr>
        <p:txBody>
          <a:bodyPr wrap="square" lIns="0" tIns="0" rIns="0" bIns="0" rtlCol="0" anchor="t"/>
          <a:lstStyle/>
          <a:p>
            <a:pPr algn="ctr" indent="0" marL="0">
              <a:buNone/>
            </a:pPr>
            <a:r>
              <a:rPr lang="en-US" sz="1700" b="1" dirty="0">
                <a:solidFill>
                  <a:schemeClr val="tx1"/>
                </a:solidFill>
              </a:rPr>
              <a:t>Shanawaz Sakib</a:t>
            </a:r>
            <a:endParaRPr lang="en-US" sz="1700" dirty="0"/>
          </a:p>
        </p:txBody>
      </p:sp>
      <p:sp>
        <p:nvSpPr>
          <p:cNvPr id="10" name="Text 6"/>
          <p:cNvSpPr txBox="1"/>
          <p:nvPr/>
        </p:nvSpPr>
        <p:spPr>
          <a:xfrm>
            <a:off x="3520440" y="4636008"/>
            <a:ext cx="2560320" cy="274320"/>
          </a:xfrm>
          <a:prstGeom prst="rect">
            <a:avLst/>
          </a:prstGeom>
          <a:noFill/>
          <a:ln/>
        </p:spPr>
        <p:txBody>
          <a:bodyPr wrap="square" lIns="0" tIns="0" rIns="0" bIns="0" rtlCol="0" anchor="t"/>
          <a:lstStyle/>
          <a:p>
            <a:pPr algn="ctr" indent="0" marL="0">
              <a:buNone/>
            </a:pPr>
            <a:r>
              <a:rPr lang="en-US" sz="1300" dirty="0">
                <a:solidFill>
                  <a:schemeClr val="accent1"/>
                </a:solidFill>
              </a:rPr>
              <a:t>11220320916</a:t>
            </a:r>
            <a:endParaRPr lang="en-US" sz="1300" dirty="0"/>
          </a:p>
        </p:txBody>
      </p:sp>
      <p:sp>
        <p:nvSpPr>
          <p:cNvPr id="11" name="Text 7"/>
          <p:cNvSpPr txBox="1"/>
          <p:nvPr/>
        </p:nvSpPr>
        <p:spPr>
          <a:xfrm>
            <a:off x="3520440" y="4910328"/>
            <a:ext cx="2560320" cy="274320"/>
          </a:xfrm>
          <a:prstGeom prst="rect">
            <a:avLst/>
          </a:prstGeom>
          <a:noFill/>
          <a:ln/>
        </p:spPr>
        <p:txBody>
          <a:bodyPr wrap="square" lIns="0" tIns="0" rIns="0" bIns="0" rtlCol="0" anchor="t"/>
          <a:lstStyle/>
          <a:p>
            <a:pPr algn="ctr" indent="0" marL="0">
              <a:buNone/>
            </a:pPr>
            <a:r>
              <a:rPr lang="en-US" sz="1300" dirty="0">
                <a:solidFill>
                  <a:schemeClr val="tx2"/>
                </a:solidFill>
              </a:rPr>
              <a:t>Core System Integration</a:t>
            </a:r>
            <a:endParaRPr lang="en-US" sz="1300" dirty="0"/>
          </a:p>
        </p:txBody>
      </p:sp>
      <p:pic>
        <p:nvPicPr>
          <p:cNvPr id="12" name="Ashikur Rahman Himel photo" descr="Ashikur Rahman Himel">    </p:cNvPr>
          <p:cNvPicPr>
            <a:picLocks noChangeAspect="1"/>
          </p:cNvPicPr>
          <p:nvPr/>
        </p:nvPicPr>
        <p:blipFill>
          <a:blip r:embed="rId3"/>
          <a:stretch>
            <a:fillRect/>
          </a:stretch>
        </p:blipFill>
        <p:spPr>
          <a:xfrm>
            <a:off x="6629400" y="2423160"/>
            <a:ext cx="1737360" cy="1737360"/>
          </a:xfrm>
          <a:prstGeom prst="ellipse">
            <a:avLst/>
          </a:prstGeom>
        </p:spPr>
      </p:pic>
      <p:sp>
        <p:nvSpPr>
          <p:cNvPr id="13" name="Text 8"/>
          <p:cNvSpPr txBox="1"/>
          <p:nvPr/>
        </p:nvSpPr>
        <p:spPr>
          <a:xfrm>
            <a:off x="6217920" y="4270248"/>
            <a:ext cx="2560320" cy="365760"/>
          </a:xfrm>
          <a:prstGeom prst="rect">
            <a:avLst/>
          </a:prstGeom>
          <a:noFill/>
          <a:ln/>
        </p:spPr>
        <p:txBody>
          <a:bodyPr wrap="square" lIns="0" tIns="0" rIns="0" bIns="0" rtlCol="0" anchor="t"/>
          <a:lstStyle/>
          <a:p>
            <a:pPr algn="ctr" indent="0" marL="0">
              <a:buNone/>
            </a:pPr>
            <a:r>
              <a:rPr lang="en-US" sz="1700" b="1" dirty="0">
                <a:solidFill>
                  <a:schemeClr val="tx1"/>
                </a:solidFill>
              </a:rPr>
              <a:t>Ashikur Rahman Himel</a:t>
            </a:r>
            <a:endParaRPr lang="en-US" sz="1700" dirty="0"/>
          </a:p>
        </p:txBody>
      </p:sp>
      <p:sp>
        <p:nvSpPr>
          <p:cNvPr id="14" name="Text 9"/>
          <p:cNvSpPr txBox="1"/>
          <p:nvPr/>
        </p:nvSpPr>
        <p:spPr>
          <a:xfrm>
            <a:off x="6217920" y="4636008"/>
            <a:ext cx="2560320" cy="274320"/>
          </a:xfrm>
          <a:prstGeom prst="rect">
            <a:avLst/>
          </a:prstGeom>
          <a:noFill/>
          <a:ln/>
        </p:spPr>
        <p:txBody>
          <a:bodyPr wrap="square" lIns="0" tIns="0" rIns="0" bIns="0" rtlCol="0" anchor="t"/>
          <a:lstStyle/>
          <a:p>
            <a:pPr algn="ctr" indent="0" marL="0">
              <a:buNone/>
            </a:pPr>
            <a:r>
              <a:rPr lang="en-US" sz="1300" dirty="0">
                <a:solidFill>
                  <a:schemeClr val="accent1"/>
                </a:solidFill>
              </a:rPr>
              <a:t>11220320833</a:t>
            </a:r>
            <a:endParaRPr lang="en-US" sz="1300" dirty="0"/>
          </a:p>
        </p:txBody>
      </p:sp>
      <p:sp>
        <p:nvSpPr>
          <p:cNvPr id="15" name="Text 10"/>
          <p:cNvSpPr txBox="1"/>
          <p:nvPr/>
        </p:nvSpPr>
        <p:spPr>
          <a:xfrm>
            <a:off x="6217920" y="4910328"/>
            <a:ext cx="2560320" cy="274320"/>
          </a:xfrm>
          <a:prstGeom prst="rect">
            <a:avLst/>
          </a:prstGeom>
          <a:noFill/>
          <a:ln/>
        </p:spPr>
        <p:txBody>
          <a:bodyPr wrap="square" lIns="0" tIns="0" rIns="0" bIns="0" rtlCol="0" anchor="t"/>
          <a:lstStyle/>
          <a:p>
            <a:pPr algn="ctr" indent="0" marL="0">
              <a:buNone/>
            </a:pPr>
            <a:r>
              <a:rPr lang="en-US" sz="1300" dirty="0">
                <a:solidFill>
                  <a:schemeClr val="tx2"/>
                </a:solidFill>
              </a:rPr>
              <a:t>Database &amp; Quality</a:t>
            </a:r>
            <a:endParaRPr lang="en-US" sz="1300" dirty="0"/>
          </a:p>
        </p:txBody>
      </p:sp>
      <p:pic>
        <p:nvPicPr>
          <p:cNvPr id="16" name="Rasel Ratul photo" descr="Rasel Ratul">    </p:cNvPr>
          <p:cNvPicPr>
            <a:picLocks noChangeAspect="1"/>
          </p:cNvPicPr>
          <p:nvPr/>
        </p:nvPicPr>
        <p:blipFill>
          <a:blip r:embed="rId4"/>
          <a:stretch>
            <a:fillRect/>
          </a:stretch>
        </p:blipFill>
        <p:spPr>
          <a:xfrm>
            <a:off x="9326880" y="2423160"/>
            <a:ext cx="1737360" cy="1737360"/>
          </a:xfrm>
          <a:prstGeom prst="ellipse">
            <a:avLst/>
          </a:prstGeom>
        </p:spPr>
      </p:pic>
      <p:sp>
        <p:nvSpPr>
          <p:cNvPr id="17" name="Text 11"/>
          <p:cNvSpPr txBox="1"/>
          <p:nvPr/>
        </p:nvSpPr>
        <p:spPr>
          <a:xfrm>
            <a:off x="8915400" y="4270248"/>
            <a:ext cx="2560320" cy="365760"/>
          </a:xfrm>
          <a:prstGeom prst="rect">
            <a:avLst/>
          </a:prstGeom>
          <a:noFill/>
          <a:ln/>
        </p:spPr>
        <p:txBody>
          <a:bodyPr wrap="square" lIns="0" tIns="0" rIns="0" bIns="0" rtlCol="0" anchor="t"/>
          <a:lstStyle/>
          <a:p>
            <a:pPr algn="ctr" indent="0" marL="0">
              <a:buNone/>
            </a:pPr>
            <a:r>
              <a:rPr lang="en-US" sz="1700" b="1" dirty="0">
                <a:solidFill>
                  <a:schemeClr val="tx1"/>
                </a:solidFill>
              </a:rPr>
              <a:t>Rasel Ratul</a:t>
            </a:r>
            <a:endParaRPr lang="en-US" sz="1700" dirty="0"/>
          </a:p>
        </p:txBody>
      </p:sp>
      <p:sp>
        <p:nvSpPr>
          <p:cNvPr id="18" name="Text 12"/>
          <p:cNvSpPr txBox="1"/>
          <p:nvPr/>
        </p:nvSpPr>
        <p:spPr>
          <a:xfrm>
            <a:off x="8915400" y="4636008"/>
            <a:ext cx="2560320" cy="274320"/>
          </a:xfrm>
          <a:prstGeom prst="rect">
            <a:avLst/>
          </a:prstGeom>
          <a:noFill/>
          <a:ln/>
        </p:spPr>
        <p:txBody>
          <a:bodyPr wrap="square" lIns="0" tIns="0" rIns="0" bIns="0" rtlCol="0" anchor="t"/>
          <a:lstStyle/>
          <a:p>
            <a:pPr algn="ctr" indent="0" marL="0">
              <a:buNone/>
            </a:pPr>
            <a:r>
              <a:rPr lang="en-US" sz="1300" dirty="0">
                <a:solidFill>
                  <a:schemeClr val="accent1"/>
                </a:solidFill>
              </a:rPr>
              <a:t>11220320827</a:t>
            </a:r>
            <a:endParaRPr lang="en-US" sz="1300" dirty="0"/>
          </a:p>
        </p:txBody>
      </p:sp>
      <p:sp>
        <p:nvSpPr>
          <p:cNvPr id="19" name="Text 13"/>
          <p:cNvSpPr txBox="1"/>
          <p:nvPr/>
        </p:nvSpPr>
        <p:spPr>
          <a:xfrm>
            <a:off x="8915400" y="4910328"/>
            <a:ext cx="2560320" cy="274320"/>
          </a:xfrm>
          <a:prstGeom prst="rect">
            <a:avLst/>
          </a:prstGeom>
          <a:noFill/>
          <a:ln/>
        </p:spPr>
        <p:txBody>
          <a:bodyPr wrap="square" lIns="0" tIns="0" rIns="0" bIns="0" rtlCol="0" anchor="t"/>
          <a:lstStyle/>
          <a:p>
            <a:pPr algn="ctr" indent="0" marL="0">
              <a:buNone/>
            </a:pPr>
            <a:r>
              <a:rPr lang="en-US" sz="1300" dirty="0">
                <a:solidFill>
                  <a:schemeClr val="tx2"/>
                </a:solidFill>
              </a:rPr>
              <a:t>Backend Developer</a:t>
            </a:r>
            <a:endParaRPr lang="en-US" sz="1300" dirty="0"/>
          </a:p>
        </p:txBody>
      </p:sp>
      <p:sp>
        <p:nvSpPr>
          <p:cNvPr id="20" name="Text 14"/>
          <p:cNvSpPr txBox="1"/>
          <p:nvPr/>
        </p:nvSpPr>
        <p:spPr>
          <a:xfrm>
            <a:off x="548640" y="6263640"/>
            <a:ext cx="11091672" cy="365760"/>
          </a:xfrm>
          <a:prstGeom prst="rect">
            <a:avLst/>
          </a:prstGeom>
          <a:noFill/>
          <a:ln/>
        </p:spPr>
        <p:txBody>
          <a:bodyPr wrap="square" lIns="0" tIns="0" rIns="0" bIns="0" rtlCol="0" anchor="t"/>
          <a:lstStyle/>
          <a:p>
            <a:pPr algn="ctr" indent="0" marL="0">
              <a:buNone/>
            </a:pPr>
            <a:r>
              <a:rPr lang="en-US" sz="1300" dirty="0">
                <a:solidFill>
                  <a:schemeClr val="tx2"/>
                </a:solidFill>
              </a:rPr>
              <a:t>Team CSE4204-8A-T05  ·  Supervisor: Md. Riaz Mahmud, Assistant Professor, Dept. of CSE, NUBTK</a:t>
            </a:r>
            <a:endParaRPr lang="en-US" sz="1300" dirty="0"/>
          </a:p>
        </p:txBody>
      </p:sp>
    </p:spTree>
  </p:cSld>
  <p:clrMapOvr>
    <a:masterClrMapping/>
  </p:clrMapOvr>
</p:sld>
</file>

<file path=ppt/theme/theme1.xml><?xml version="1.0" encoding="utf-8"?>
<a:theme xmlns:a="http://schemas.openxmlformats.org/drawingml/2006/main" name="NUBTK Resumind">
  <a:themeElements>
    <a:clrScheme name="NUBTK Resumind">
      <a:dk1>
        <a:srgbClr val="1B2A57"/>
      </a:dk1>
      <a:lt1>
        <a:srgbClr val="FFFFFF"/>
      </a:lt1>
      <a:dk2>
        <a:srgbClr val="4A5568"/>
      </a:dk2>
      <a:lt2>
        <a:srgbClr val="F3F5FA"/>
      </a:lt2>
      <a:accent1>
        <a:srgbClr val="2F4FA8"/>
      </a:accent1>
      <a:accent2>
        <a:srgbClr val="606BEB"/>
      </a:accent2>
      <a:accent3>
        <a:srgbClr val="C8102E"/>
      </a:accent3>
      <a:accent4>
        <a:srgbClr val="15803D"/>
      </a:accent4>
      <a:accent5>
        <a:srgbClr val="B45309"/>
      </a:accent5>
      <a:accent6>
        <a:srgbClr val="D9DEE8"/>
      </a:accent6>
      <a:hlink>
        <a:srgbClr val="2F4FA8"/>
      </a:hlink>
      <a:folHlink>
        <a:srgbClr val="1B2A57"/>
      </a:folHlink>
    </a:clrScheme>
    <a:fontScheme name="NUBTK Resumind">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Northern University of Business and Technology Khulna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CSE4204-8A-T05 Presentation — RESUMIND</dc:title>
  <dc:subject>PptxGenJS Presentation</dc:subject>
  <dc:creator>CSE4204-8A-T05</dc:creator>
  <cp:lastModifiedBy>CSE4204-8A-T05</cp:lastModifiedBy>
  <cp:revision>1</cp:revision>
  <dcterms:created xsi:type="dcterms:W3CDTF">2026-10-22T17:21:29Z</dcterms:created>
  <dcterms:modified xsi:type="dcterms:W3CDTF">2026-10-22T17:21:29Z</dcterms:modified>
</cp:coreProperties>
</file>